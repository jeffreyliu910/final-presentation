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本页为模板说明，不计入正式路演时间。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建议时长：15秒。开场只说项目名称、核心价值和团队，不展开背景。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建议时长：35秒。用一句话价值主张和4个数字完成项目总览。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建议时长：45秒。用用户—流程—痛点—代价—证据链说明产业价值。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建议时长：50秒。先讲业务闭环，再讲技术；让评委能想象真实使用过程。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建议时长：55秒。最多3个创新点，每个都要有对比对象和可验证优势。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建议时长：115秒。演示前预置账号、数据和页面；核心闭环最多4步。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建议时长：55秒。左侧讲技术/产品结果，右侧讲用户、试点、订单与收入。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建议时长：50秒。用ROI回答客户为什么买，用TAM/SAM/SOM回答成长空间。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建议时长：50秒。清楚回答谁付费、怎么定价、交付成本和客户转化进度。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建议时长：45秒。里程碑用可验证KPI，融资计划用“资金—跑道—里程碑”说明。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建议时长：45秒。重点讲90/180天计划和团队投入，不要展开完整履历。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建议时长：40秒。三句话总结价值、能力、成长，最后给出具体合作诉求。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备份页。用于回答技术原理、架构、关键依赖、系统边界与风险。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备份页。用于回答竞品、替代方案、优势来源和短板。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备份页。用于回答IP权属、数据与模型许可、行业合规和主要风险。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备份页。用于回答财务预测、单位经济性、融资用途与资金效率。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1927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智极松_content_bg_clean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mnt/data/智极松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56032"/>
            <a:ext cx="1371600" cy="42062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2103120" y="219456"/>
            <a:ext cx="804672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模板使用说明（提交前保留或删除均可）</a:t>
            </a:r>
            <a:endParaRPr lang="en-US" sz="2900" dirty="0"/>
          </a:p>
        </p:txBody>
      </p:sp>
      <p:sp>
        <p:nvSpPr>
          <p:cNvPr id="5" name="Shape 1"/>
          <p:cNvSpPr/>
          <p:nvPr/>
        </p:nvSpPr>
        <p:spPr>
          <a:xfrm>
            <a:off x="502920" y="1005840"/>
            <a:ext cx="11183112" cy="5349240"/>
          </a:xfrm>
          <a:prstGeom prst="roundRect">
            <a:avLst>
              <a:gd name="adj" fmla="val 2564"/>
            </a:avLst>
          </a:prstGeom>
          <a:solidFill>
            <a:srgbClr val="F6F8FC"/>
          </a:solidFill>
          <a:ln w="10160">
            <a:solidFill>
              <a:srgbClr val="E0E5EF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868680" y="1298448"/>
            <a:ext cx="1042416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927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建议主路演 12 页，控制在 10 分钟；另设 4 页备份材料用于答辩。</a:t>
            </a:r>
            <a:endParaRPr lang="en-US" sz="2200" dirty="0"/>
          </a:p>
        </p:txBody>
      </p:sp>
      <p:sp>
        <p:nvSpPr>
          <p:cNvPr id="7" name="Shape 3"/>
          <p:cNvSpPr/>
          <p:nvPr/>
        </p:nvSpPr>
        <p:spPr>
          <a:xfrm>
            <a:off x="868680" y="1965960"/>
            <a:ext cx="49834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FE5EF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1033272" y="2176272"/>
            <a:ext cx="475488" cy="475488"/>
          </a:xfrm>
          <a:prstGeom prst="ellipse">
            <a:avLst/>
          </a:prstGeom>
          <a:solidFill>
            <a:srgbClr val="53C6EE"/>
          </a:solidFill>
          <a:ln w="12700">
            <a:solidFill>
              <a:srgbClr val="53C6EE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1033272" y="2176272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1645920" y="2093976"/>
            <a:ext cx="38862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521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先证据、后结论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1645920" y="2404872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每个关键结论尽量配真实 Demo、量化指标、用户/试点或合同证据。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309360" y="1965960"/>
            <a:ext cx="49834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FE5EF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473952" y="2176272"/>
            <a:ext cx="475488" cy="475488"/>
          </a:xfrm>
          <a:prstGeom prst="ellipse">
            <a:avLst/>
          </a:prstGeom>
          <a:solidFill>
            <a:srgbClr val="F46883"/>
          </a:solidFill>
          <a:ln w="12700">
            <a:solidFill>
              <a:srgbClr val="F46883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6473952" y="2176272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7086600" y="2093976"/>
            <a:ext cx="38862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521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一页一结论</a:t>
            </a:r>
            <a:endParaRPr lang="en-US" sz="1700" dirty="0"/>
          </a:p>
        </p:txBody>
      </p:sp>
      <p:sp>
        <p:nvSpPr>
          <p:cNvPr id="16" name="Text 12"/>
          <p:cNvSpPr txBox="1"/>
          <p:nvPr/>
        </p:nvSpPr>
        <p:spPr>
          <a:xfrm>
            <a:off x="7086600" y="2404872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标题直接写出结论，不用“项目背景”“市场分析”等空泛标题。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868680" y="3108960"/>
            <a:ext cx="49834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FE5EF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1033272" y="3319272"/>
            <a:ext cx="475488" cy="475488"/>
          </a:xfrm>
          <a:prstGeom prst="ellipse">
            <a:avLst/>
          </a:prstGeom>
          <a:solidFill>
            <a:srgbClr val="3C8EDB"/>
          </a:solidFill>
          <a:ln w="12700">
            <a:solidFill>
              <a:srgbClr val="3C8EDB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1033272" y="3319272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6"/>
          <p:cNvSpPr txBox="1"/>
          <p:nvPr/>
        </p:nvSpPr>
        <p:spPr>
          <a:xfrm>
            <a:off x="1645920" y="3236976"/>
            <a:ext cx="38862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521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Demo占 1.5—2 分钟</a:t>
            </a:r>
            <a:endParaRPr lang="en-US" sz="1700" dirty="0"/>
          </a:p>
        </p:txBody>
      </p:sp>
      <p:sp>
        <p:nvSpPr>
          <p:cNvPr id="21" name="Text 17"/>
          <p:cNvSpPr txBox="1"/>
          <p:nvPr/>
        </p:nvSpPr>
        <p:spPr>
          <a:xfrm>
            <a:off x="1645920" y="3547872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核心闭环现场演示；准备离线视频与截图备份，并说明数据来源。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6309360" y="3108960"/>
            <a:ext cx="49834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FE5EF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473952" y="3319272"/>
            <a:ext cx="475488" cy="475488"/>
          </a:xfrm>
          <a:prstGeom prst="ellipse">
            <a:avLst/>
          </a:prstGeom>
          <a:solidFill>
            <a:srgbClr val="F39A72"/>
          </a:solidFill>
          <a:ln w="12700">
            <a:solidFill>
              <a:srgbClr val="F39A72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6473952" y="3319272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1"/>
          <p:cNvSpPr txBox="1"/>
          <p:nvPr/>
        </p:nvSpPr>
        <p:spPr>
          <a:xfrm>
            <a:off x="7086600" y="3236976"/>
            <a:ext cx="38862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521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突出评分维度</a:t>
            </a:r>
            <a:endParaRPr lang="en-US" sz="1700" dirty="0"/>
          </a:p>
        </p:txBody>
      </p:sp>
      <p:sp>
        <p:nvSpPr>
          <p:cNvPr id="26" name="Text 22"/>
          <p:cNvSpPr txBox="1"/>
          <p:nvPr/>
        </p:nvSpPr>
        <p:spPr>
          <a:xfrm>
            <a:off x="7086600" y="3547872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页眉已标注对应评分维度和建议时长，内容尽量与之对齐。</a:t>
            </a:r>
            <a:endParaRPr lang="en-US" sz="1150" dirty="0"/>
          </a:p>
        </p:txBody>
      </p:sp>
      <p:sp>
        <p:nvSpPr>
          <p:cNvPr id="27" name="Shape 23"/>
          <p:cNvSpPr/>
          <p:nvPr/>
        </p:nvSpPr>
        <p:spPr>
          <a:xfrm>
            <a:off x="868680" y="4251960"/>
            <a:ext cx="49834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FE5EF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1033272" y="4462272"/>
            <a:ext cx="475488" cy="475488"/>
          </a:xfrm>
          <a:prstGeom prst="ellipse">
            <a:avLst/>
          </a:prstGeom>
          <a:solidFill>
            <a:srgbClr val="6F58D9"/>
          </a:solidFill>
          <a:ln w="12700">
            <a:solidFill>
              <a:srgbClr val="6F58D9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1033272" y="4462272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Text 26"/>
          <p:cNvSpPr txBox="1"/>
          <p:nvPr/>
        </p:nvSpPr>
        <p:spPr>
          <a:xfrm>
            <a:off x="1645920" y="4379976"/>
            <a:ext cx="38862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521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少字大图</a:t>
            </a:r>
            <a:endParaRPr lang="en-US" sz="1700" dirty="0"/>
          </a:p>
        </p:txBody>
      </p:sp>
      <p:sp>
        <p:nvSpPr>
          <p:cNvPr id="31" name="Text 27"/>
          <p:cNvSpPr txBox="1"/>
          <p:nvPr/>
        </p:nvSpPr>
        <p:spPr>
          <a:xfrm>
            <a:off x="1645920" y="4690872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正文建议不超过 6 行；数字、流程、对比和客户证据优先。</a:t>
            </a:r>
            <a:endParaRPr lang="en-US" sz="1150" dirty="0"/>
          </a:p>
        </p:txBody>
      </p:sp>
      <p:sp>
        <p:nvSpPr>
          <p:cNvPr id="32" name="Shape 28"/>
          <p:cNvSpPr/>
          <p:nvPr/>
        </p:nvSpPr>
        <p:spPr>
          <a:xfrm>
            <a:off x="6309360" y="4251960"/>
            <a:ext cx="49834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FE5EF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6473952" y="4462272"/>
            <a:ext cx="475488" cy="475488"/>
          </a:xfrm>
          <a:prstGeom prst="ellipse">
            <a:avLst/>
          </a:prstGeom>
          <a:solidFill>
            <a:srgbClr val="2FAE7B"/>
          </a:solidFill>
          <a:ln w="12700">
            <a:solidFill>
              <a:srgbClr val="2FAE7B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6473952" y="4462272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</a:t>
            </a:r>
            <a:endParaRPr lang="en-US" sz="1600" dirty="0"/>
          </a:p>
        </p:txBody>
      </p:sp>
      <p:sp>
        <p:nvSpPr>
          <p:cNvPr id="35" name="Text 31"/>
          <p:cNvSpPr txBox="1"/>
          <p:nvPr/>
        </p:nvSpPr>
        <p:spPr>
          <a:xfrm>
            <a:off x="7086600" y="4379976"/>
            <a:ext cx="38862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521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答辩备份页</a:t>
            </a:r>
            <a:endParaRPr lang="en-US" sz="1700" dirty="0"/>
          </a:p>
        </p:txBody>
      </p:sp>
      <p:sp>
        <p:nvSpPr>
          <p:cNvPr id="36" name="Text 32"/>
          <p:cNvSpPr txBox="1"/>
          <p:nvPr/>
        </p:nvSpPr>
        <p:spPr>
          <a:xfrm>
            <a:off x="7086600" y="4690872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技术原理、竞品、知识产权/风险、财务与融资放在备份页。</a:t>
            </a:r>
            <a:endParaRPr lang="en-US" sz="1150" dirty="0"/>
          </a:p>
        </p:txBody>
      </p:sp>
      <p:sp>
        <p:nvSpPr>
          <p:cNvPr id="37" name="Shape 33"/>
          <p:cNvSpPr/>
          <p:nvPr/>
        </p:nvSpPr>
        <p:spPr>
          <a:xfrm>
            <a:off x="960120" y="5623560"/>
            <a:ext cx="10241280" cy="384048"/>
          </a:xfrm>
          <a:prstGeom prst="roundRect">
            <a:avLst>
              <a:gd name="adj" fmla="val 19048"/>
            </a:avLst>
          </a:prstGeom>
          <a:solidFill>
            <a:srgbClr val="FFF3E7"/>
          </a:solidFill>
          <a:ln w="10160">
            <a:solidFill>
              <a:srgbClr val="F3C39C"/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1069848" y="5641848"/>
            <a:ext cx="10021824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8A4B1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模板提示：请将所有“[方括号]”内容替换为项目真实信息；模板提示框可在提交前删除。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决赛主视觉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175"/>
            <a:ext cx="12191695" cy="685165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60120" y="2350135"/>
            <a:ext cx="10241280" cy="1508760"/>
          </a:xfrm>
          <a:prstGeom prst="roundRect">
            <a:avLst>
              <a:gd name="adj" fmla="val 8485"/>
            </a:avLst>
          </a:prstGeom>
          <a:solidFill>
            <a:srgbClr val="192747">
              <a:alpha val="82000"/>
            </a:srgbClr>
          </a:solidFill>
          <a:ln w="1016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1234440" y="2551303"/>
            <a:ext cx="9692640" cy="5669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[项目名称：一句话说明解决什么问题]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1417320" y="3173095"/>
            <a:ext cx="932688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50" dirty="0">
                <a:solidFill>
                  <a:srgbClr val="D9E2F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[赛道]  |  [团队/单位]  |  [主讲人姓名与职务]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5010912" y="3676015"/>
            <a:ext cx="2148840" cy="310896"/>
          </a:xfrm>
          <a:prstGeom prst="roundRect">
            <a:avLst>
              <a:gd name="adj" fmla="val 35294"/>
            </a:avLst>
          </a:prstGeom>
          <a:solidFill>
            <a:srgbClr val="F46883"/>
          </a:solidFill>
          <a:ln w="12700">
            <a:solidFill>
              <a:srgbClr val="F4688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56632" y="3685159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正式路演 10:00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7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智极松_content_bg_clean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mnt/data/智极松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2880"/>
            <a:ext cx="1234440" cy="37490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874520" y="164592"/>
            <a:ext cx="6583680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项目总览</a:t>
            </a:r>
            <a:endParaRPr lang="en-US" sz="2700" dirty="0"/>
          </a:p>
        </p:txBody>
      </p:sp>
      <p:sp>
        <p:nvSpPr>
          <p:cNvPr id="5" name="Text 1"/>
          <p:cNvSpPr txBox="1"/>
          <p:nvPr/>
        </p:nvSpPr>
        <p:spPr>
          <a:xfrm>
            <a:off x="1901952" y="621792"/>
            <a:ext cx="68580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C8D3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先让评委迅速记住：谁、为谁、解决什么、凭什么赢</a:t>
            </a:r>
            <a:endParaRPr lang="en-US" sz="1050" dirty="0"/>
          </a:p>
        </p:txBody>
      </p:sp>
      <p:sp>
        <p:nvSpPr>
          <p:cNvPr id="6" name="Shape 2"/>
          <p:cNvSpPr/>
          <p:nvPr/>
        </p:nvSpPr>
        <p:spPr>
          <a:xfrm>
            <a:off x="9281160" y="210312"/>
            <a:ext cx="1554480" cy="310896"/>
          </a:xfrm>
          <a:prstGeom prst="roundRect">
            <a:avLst>
              <a:gd name="adj" fmla="val 35294"/>
            </a:avLst>
          </a:prstGeom>
          <a:solidFill>
            <a:srgbClr val="53C6EE"/>
          </a:solidFill>
          <a:ln w="12700">
            <a:solidFill>
              <a:srgbClr val="53C6EE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9326880" y="219456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1927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全维度 · 100分</a:t>
            </a:r>
            <a:endParaRPr lang="en-US" sz="1020" dirty="0"/>
          </a:p>
        </p:txBody>
      </p:sp>
      <p:sp>
        <p:nvSpPr>
          <p:cNvPr id="8" name="Shape 4"/>
          <p:cNvSpPr/>
          <p:nvPr/>
        </p:nvSpPr>
        <p:spPr>
          <a:xfrm>
            <a:off x="10927080" y="210312"/>
            <a:ext cx="822960" cy="310896"/>
          </a:xfrm>
          <a:prstGeom prst="roundRect">
            <a:avLst>
              <a:gd name="adj" fmla="val 35294"/>
            </a:avLst>
          </a:prstGeom>
          <a:solidFill>
            <a:srgbClr val="F46883"/>
          </a:solidFill>
          <a:ln w="12700">
            <a:solidFill>
              <a:srgbClr val="F4688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10972800" y="219456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建议 35秒</a:t>
            </a:r>
            <a:endParaRPr lang="en-US" sz="1020" dirty="0"/>
          </a:p>
        </p:txBody>
      </p:sp>
      <p:sp>
        <p:nvSpPr>
          <p:cNvPr id="10" name="Shape 6"/>
          <p:cNvSpPr/>
          <p:nvPr/>
        </p:nvSpPr>
        <p:spPr>
          <a:xfrm>
            <a:off x="1874520" y="749808"/>
            <a:ext cx="9756648" cy="0"/>
          </a:xfrm>
          <a:prstGeom prst="line">
            <a:avLst/>
          </a:prstGeom>
          <a:noFill/>
          <a:ln w="13970">
            <a:solidFill>
              <a:srgbClr val="53C6EE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38912" y="941832"/>
            <a:ext cx="11311128" cy="5230368"/>
          </a:xfrm>
          <a:prstGeom prst="roundRect">
            <a:avLst>
              <a:gd name="adj" fmla="val 2448"/>
            </a:avLst>
          </a:prstGeom>
          <a:solidFill>
            <a:srgbClr val="F6F8FC"/>
          </a:solidFill>
          <a:ln w="10160">
            <a:solidFill>
              <a:srgbClr val="E1E6F0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9464040" y="6446520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C6D0E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智极松决赛路演模板  |  第 2 页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123444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C8E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一句话价值主张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22960" y="1627632"/>
            <a:ext cx="10515600" cy="822960"/>
          </a:xfrm>
          <a:prstGeom prst="roundRect">
            <a:avLst>
              <a:gd name="adj" fmla="val 13333"/>
            </a:avLst>
          </a:prstGeom>
          <a:solidFill>
            <a:srgbClr val="192747"/>
          </a:solidFill>
          <a:ln w="10160">
            <a:solidFill>
              <a:srgbClr val="192747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1097280" y="1755648"/>
            <a:ext cx="996696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我们用 [核心技术/产品]，为 [目标客户] 在 [关键场景] 解决 [高价值痛点]，目前已实现 [最强证据]。</a:t>
            </a:r>
            <a:endParaRPr lang="en-US" sz="2300" dirty="0"/>
          </a:p>
        </p:txBody>
      </p:sp>
      <p:sp>
        <p:nvSpPr>
          <p:cNvPr id="16" name="Shape 12"/>
          <p:cNvSpPr/>
          <p:nvPr/>
        </p:nvSpPr>
        <p:spPr>
          <a:xfrm>
            <a:off x="841248" y="2761488"/>
            <a:ext cx="2487168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0160">
            <a:solidFill>
              <a:srgbClr val="E0E6F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41248" y="2761488"/>
            <a:ext cx="73152" cy="1417320"/>
          </a:xfrm>
          <a:prstGeom prst="rect">
            <a:avLst/>
          </a:prstGeom>
          <a:solidFill>
            <a:srgbClr val="53C6EE"/>
          </a:solidFill>
          <a:ln w="12700">
            <a:solidFill>
              <a:srgbClr val="53C6EE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1042416" y="2898648"/>
            <a:ext cx="2167128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目标客户</a:t>
            </a:r>
            <a:endParaRPr lang="en-US" sz="1150" dirty="0"/>
          </a:p>
        </p:txBody>
      </p:sp>
      <p:sp>
        <p:nvSpPr>
          <p:cNvPr id="19" name="Text 15"/>
          <p:cNvSpPr txBox="1"/>
          <p:nvPr/>
        </p:nvSpPr>
        <p:spPr>
          <a:xfrm>
            <a:off x="1042416" y="3191256"/>
            <a:ext cx="2167128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927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[客户类型]</a:t>
            </a:r>
            <a:endParaRPr lang="en-US" sz="2900" dirty="0"/>
          </a:p>
        </p:txBody>
      </p:sp>
      <p:sp>
        <p:nvSpPr>
          <p:cNvPr id="20" name="Text 16"/>
          <p:cNvSpPr txBox="1"/>
          <p:nvPr/>
        </p:nvSpPr>
        <p:spPr>
          <a:xfrm>
            <a:off x="1042416" y="3767328"/>
            <a:ext cx="216712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谁使用 / 谁付费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3493008" y="2761488"/>
            <a:ext cx="2487168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0160">
            <a:solidFill>
              <a:srgbClr val="E0E6F0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3493008" y="2761488"/>
            <a:ext cx="73152" cy="1417320"/>
          </a:xfrm>
          <a:prstGeom prst="rect">
            <a:avLst/>
          </a:prstGeom>
          <a:solidFill>
            <a:srgbClr val="F46883"/>
          </a:solidFill>
          <a:ln w="12700">
            <a:solidFill>
              <a:srgbClr val="F46883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3694176" y="2898648"/>
            <a:ext cx="2167128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核心结果</a:t>
            </a:r>
            <a:endParaRPr lang="en-US" sz="1150" dirty="0"/>
          </a:p>
        </p:txBody>
      </p:sp>
      <p:sp>
        <p:nvSpPr>
          <p:cNvPr id="24" name="Text 20"/>
          <p:cNvSpPr txBox="1"/>
          <p:nvPr/>
        </p:nvSpPr>
        <p:spPr>
          <a:xfrm>
            <a:off x="3694176" y="3191256"/>
            <a:ext cx="2167128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927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[关键指标]</a:t>
            </a:r>
            <a:endParaRPr lang="en-US" sz="2900" dirty="0"/>
          </a:p>
        </p:txBody>
      </p:sp>
      <p:sp>
        <p:nvSpPr>
          <p:cNvPr id="25" name="Text 21"/>
          <p:cNvSpPr txBox="1"/>
          <p:nvPr/>
        </p:nvSpPr>
        <p:spPr>
          <a:xfrm>
            <a:off x="3694176" y="3767328"/>
            <a:ext cx="216712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相对基线提升 / 降低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6144768" y="2761488"/>
            <a:ext cx="2487168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0160">
            <a:solidFill>
              <a:srgbClr val="E0E6F0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6144768" y="2761488"/>
            <a:ext cx="73152" cy="1417320"/>
          </a:xfrm>
          <a:prstGeom prst="rect">
            <a:avLst/>
          </a:prstGeom>
          <a:solidFill>
            <a:srgbClr val="3C8EDB"/>
          </a:solidFill>
          <a:ln w="12700">
            <a:solidFill>
              <a:srgbClr val="3C8EDB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6345936" y="2898648"/>
            <a:ext cx="2167128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当前进展</a:t>
            </a:r>
            <a:endParaRPr lang="en-US" sz="1150" dirty="0"/>
          </a:p>
        </p:txBody>
      </p:sp>
      <p:sp>
        <p:nvSpPr>
          <p:cNvPr id="29" name="Text 25"/>
          <p:cNvSpPr txBox="1"/>
          <p:nvPr/>
        </p:nvSpPr>
        <p:spPr>
          <a:xfrm>
            <a:off x="6345936" y="3191256"/>
            <a:ext cx="2167128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927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[用户/试点]</a:t>
            </a:r>
            <a:endParaRPr lang="en-US" sz="2900" dirty="0"/>
          </a:p>
        </p:txBody>
      </p:sp>
      <p:sp>
        <p:nvSpPr>
          <p:cNvPr id="30" name="Text 26"/>
          <p:cNvSpPr txBox="1"/>
          <p:nvPr/>
        </p:nvSpPr>
        <p:spPr>
          <a:xfrm>
            <a:off x="6345936" y="3767328"/>
            <a:ext cx="216712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合同、POC、活跃用户</a:t>
            </a:r>
            <a:endParaRPr lang="en-US" sz="1050" dirty="0"/>
          </a:p>
        </p:txBody>
      </p:sp>
      <p:sp>
        <p:nvSpPr>
          <p:cNvPr id="31" name="Shape 27"/>
          <p:cNvSpPr/>
          <p:nvPr/>
        </p:nvSpPr>
        <p:spPr>
          <a:xfrm>
            <a:off x="8796528" y="2761488"/>
            <a:ext cx="2487168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0160">
            <a:solidFill>
              <a:srgbClr val="E0E6F0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8796528" y="2761488"/>
            <a:ext cx="73152" cy="1417320"/>
          </a:xfrm>
          <a:prstGeom prst="rect">
            <a:avLst/>
          </a:prstGeom>
          <a:solidFill>
            <a:srgbClr val="F39A72"/>
          </a:solidFill>
          <a:ln w="12700">
            <a:solidFill>
              <a:srgbClr val="F39A72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8997696" y="2898648"/>
            <a:ext cx="2167128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落地目标</a:t>
            </a:r>
            <a:endParaRPr lang="en-US" sz="1150" dirty="0"/>
          </a:p>
        </p:txBody>
      </p:sp>
      <p:sp>
        <p:nvSpPr>
          <p:cNvPr id="34" name="Text 30"/>
          <p:cNvSpPr txBox="1"/>
          <p:nvPr/>
        </p:nvSpPr>
        <p:spPr>
          <a:xfrm>
            <a:off x="8997696" y="3191256"/>
            <a:ext cx="2167128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927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[90/180天]</a:t>
            </a:r>
            <a:endParaRPr lang="en-US" sz="2900" dirty="0"/>
          </a:p>
        </p:txBody>
      </p:sp>
      <p:sp>
        <p:nvSpPr>
          <p:cNvPr id="35" name="Text 31"/>
          <p:cNvSpPr txBox="1"/>
          <p:nvPr/>
        </p:nvSpPr>
        <p:spPr>
          <a:xfrm>
            <a:off x="8997696" y="3767328"/>
            <a:ext cx="216712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赛后首个可验证里程碑</a:t>
            </a:r>
            <a:endParaRPr lang="en-US" sz="1050" dirty="0"/>
          </a:p>
        </p:txBody>
      </p:sp>
      <p:sp>
        <p:nvSpPr>
          <p:cNvPr id="36" name="Shape 32"/>
          <p:cNvSpPr/>
          <p:nvPr/>
        </p:nvSpPr>
        <p:spPr>
          <a:xfrm>
            <a:off x="841248" y="4480560"/>
            <a:ext cx="10442448" cy="987552"/>
          </a:xfrm>
          <a:prstGeom prst="roundRect">
            <a:avLst>
              <a:gd name="adj" fmla="val 11111"/>
            </a:avLst>
          </a:prstGeom>
          <a:solidFill>
            <a:srgbClr val="EEF3FA"/>
          </a:solidFill>
          <a:ln w="10160">
            <a:solidFill>
              <a:srgbClr val="DCE4EF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1078992" y="4736592"/>
            <a:ext cx="384048" cy="384048"/>
          </a:xfrm>
          <a:prstGeom prst="ellipse">
            <a:avLst/>
          </a:prstGeom>
          <a:solidFill>
            <a:srgbClr val="6F58D9"/>
          </a:solidFill>
          <a:ln w="12700">
            <a:solidFill>
              <a:srgbClr val="6F58D9"/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1078992" y="473659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400" dirty="0"/>
          </a:p>
        </p:txBody>
      </p:sp>
      <p:sp>
        <p:nvSpPr>
          <p:cNvPr id="39" name="Text 35"/>
          <p:cNvSpPr txBox="1"/>
          <p:nvPr/>
        </p:nvSpPr>
        <p:spPr>
          <a:xfrm>
            <a:off x="1591056" y="4727448"/>
            <a:ext cx="2505456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521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评委应记住的三句话</a:t>
            </a:r>
            <a:endParaRPr lang="en-US" sz="2000" dirty="0"/>
          </a:p>
        </p:txBody>
      </p:sp>
      <p:sp>
        <p:nvSpPr>
          <p:cNvPr id="40" name="Text 36"/>
          <p:cNvSpPr txBox="1"/>
          <p:nvPr/>
        </p:nvSpPr>
        <p:spPr>
          <a:xfrm>
            <a:off x="3703320" y="4681728"/>
            <a:ext cx="722376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521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痛点足够重要  ② 方案具备差异化与证据  ③ 已有明确商业化和落地下一步</a:t>
            </a:r>
            <a:endParaRPr lang="en-US" sz="1800" dirty="0"/>
          </a:p>
        </p:txBody>
      </p:sp>
      <p:sp>
        <p:nvSpPr>
          <p:cNvPr id="41" name="Shape 37"/>
          <p:cNvSpPr/>
          <p:nvPr/>
        </p:nvSpPr>
        <p:spPr>
          <a:xfrm>
            <a:off x="1005840" y="5742432"/>
            <a:ext cx="3840480" cy="310896"/>
          </a:xfrm>
          <a:prstGeom prst="roundRect">
            <a:avLst>
              <a:gd name="adj" fmla="val 23529"/>
            </a:avLst>
          </a:prstGeom>
          <a:solidFill>
            <a:srgbClr val="FFF3E7"/>
          </a:solidFill>
          <a:ln w="10160">
            <a:solidFill>
              <a:srgbClr val="F3C39C"/>
            </a:solidFill>
            <a:prstDash val="solid"/>
          </a:ln>
        </p:spPr>
      </p:sp>
      <p:sp>
        <p:nvSpPr>
          <p:cNvPr id="42" name="Text 38"/>
          <p:cNvSpPr txBox="1"/>
          <p:nvPr/>
        </p:nvSpPr>
        <p:spPr>
          <a:xfrm>
            <a:off x="1115568" y="5760720"/>
            <a:ext cx="3621024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8A4B1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模板提示：本页不堆背景；只放最强的4个事实。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7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智极松_content_bg_clean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mnt/data/智极松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2880"/>
            <a:ext cx="1234440" cy="37490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874520" y="164592"/>
            <a:ext cx="6583680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场景与核心痛点</a:t>
            </a:r>
            <a:endParaRPr lang="en-US" sz="2700" dirty="0"/>
          </a:p>
        </p:txBody>
      </p:sp>
      <p:sp>
        <p:nvSpPr>
          <p:cNvPr id="5" name="Text 1"/>
          <p:cNvSpPr txBox="1"/>
          <p:nvPr/>
        </p:nvSpPr>
        <p:spPr>
          <a:xfrm>
            <a:off x="1901952" y="621792"/>
            <a:ext cx="68580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C8D3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从真实工作流出发，说明为什么现在必须解决</a:t>
            </a:r>
            <a:endParaRPr lang="en-US" sz="1050" dirty="0"/>
          </a:p>
        </p:txBody>
      </p:sp>
      <p:sp>
        <p:nvSpPr>
          <p:cNvPr id="6" name="Shape 2"/>
          <p:cNvSpPr/>
          <p:nvPr/>
        </p:nvSpPr>
        <p:spPr>
          <a:xfrm>
            <a:off x="9281160" y="210312"/>
            <a:ext cx="1554480" cy="310896"/>
          </a:xfrm>
          <a:prstGeom prst="roundRect">
            <a:avLst>
              <a:gd name="adj" fmla="val 35294"/>
            </a:avLst>
          </a:prstGeom>
          <a:solidFill>
            <a:srgbClr val="53C6EE"/>
          </a:solidFill>
          <a:ln w="12700">
            <a:solidFill>
              <a:srgbClr val="53C6EE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9326880" y="219456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1927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产业价值 · 20分</a:t>
            </a:r>
            <a:endParaRPr lang="en-US" sz="1020" dirty="0"/>
          </a:p>
        </p:txBody>
      </p:sp>
      <p:sp>
        <p:nvSpPr>
          <p:cNvPr id="8" name="Shape 4"/>
          <p:cNvSpPr/>
          <p:nvPr/>
        </p:nvSpPr>
        <p:spPr>
          <a:xfrm>
            <a:off x="10927080" y="210312"/>
            <a:ext cx="822960" cy="310896"/>
          </a:xfrm>
          <a:prstGeom prst="roundRect">
            <a:avLst>
              <a:gd name="adj" fmla="val 35294"/>
            </a:avLst>
          </a:prstGeom>
          <a:solidFill>
            <a:srgbClr val="F46883"/>
          </a:solidFill>
          <a:ln w="12700">
            <a:solidFill>
              <a:srgbClr val="F4688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10972800" y="219456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建议 45秒</a:t>
            </a:r>
            <a:endParaRPr lang="en-US" sz="1020" dirty="0"/>
          </a:p>
        </p:txBody>
      </p:sp>
      <p:sp>
        <p:nvSpPr>
          <p:cNvPr id="10" name="Shape 6"/>
          <p:cNvSpPr/>
          <p:nvPr/>
        </p:nvSpPr>
        <p:spPr>
          <a:xfrm>
            <a:off x="1874520" y="749808"/>
            <a:ext cx="9756648" cy="0"/>
          </a:xfrm>
          <a:prstGeom prst="line">
            <a:avLst/>
          </a:prstGeom>
          <a:noFill/>
          <a:ln w="13970">
            <a:solidFill>
              <a:srgbClr val="53C6EE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38912" y="941832"/>
            <a:ext cx="11311128" cy="5230368"/>
          </a:xfrm>
          <a:prstGeom prst="roundRect">
            <a:avLst>
              <a:gd name="adj" fmla="val 2448"/>
            </a:avLst>
          </a:prstGeom>
          <a:solidFill>
            <a:srgbClr val="F6F8FC"/>
          </a:solidFill>
          <a:ln w="10160">
            <a:solidFill>
              <a:srgbClr val="E1E6F0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9464040" y="6446520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C6D0E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智极松决赛路演模板  |  第 3 页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804672" y="1207008"/>
            <a:ext cx="384048" cy="384048"/>
          </a:xfrm>
          <a:prstGeom prst="ellipse">
            <a:avLst/>
          </a:prstGeom>
          <a:solidFill>
            <a:srgbClr val="3C8EDB"/>
          </a:solidFill>
          <a:ln w="12700">
            <a:solidFill>
              <a:srgbClr val="3C8EDB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804672" y="120700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1316736" y="1197864"/>
            <a:ext cx="2322576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521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目标场景与用户</a:t>
            </a: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6263640" y="1207008"/>
            <a:ext cx="384048" cy="384048"/>
          </a:xfrm>
          <a:prstGeom prst="ellipse">
            <a:avLst/>
          </a:prstGeom>
          <a:solidFill>
            <a:srgbClr val="F46883"/>
          </a:solidFill>
          <a:ln w="12700">
            <a:solidFill>
              <a:srgbClr val="F46883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263640" y="120700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6775704" y="1197864"/>
            <a:ext cx="2322576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521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痛点链条与代价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804672" y="1719072"/>
            <a:ext cx="5029200" cy="3584448"/>
          </a:xfrm>
          <a:prstGeom prst="roundRect">
            <a:avLst>
              <a:gd name="adj" fmla="val 3061"/>
            </a:avLst>
          </a:prstGeom>
          <a:solidFill>
            <a:srgbClr val="FFFFFF"/>
          </a:solidFill>
          <a:ln w="10160">
            <a:solidFill>
              <a:srgbClr val="DDE4EF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1051560" y="1993392"/>
            <a:ext cx="4526280" cy="713232"/>
          </a:xfrm>
          <a:prstGeom prst="roundRect">
            <a:avLst>
              <a:gd name="adj" fmla="val 12821"/>
            </a:avLst>
          </a:prstGeom>
          <a:solidFill>
            <a:srgbClr val="EAF4FB"/>
          </a:solidFill>
          <a:ln w="10160">
            <a:solidFill>
              <a:srgbClr val="E0E6F0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1234440" y="2167128"/>
            <a:ext cx="713232" cy="310896"/>
          </a:xfrm>
          <a:prstGeom prst="roundRect">
            <a:avLst>
              <a:gd name="adj" fmla="val 35294"/>
            </a:avLst>
          </a:prstGeom>
          <a:solidFill>
            <a:srgbClr val="53C6EE"/>
          </a:solidFill>
          <a:ln w="12700">
            <a:solidFill>
              <a:srgbClr val="53C6EE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1280160" y="2176272"/>
            <a:ext cx="621792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927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使用者</a:t>
            </a:r>
            <a:endParaRPr lang="en-US" sz="1050" dirty="0"/>
          </a:p>
        </p:txBody>
      </p:sp>
      <p:sp>
        <p:nvSpPr>
          <p:cNvPr id="23" name="Text 19"/>
          <p:cNvSpPr txBox="1"/>
          <p:nvPr/>
        </p:nvSpPr>
        <p:spPr>
          <a:xfrm>
            <a:off x="2084832" y="210312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521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[一线用户]</a:t>
            </a:r>
            <a:endParaRPr lang="en-US" sz="1500" dirty="0"/>
          </a:p>
        </p:txBody>
      </p:sp>
      <p:sp>
        <p:nvSpPr>
          <p:cNvPr id="24" name="Text 20"/>
          <p:cNvSpPr txBox="1"/>
          <p:nvPr/>
        </p:nvSpPr>
        <p:spPr>
          <a:xfrm>
            <a:off x="3200400" y="2103120"/>
            <a:ext cx="2084832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高频操作 / 直接受益</a:t>
            </a:r>
            <a:endParaRPr lang="en-US" sz="1150" dirty="0"/>
          </a:p>
        </p:txBody>
      </p:sp>
      <p:sp>
        <p:nvSpPr>
          <p:cNvPr id="25" name="Shape 21"/>
          <p:cNvSpPr/>
          <p:nvPr/>
        </p:nvSpPr>
        <p:spPr>
          <a:xfrm>
            <a:off x="1051560" y="2926080"/>
            <a:ext cx="4526280" cy="713232"/>
          </a:xfrm>
          <a:prstGeom prst="roundRect">
            <a:avLst>
              <a:gd name="adj" fmla="val 12821"/>
            </a:avLst>
          </a:prstGeom>
          <a:solidFill>
            <a:srgbClr val="FCEEF2"/>
          </a:solidFill>
          <a:ln w="10160">
            <a:solidFill>
              <a:srgbClr val="E0E6F0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1234440" y="3099816"/>
            <a:ext cx="713232" cy="310896"/>
          </a:xfrm>
          <a:prstGeom prst="roundRect">
            <a:avLst>
              <a:gd name="adj" fmla="val 35294"/>
            </a:avLst>
          </a:prstGeom>
          <a:solidFill>
            <a:srgbClr val="F46883"/>
          </a:solidFill>
          <a:ln w="12700">
            <a:solidFill>
              <a:srgbClr val="F46883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1280160" y="3108960"/>
            <a:ext cx="621792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决策者</a:t>
            </a:r>
            <a:endParaRPr lang="en-US" sz="1050" dirty="0"/>
          </a:p>
        </p:txBody>
      </p:sp>
      <p:sp>
        <p:nvSpPr>
          <p:cNvPr id="28" name="Text 24"/>
          <p:cNvSpPr txBox="1"/>
          <p:nvPr/>
        </p:nvSpPr>
        <p:spPr>
          <a:xfrm>
            <a:off x="2084832" y="3035808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521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[业务负责人]</a:t>
            </a:r>
            <a:endParaRPr lang="en-US" sz="1500" dirty="0"/>
          </a:p>
        </p:txBody>
      </p:sp>
      <p:sp>
        <p:nvSpPr>
          <p:cNvPr id="29" name="Text 25"/>
          <p:cNvSpPr txBox="1"/>
          <p:nvPr/>
        </p:nvSpPr>
        <p:spPr>
          <a:xfrm>
            <a:off x="3200400" y="3035808"/>
            <a:ext cx="2084832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关注效率、风险与合规</a:t>
            </a:r>
            <a:endParaRPr lang="en-US" sz="1150" dirty="0"/>
          </a:p>
        </p:txBody>
      </p:sp>
      <p:sp>
        <p:nvSpPr>
          <p:cNvPr id="30" name="Shape 26"/>
          <p:cNvSpPr/>
          <p:nvPr/>
        </p:nvSpPr>
        <p:spPr>
          <a:xfrm>
            <a:off x="1051560" y="3858768"/>
            <a:ext cx="4526280" cy="713232"/>
          </a:xfrm>
          <a:prstGeom prst="roundRect">
            <a:avLst>
              <a:gd name="adj" fmla="val 12821"/>
            </a:avLst>
          </a:prstGeom>
          <a:solidFill>
            <a:srgbClr val="FFF7E2"/>
          </a:solidFill>
          <a:ln w="10160">
            <a:solidFill>
              <a:srgbClr val="E0E6F0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1234440" y="4032504"/>
            <a:ext cx="713232" cy="310896"/>
          </a:xfrm>
          <a:prstGeom prst="roundRect">
            <a:avLst>
              <a:gd name="adj" fmla="val 35294"/>
            </a:avLst>
          </a:prstGeom>
          <a:solidFill>
            <a:srgbClr val="F39A72"/>
          </a:solidFill>
          <a:ln w="12700">
            <a:solidFill>
              <a:srgbClr val="F39A72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1280160" y="4041648"/>
            <a:ext cx="621792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927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付费者</a:t>
            </a:r>
            <a:endParaRPr lang="en-US" sz="1050" dirty="0"/>
          </a:p>
        </p:txBody>
      </p:sp>
      <p:sp>
        <p:nvSpPr>
          <p:cNvPr id="33" name="Text 29"/>
          <p:cNvSpPr txBox="1"/>
          <p:nvPr/>
        </p:nvSpPr>
        <p:spPr>
          <a:xfrm>
            <a:off x="2084832" y="3968496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521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[采购/企业]</a:t>
            </a:r>
            <a:endParaRPr lang="en-US" sz="1500" dirty="0"/>
          </a:p>
        </p:txBody>
      </p:sp>
      <p:sp>
        <p:nvSpPr>
          <p:cNvPr id="34" name="Text 30"/>
          <p:cNvSpPr txBox="1"/>
          <p:nvPr/>
        </p:nvSpPr>
        <p:spPr>
          <a:xfrm>
            <a:off x="3200400" y="3968496"/>
            <a:ext cx="2084832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关注ROI、交付与复购</a:t>
            </a:r>
            <a:endParaRPr lang="en-US" sz="1150" dirty="0"/>
          </a:p>
        </p:txBody>
      </p:sp>
      <p:sp>
        <p:nvSpPr>
          <p:cNvPr id="35" name="Text 31"/>
          <p:cNvSpPr txBox="1"/>
          <p:nvPr/>
        </p:nvSpPr>
        <p:spPr>
          <a:xfrm>
            <a:off x="1143000" y="4754880"/>
            <a:ext cx="429768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927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场景边界：[何时、何地、由谁、完成什么任务]</a:t>
            </a:r>
            <a:endParaRPr lang="en-US" sz="1250" dirty="0"/>
          </a:p>
        </p:txBody>
      </p:sp>
      <p:sp>
        <p:nvSpPr>
          <p:cNvPr id="36" name="Shape 32"/>
          <p:cNvSpPr/>
          <p:nvPr/>
        </p:nvSpPr>
        <p:spPr>
          <a:xfrm>
            <a:off x="6355080" y="1965960"/>
            <a:ext cx="1024128" cy="210312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0160">
            <a:solidFill>
              <a:srgbClr val="DCE3EE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6647688" y="2176272"/>
            <a:ext cx="438912" cy="438912"/>
          </a:xfrm>
          <a:prstGeom prst="ellipse">
            <a:avLst/>
          </a:prstGeom>
          <a:solidFill>
            <a:srgbClr val="3C8EDB"/>
          </a:solidFill>
          <a:ln w="12700">
            <a:solidFill>
              <a:srgbClr val="3C8EDB"/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6647688" y="2176272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500" dirty="0"/>
          </a:p>
        </p:txBody>
      </p:sp>
      <p:sp>
        <p:nvSpPr>
          <p:cNvPr id="39" name="Text 35"/>
          <p:cNvSpPr txBox="1"/>
          <p:nvPr/>
        </p:nvSpPr>
        <p:spPr>
          <a:xfrm>
            <a:off x="6446520" y="2743200"/>
            <a:ext cx="841248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521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现状</a:t>
            </a:r>
            <a:endParaRPr lang="en-US" sz="1500" dirty="0"/>
          </a:p>
        </p:txBody>
      </p:sp>
      <p:sp>
        <p:nvSpPr>
          <p:cNvPr id="40" name="Text 36"/>
          <p:cNvSpPr txBox="1"/>
          <p:nvPr/>
        </p:nvSpPr>
        <p:spPr>
          <a:xfrm>
            <a:off x="6464808" y="3127248"/>
            <a:ext cx="804672" cy="6583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[当前流程/替代方案]</a:t>
            </a:r>
            <a:endParaRPr lang="en-US" sz="1100" dirty="0"/>
          </a:p>
        </p:txBody>
      </p:sp>
      <p:sp>
        <p:nvSpPr>
          <p:cNvPr id="41" name="Shape 37"/>
          <p:cNvSpPr/>
          <p:nvPr/>
        </p:nvSpPr>
        <p:spPr>
          <a:xfrm>
            <a:off x="7379208" y="2999232"/>
            <a:ext cx="210312" cy="0"/>
          </a:xfrm>
          <a:prstGeom prst="line">
            <a:avLst/>
          </a:prstGeom>
          <a:noFill/>
          <a:ln w="20320">
            <a:solidFill>
              <a:srgbClr val="AAB6CB"/>
            </a:solidFill>
            <a:prstDash val="solid"/>
            <a:tailEnd type="triangle"/>
          </a:ln>
        </p:spPr>
      </p:sp>
      <p:sp>
        <p:nvSpPr>
          <p:cNvPr id="42" name="Shape 38"/>
          <p:cNvSpPr/>
          <p:nvPr/>
        </p:nvSpPr>
        <p:spPr>
          <a:xfrm>
            <a:off x="7589520" y="1965960"/>
            <a:ext cx="1024128" cy="210312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0160">
            <a:solidFill>
              <a:srgbClr val="DCE3EE"/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7882128" y="2176272"/>
            <a:ext cx="438912" cy="438912"/>
          </a:xfrm>
          <a:prstGeom prst="ellipse">
            <a:avLst/>
          </a:prstGeom>
          <a:solidFill>
            <a:srgbClr val="F46883"/>
          </a:solidFill>
          <a:ln w="12700">
            <a:solidFill>
              <a:srgbClr val="F46883"/>
            </a:solidFill>
            <a:prstDash val="solid"/>
          </a:ln>
        </p:spPr>
      </p:sp>
      <p:sp>
        <p:nvSpPr>
          <p:cNvPr id="44" name="Text 40"/>
          <p:cNvSpPr txBox="1"/>
          <p:nvPr/>
        </p:nvSpPr>
        <p:spPr>
          <a:xfrm>
            <a:off x="7882128" y="2176272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500" dirty="0"/>
          </a:p>
        </p:txBody>
      </p:sp>
      <p:sp>
        <p:nvSpPr>
          <p:cNvPr id="45" name="Text 41"/>
          <p:cNvSpPr txBox="1"/>
          <p:nvPr/>
        </p:nvSpPr>
        <p:spPr>
          <a:xfrm>
            <a:off x="7680960" y="2743200"/>
            <a:ext cx="841248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521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痛点</a:t>
            </a:r>
            <a:endParaRPr lang="en-US" sz="1500" dirty="0"/>
          </a:p>
        </p:txBody>
      </p:sp>
      <p:sp>
        <p:nvSpPr>
          <p:cNvPr id="46" name="Text 42"/>
          <p:cNvSpPr txBox="1"/>
          <p:nvPr/>
        </p:nvSpPr>
        <p:spPr>
          <a:xfrm>
            <a:off x="7699248" y="3127248"/>
            <a:ext cx="804672" cy="6583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[高频/高成本/高风险]</a:t>
            </a:r>
            <a:endParaRPr lang="en-US" sz="1100" dirty="0"/>
          </a:p>
        </p:txBody>
      </p:sp>
      <p:sp>
        <p:nvSpPr>
          <p:cNvPr id="47" name="Shape 43"/>
          <p:cNvSpPr/>
          <p:nvPr/>
        </p:nvSpPr>
        <p:spPr>
          <a:xfrm>
            <a:off x="8613648" y="2999232"/>
            <a:ext cx="210312" cy="0"/>
          </a:xfrm>
          <a:prstGeom prst="line">
            <a:avLst/>
          </a:prstGeom>
          <a:noFill/>
          <a:ln w="20320">
            <a:solidFill>
              <a:srgbClr val="AAB6CB"/>
            </a:solidFill>
            <a:prstDash val="solid"/>
            <a:tailEnd type="triangle"/>
          </a:ln>
        </p:spPr>
      </p:sp>
      <p:sp>
        <p:nvSpPr>
          <p:cNvPr id="48" name="Shape 44"/>
          <p:cNvSpPr/>
          <p:nvPr/>
        </p:nvSpPr>
        <p:spPr>
          <a:xfrm>
            <a:off x="8823960" y="1965960"/>
            <a:ext cx="1024128" cy="210312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0160">
            <a:solidFill>
              <a:srgbClr val="DCE3EE"/>
            </a:solidFill>
            <a:prstDash val="solid"/>
          </a:ln>
        </p:spPr>
      </p:sp>
      <p:sp>
        <p:nvSpPr>
          <p:cNvPr id="49" name="Shape 45"/>
          <p:cNvSpPr/>
          <p:nvPr/>
        </p:nvSpPr>
        <p:spPr>
          <a:xfrm>
            <a:off x="9116568" y="2176272"/>
            <a:ext cx="438912" cy="438912"/>
          </a:xfrm>
          <a:prstGeom prst="ellipse">
            <a:avLst/>
          </a:prstGeom>
          <a:solidFill>
            <a:srgbClr val="D94E5D"/>
          </a:solidFill>
          <a:ln w="12700">
            <a:solidFill>
              <a:srgbClr val="D94E5D"/>
            </a:solidFill>
            <a:prstDash val="solid"/>
          </a:ln>
        </p:spPr>
      </p:sp>
      <p:sp>
        <p:nvSpPr>
          <p:cNvPr id="50" name="Text 46"/>
          <p:cNvSpPr txBox="1"/>
          <p:nvPr/>
        </p:nvSpPr>
        <p:spPr>
          <a:xfrm>
            <a:off x="9116568" y="2176272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500" dirty="0"/>
          </a:p>
        </p:txBody>
      </p:sp>
      <p:sp>
        <p:nvSpPr>
          <p:cNvPr id="51" name="Text 47"/>
          <p:cNvSpPr txBox="1"/>
          <p:nvPr/>
        </p:nvSpPr>
        <p:spPr>
          <a:xfrm>
            <a:off x="8915400" y="2743200"/>
            <a:ext cx="841248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521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后果</a:t>
            </a:r>
            <a:endParaRPr lang="en-US" sz="1500" dirty="0"/>
          </a:p>
        </p:txBody>
      </p:sp>
      <p:sp>
        <p:nvSpPr>
          <p:cNvPr id="52" name="Text 48"/>
          <p:cNvSpPr txBox="1"/>
          <p:nvPr/>
        </p:nvSpPr>
        <p:spPr>
          <a:xfrm>
            <a:off x="8933688" y="3127248"/>
            <a:ext cx="804672" cy="6583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[损失、延误、事故、体验]</a:t>
            </a:r>
            <a:endParaRPr lang="en-US" sz="1100" dirty="0"/>
          </a:p>
        </p:txBody>
      </p:sp>
      <p:sp>
        <p:nvSpPr>
          <p:cNvPr id="53" name="Shape 49"/>
          <p:cNvSpPr/>
          <p:nvPr/>
        </p:nvSpPr>
        <p:spPr>
          <a:xfrm>
            <a:off x="9848088" y="2999232"/>
            <a:ext cx="210312" cy="0"/>
          </a:xfrm>
          <a:prstGeom prst="line">
            <a:avLst/>
          </a:prstGeom>
          <a:noFill/>
          <a:ln w="20320">
            <a:solidFill>
              <a:srgbClr val="AAB6CB"/>
            </a:solidFill>
            <a:prstDash val="solid"/>
            <a:tailEnd type="triangle"/>
          </a:ln>
        </p:spPr>
      </p:sp>
      <p:sp>
        <p:nvSpPr>
          <p:cNvPr id="54" name="Shape 50"/>
          <p:cNvSpPr/>
          <p:nvPr/>
        </p:nvSpPr>
        <p:spPr>
          <a:xfrm>
            <a:off x="10058400" y="1965960"/>
            <a:ext cx="1024128" cy="210312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0160">
            <a:solidFill>
              <a:srgbClr val="DCE3EE"/>
            </a:solidFill>
            <a:prstDash val="solid"/>
          </a:ln>
        </p:spPr>
      </p:sp>
      <p:sp>
        <p:nvSpPr>
          <p:cNvPr id="55" name="Shape 51"/>
          <p:cNvSpPr/>
          <p:nvPr/>
        </p:nvSpPr>
        <p:spPr>
          <a:xfrm>
            <a:off x="10351008" y="2176272"/>
            <a:ext cx="438912" cy="438912"/>
          </a:xfrm>
          <a:prstGeom prst="ellipse">
            <a:avLst/>
          </a:prstGeom>
          <a:solidFill>
            <a:srgbClr val="2FAE7B"/>
          </a:solidFill>
          <a:ln w="12700">
            <a:solidFill>
              <a:srgbClr val="2FAE7B"/>
            </a:solidFill>
            <a:prstDash val="solid"/>
          </a:ln>
        </p:spPr>
      </p:sp>
      <p:sp>
        <p:nvSpPr>
          <p:cNvPr id="56" name="Text 52"/>
          <p:cNvSpPr txBox="1"/>
          <p:nvPr/>
        </p:nvSpPr>
        <p:spPr>
          <a:xfrm>
            <a:off x="10351008" y="2176272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500" dirty="0"/>
          </a:p>
        </p:txBody>
      </p:sp>
      <p:sp>
        <p:nvSpPr>
          <p:cNvPr id="57" name="Text 53"/>
          <p:cNvSpPr txBox="1"/>
          <p:nvPr/>
        </p:nvSpPr>
        <p:spPr>
          <a:xfrm>
            <a:off x="10149840" y="2743200"/>
            <a:ext cx="841248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521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机会</a:t>
            </a:r>
            <a:endParaRPr lang="en-US" sz="1500" dirty="0"/>
          </a:p>
        </p:txBody>
      </p:sp>
      <p:sp>
        <p:nvSpPr>
          <p:cNvPr id="58" name="Text 54"/>
          <p:cNvSpPr txBox="1"/>
          <p:nvPr/>
        </p:nvSpPr>
        <p:spPr>
          <a:xfrm>
            <a:off x="10168128" y="3127248"/>
            <a:ext cx="804672" cy="6583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[可量化改善空间]</a:t>
            </a:r>
            <a:endParaRPr lang="en-US" sz="1100" dirty="0"/>
          </a:p>
        </p:txBody>
      </p:sp>
      <p:sp>
        <p:nvSpPr>
          <p:cNvPr id="59" name="Shape 55"/>
          <p:cNvSpPr/>
          <p:nvPr/>
        </p:nvSpPr>
        <p:spPr>
          <a:xfrm>
            <a:off x="6419088" y="4370832"/>
            <a:ext cx="4645152" cy="822960"/>
          </a:xfrm>
          <a:prstGeom prst="roundRect">
            <a:avLst>
              <a:gd name="adj" fmla="val 11111"/>
            </a:avLst>
          </a:prstGeom>
          <a:solidFill>
            <a:srgbClr val="EEF3FA"/>
          </a:solidFill>
          <a:ln w="10160">
            <a:solidFill>
              <a:srgbClr val="DDE4EF"/>
            </a:solidFill>
            <a:prstDash val="solid"/>
          </a:ln>
        </p:spPr>
      </p:sp>
      <p:sp>
        <p:nvSpPr>
          <p:cNvPr id="60" name="Text 56"/>
          <p:cNvSpPr txBox="1"/>
          <p:nvPr/>
        </p:nvSpPr>
        <p:spPr>
          <a:xfrm>
            <a:off x="6675120" y="4526280"/>
            <a:ext cx="4151376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927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最强证据：[访谈数量 / 业务数据 / 行业报告 / 真实损失]</a:t>
            </a:r>
            <a:endParaRPr lang="en-US" sz="1400" dirty="0"/>
          </a:p>
        </p:txBody>
      </p:sp>
      <p:sp>
        <p:nvSpPr>
          <p:cNvPr id="61" name="Shape 57"/>
          <p:cNvSpPr/>
          <p:nvPr/>
        </p:nvSpPr>
        <p:spPr>
          <a:xfrm>
            <a:off x="1005840" y="5715000"/>
            <a:ext cx="6949440" cy="310896"/>
          </a:xfrm>
          <a:prstGeom prst="roundRect">
            <a:avLst>
              <a:gd name="adj" fmla="val 23529"/>
            </a:avLst>
          </a:prstGeom>
          <a:solidFill>
            <a:srgbClr val="FFF3E7"/>
          </a:solidFill>
          <a:ln w="10160">
            <a:solidFill>
              <a:srgbClr val="F3C39C"/>
            </a:solidFill>
            <a:prstDash val="solid"/>
          </a:ln>
        </p:spPr>
      </p:sp>
      <p:sp>
        <p:nvSpPr>
          <p:cNvPr id="62" name="Text 58"/>
          <p:cNvSpPr txBox="1"/>
          <p:nvPr/>
        </p:nvSpPr>
        <p:spPr>
          <a:xfrm>
            <a:off x="1115568" y="5733288"/>
            <a:ext cx="6729984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8A4B1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模板提示：不要只说“市场很大”；先证明痛点真实、紧迫、有人愿意付费。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7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智极松_content_bg_clean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mnt/data/智极松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2880"/>
            <a:ext cx="1234440" cy="37490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874520" y="164592"/>
            <a:ext cx="6583680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产品方案与价值闭环</a:t>
            </a:r>
            <a:endParaRPr lang="en-US" sz="2700" dirty="0"/>
          </a:p>
        </p:txBody>
      </p:sp>
      <p:sp>
        <p:nvSpPr>
          <p:cNvPr id="5" name="Text 1"/>
          <p:cNvSpPr txBox="1"/>
          <p:nvPr/>
        </p:nvSpPr>
        <p:spPr>
          <a:xfrm>
            <a:off x="1901952" y="621792"/>
            <a:ext cx="68580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C8D3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说清产品如何嵌入工作流并创造可量化价值</a:t>
            </a:r>
            <a:endParaRPr lang="en-US" sz="1050" dirty="0"/>
          </a:p>
        </p:txBody>
      </p:sp>
      <p:sp>
        <p:nvSpPr>
          <p:cNvPr id="6" name="Shape 2"/>
          <p:cNvSpPr/>
          <p:nvPr/>
        </p:nvSpPr>
        <p:spPr>
          <a:xfrm>
            <a:off x="9281160" y="210312"/>
            <a:ext cx="1554480" cy="310896"/>
          </a:xfrm>
          <a:prstGeom prst="roundRect">
            <a:avLst>
              <a:gd name="adj" fmla="val 35294"/>
            </a:avLst>
          </a:prstGeom>
          <a:solidFill>
            <a:srgbClr val="53C6EE"/>
          </a:solidFill>
          <a:ln w="12700">
            <a:solidFill>
              <a:srgbClr val="53C6EE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9326880" y="219456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1927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产业价值 / Demo · 20+20分</a:t>
            </a:r>
            <a:endParaRPr lang="en-US" sz="1020" dirty="0"/>
          </a:p>
        </p:txBody>
      </p:sp>
      <p:sp>
        <p:nvSpPr>
          <p:cNvPr id="8" name="Shape 4"/>
          <p:cNvSpPr/>
          <p:nvPr/>
        </p:nvSpPr>
        <p:spPr>
          <a:xfrm>
            <a:off x="10927080" y="210312"/>
            <a:ext cx="822960" cy="310896"/>
          </a:xfrm>
          <a:prstGeom prst="roundRect">
            <a:avLst>
              <a:gd name="adj" fmla="val 35294"/>
            </a:avLst>
          </a:prstGeom>
          <a:solidFill>
            <a:srgbClr val="F46883"/>
          </a:solidFill>
          <a:ln w="12700">
            <a:solidFill>
              <a:srgbClr val="F4688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10972800" y="219456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建议 50秒</a:t>
            </a:r>
            <a:endParaRPr lang="en-US" sz="1020" dirty="0"/>
          </a:p>
        </p:txBody>
      </p:sp>
      <p:sp>
        <p:nvSpPr>
          <p:cNvPr id="10" name="Shape 6"/>
          <p:cNvSpPr/>
          <p:nvPr/>
        </p:nvSpPr>
        <p:spPr>
          <a:xfrm>
            <a:off x="1874520" y="749808"/>
            <a:ext cx="9756648" cy="0"/>
          </a:xfrm>
          <a:prstGeom prst="line">
            <a:avLst/>
          </a:prstGeom>
          <a:noFill/>
          <a:ln w="13970">
            <a:solidFill>
              <a:srgbClr val="53C6EE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38912" y="941832"/>
            <a:ext cx="11311128" cy="5230368"/>
          </a:xfrm>
          <a:prstGeom prst="roundRect">
            <a:avLst>
              <a:gd name="adj" fmla="val 2448"/>
            </a:avLst>
          </a:prstGeom>
          <a:solidFill>
            <a:srgbClr val="F6F8FC"/>
          </a:solidFill>
          <a:ln w="10160">
            <a:solidFill>
              <a:srgbClr val="E1E6F0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9464040" y="6446520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C6D0E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智极松决赛路演模板  |  第 4 页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822960" y="1371600"/>
            <a:ext cx="5303520" cy="4114800"/>
          </a:xfrm>
          <a:prstGeom prst="roundRect">
            <a:avLst>
              <a:gd name="adj" fmla="val 2667"/>
            </a:avLst>
          </a:prstGeom>
          <a:solidFill>
            <a:srgbClr val="F9FBFE"/>
          </a:solidFill>
          <a:ln w="10160">
            <a:solidFill>
              <a:srgbClr val="CAD4E5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22960" y="1371600"/>
            <a:ext cx="5303520" cy="329184"/>
          </a:xfrm>
          <a:prstGeom prst="rect">
            <a:avLst/>
          </a:prstGeom>
          <a:solidFill>
            <a:srgbClr val="E8EEF8"/>
          </a:solidFill>
          <a:ln w="12700">
            <a:solidFill>
              <a:srgbClr val="E8EEF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60120" y="1463040"/>
            <a:ext cx="100584" cy="100584"/>
          </a:xfrm>
          <a:prstGeom prst="ellipse">
            <a:avLst/>
          </a:prstGeom>
          <a:solidFill>
            <a:srgbClr val="F46883"/>
          </a:solidFill>
          <a:ln w="12700">
            <a:solidFill>
              <a:srgbClr val="F46883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1106424" y="1463040"/>
            <a:ext cx="100584" cy="100584"/>
          </a:xfrm>
          <a:prstGeom prst="ellipse">
            <a:avLst/>
          </a:prstGeom>
          <a:solidFill>
            <a:srgbClr val="F3B35D"/>
          </a:solidFill>
          <a:ln w="12700">
            <a:solidFill>
              <a:srgbClr val="F3B35D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1252728" y="1463040"/>
            <a:ext cx="100584" cy="100584"/>
          </a:xfrm>
          <a:prstGeom prst="ellipse">
            <a:avLst/>
          </a:prstGeom>
          <a:solidFill>
            <a:srgbClr val="53C6A8"/>
          </a:solidFill>
          <a:ln w="12700">
            <a:solidFill>
              <a:srgbClr val="53C6A8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1463040" y="1408176"/>
            <a:ext cx="452628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产品主界面 / 设备 / 端到端流程</a:t>
            </a:r>
            <a:endParaRPr lang="en-US" sz="1050" dirty="0"/>
          </a:p>
        </p:txBody>
      </p:sp>
      <p:sp>
        <p:nvSpPr>
          <p:cNvPr id="19" name="Text 15"/>
          <p:cNvSpPr txBox="1"/>
          <p:nvPr/>
        </p:nvSpPr>
        <p:spPr>
          <a:xfrm>
            <a:off x="1051560" y="1956816"/>
            <a:ext cx="4846320" cy="3200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93A0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替换为真实界面、设备照片或演示视频首帧</a:t>
            </a:r>
            <a:endParaRPr lang="en-US" sz="1700" dirty="0"/>
          </a:p>
        </p:txBody>
      </p:sp>
      <p:sp>
        <p:nvSpPr>
          <p:cNvPr id="20" name="Shape 16"/>
          <p:cNvSpPr/>
          <p:nvPr/>
        </p:nvSpPr>
        <p:spPr>
          <a:xfrm rot="5400000">
            <a:off x="3273552" y="3337560"/>
            <a:ext cx="420624" cy="420624"/>
          </a:xfrm>
          <a:prstGeom prst="triangle">
            <a:avLst/>
          </a:prstGeom>
          <a:solidFill>
            <a:srgbClr val="53C6EE">
              <a:alpha val="92000"/>
            </a:srgbClr>
          </a:solidFill>
          <a:ln w="12700">
            <a:solidFill>
              <a:srgbClr val="53C6EE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446520" y="1371600"/>
            <a:ext cx="384048" cy="384048"/>
          </a:xfrm>
          <a:prstGeom prst="ellipse">
            <a:avLst/>
          </a:prstGeom>
          <a:solidFill>
            <a:srgbClr val="3C8EDB"/>
          </a:solidFill>
          <a:ln w="12700">
            <a:solidFill>
              <a:srgbClr val="3C8EDB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446520" y="137160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6958584" y="1362456"/>
            <a:ext cx="1316736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521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输入</a:t>
            </a:r>
            <a:endParaRPr lang="en-US" sz="2000" dirty="0"/>
          </a:p>
        </p:txBody>
      </p:sp>
      <p:sp>
        <p:nvSpPr>
          <p:cNvPr id="24" name="Shape 20"/>
          <p:cNvSpPr/>
          <p:nvPr/>
        </p:nvSpPr>
        <p:spPr>
          <a:xfrm>
            <a:off x="6446520" y="2395728"/>
            <a:ext cx="384048" cy="384048"/>
          </a:xfrm>
          <a:prstGeom prst="ellipse">
            <a:avLst/>
          </a:prstGeom>
          <a:solidFill>
            <a:srgbClr val="6F58D9"/>
          </a:solidFill>
          <a:ln w="12700">
            <a:solidFill>
              <a:srgbClr val="6F58D9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6446520" y="239572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400" dirty="0"/>
          </a:p>
        </p:txBody>
      </p:sp>
      <p:sp>
        <p:nvSpPr>
          <p:cNvPr id="26" name="Text 22"/>
          <p:cNvSpPr txBox="1"/>
          <p:nvPr/>
        </p:nvSpPr>
        <p:spPr>
          <a:xfrm>
            <a:off x="6958584" y="2386584"/>
            <a:ext cx="1499616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521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核心处理</a:t>
            </a:r>
            <a:endParaRPr lang="en-US" sz="2000" dirty="0"/>
          </a:p>
        </p:txBody>
      </p:sp>
      <p:sp>
        <p:nvSpPr>
          <p:cNvPr id="27" name="Shape 23"/>
          <p:cNvSpPr/>
          <p:nvPr/>
        </p:nvSpPr>
        <p:spPr>
          <a:xfrm>
            <a:off x="6446520" y="3547872"/>
            <a:ext cx="384048" cy="384048"/>
          </a:xfrm>
          <a:prstGeom prst="ellipse">
            <a:avLst/>
          </a:prstGeom>
          <a:solidFill>
            <a:srgbClr val="2FAE7B"/>
          </a:solidFill>
          <a:ln w="12700">
            <a:solidFill>
              <a:srgbClr val="2FAE7B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6446520" y="354787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400" dirty="0"/>
          </a:p>
        </p:txBody>
      </p:sp>
      <p:sp>
        <p:nvSpPr>
          <p:cNvPr id="29" name="Text 25"/>
          <p:cNvSpPr txBox="1"/>
          <p:nvPr/>
        </p:nvSpPr>
        <p:spPr>
          <a:xfrm>
            <a:off x="6958584" y="3538728"/>
            <a:ext cx="1773936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521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输出与价值</a:t>
            </a:r>
            <a:endParaRPr lang="en-US" sz="2000" dirty="0"/>
          </a:p>
        </p:txBody>
      </p:sp>
      <p:sp>
        <p:nvSpPr>
          <p:cNvPr id="30" name="Shape 26"/>
          <p:cNvSpPr/>
          <p:nvPr/>
        </p:nvSpPr>
        <p:spPr>
          <a:xfrm>
            <a:off x="6446520" y="1810512"/>
            <a:ext cx="4526280" cy="658368"/>
          </a:xfrm>
          <a:prstGeom prst="roundRect">
            <a:avLst>
              <a:gd name="adj" fmla="val 13889"/>
            </a:avLst>
          </a:prstGeom>
          <a:solidFill>
            <a:srgbClr val="EAF4FB"/>
          </a:solidFill>
          <a:ln w="10160">
            <a:solidFill>
              <a:srgbClr val="D9E1EC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6656832" y="1920240"/>
            <a:ext cx="411480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521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[数据 / 请求 / 设备信号 / 业务事件]</a:t>
            </a:r>
            <a:endParaRPr lang="en-US" sz="1500" dirty="0"/>
          </a:p>
        </p:txBody>
      </p:sp>
      <p:sp>
        <p:nvSpPr>
          <p:cNvPr id="32" name="Shape 28"/>
          <p:cNvSpPr/>
          <p:nvPr/>
        </p:nvSpPr>
        <p:spPr>
          <a:xfrm>
            <a:off x="8705088" y="2468880"/>
            <a:ext cx="0" cy="365760"/>
          </a:xfrm>
          <a:prstGeom prst="line">
            <a:avLst/>
          </a:prstGeom>
          <a:noFill/>
          <a:ln w="19050">
            <a:solidFill>
              <a:srgbClr val="8FA1BF"/>
            </a:solidFill>
            <a:prstDash val="solid"/>
            <a:tailEnd type="triangle"/>
          </a:ln>
        </p:spPr>
      </p:sp>
      <p:sp>
        <p:nvSpPr>
          <p:cNvPr id="33" name="Shape 29"/>
          <p:cNvSpPr/>
          <p:nvPr/>
        </p:nvSpPr>
        <p:spPr>
          <a:xfrm>
            <a:off x="6446520" y="2834640"/>
            <a:ext cx="4526280" cy="658368"/>
          </a:xfrm>
          <a:prstGeom prst="roundRect">
            <a:avLst>
              <a:gd name="adj" fmla="val 13889"/>
            </a:avLst>
          </a:prstGeom>
          <a:solidFill>
            <a:srgbClr val="F1ECFB"/>
          </a:solidFill>
          <a:ln w="10160">
            <a:solidFill>
              <a:srgbClr val="D9E1EC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6656832" y="2944368"/>
            <a:ext cx="411480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521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[模型 / Agent / 系统编排 / 人机协同]</a:t>
            </a:r>
            <a:endParaRPr lang="en-US" sz="1500" dirty="0"/>
          </a:p>
        </p:txBody>
      </p:sp>
      <p:sp>
        <p:nvSpPr>
          <p:cNvPr id="35" name="Shape 31"/>
          <p:cNvSpPr/>
          <p:nvPr/>
        </p:nvSpPr>
        <p:spPr>
          <a:xfrm>
            <a:off x="8705088" y="3493008"/>
            <a:ext cx="0" cy="365760"/>
          </a:xfrm>
          <a:prstGeom prst="line">
            <a:avLst/>
          </a:prstGeom>
          <a:noFill/>
          <a:ln w="19050">
            <a:solidFill>
              <a:srgbClr val="8FA1BF"/>
            </a:solidFill>
            <a:prstDash val="solid"/>
            <a:tailEnd type="triangle"/>
          </a:ln>
        </p:spPr>
      </p:sp>
      <p:sp>
        <p:nvSpPr>
          <p:cNvPr id="36" name="Shape 32"/>
          <p:cNvSpPr/>
          <p:nvPr/>
        </p:nvSpPr>
        <p:spPr>
          <a:xfrm>
            <a:off x="6446520" y="3986784"/>
            <a:ext cx="4526280" cy="658368"/>
          </a:xfrm>
          <a:prstGeom prst="roundRect">
            <a:avLst>
              <a:gd name="adj" fmla="val 13889"/>
            </a:avLst>
          </a:prstGeom>
          <a:solidFill>
            <a:srgbClr val="EAF7F0"/>
          </a:solidFill>
          <a:ln w="10160">
            <a:solidFill>
              <a:srgbClr val="D9E1EC"/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6656832" y="4096512"/>
            <a:ext cx="411480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521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[结果 / 决策 / 报告 / 自动执行]</a:t>
            </a:r>
            <a:endParaRPr lang="en-US" sz="1500" dirty="0"/>
          </a:p>
        </p:txBody>
      </p:sp>
      <p:sp>
        <p:nvSpPr>
          <p:cNvPr id="38" name="Shape 34"/>
          <p:cNvSpPr/>
          <p:nvPr/>
        </p:nvSpPr>
        <p:spPr>
          <a:xfrm>
            <a:off x="6446520" y="4956048"/>
            <a:ext cx="4526280" cy="530352"/>
          </a:xfrm>
          <a:prstGeom prst="roundRect">
            <a:avLst>
              <a:gd name="adj" fmla="val 17241"/>
            </a:avLst>
          </a:prstGeom>
          <a:solidFill>
            <a:srgbClr val="192747"/>
          </a:solidFill>
          <a:ln w="10160">
            <a:solidFill>
              <a:srgbClr val="192747"/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6629400" y="5056632"/>
            <a:ext cx="416052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价值闭环： [增收] / [降本] / [提效] / [降险] / [体验]</a:t>
            </a:r>
            <a:endParaRPr lang="en-US" sz="1350" dirty="0"/>
          </a:p>
        </p:txBody>
      </p:sp>
      <p:sp>
        <p:nvSpPr>
          <p:cNvPr id="40" name="Shape 36"/>
          <p:cNvSpPr/>
          <p:nvPr/>
        </p:nvSpPr>
        <p:spPr>
          <a:xfrm>
            <a:off x="960120" y="5705856"/>
            <a:ext cx="7315200" cy="310896"/>
          </a:xfrm>
          <a:prstGeom prst="roundRect">
            <a:avLst>
              <a:gd name="adj" fmla="val 23529"/>
            </a:avLst>
          </a:prstGeom>
          <a:solidFill>
            <a:srgbClr val="FFF3E7"/>
          </a:solidFill>
          <a:ln w="10160">
            <a:solidFill>
              <a:srgbClr val="F3C39C"/>
            </a:solidFill>
            <a:prstDash val="solid"/>
          </a:ln>
        </p:spPr>
      </p:sp>
      <p:sp>
        <p:nvSpPr>
          <p:cNvPr id="41" name="Text 37"/>
          <p:cNvSpPr txBox="1"/>
          <p:nvPr/>
        </p:nvSpPr>
        <p:spPr>
          <a:xfrm>
            <a:off x="1069848" y="5724144"/>
            <a:ext cx="7095744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8A4B1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模板提示：用一张图解释“用户怎么用”和“为什么产生价值”，避免只画技术架构。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7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智极松_content_bg_clean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mnt/data/智极松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2880"/>
            <a:ext cx="1234440" cy="37490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874520" y="164592"/>
            <a:ext cx="6583680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核心创新与竞争壁垒</a:t>
            </a:r>
            <a:endParaRPr lang="en-US" sz="2700" dirty="0"/>
          </a:p>
        </p:txBody>
      </p:sp>
      <p:sp>
        <p:nvSpPr>
          <p:cNvPr id="5" name="Text 1"/>
          <p:cNvSpPr txBox="1"/>
          <p:nvPr/>
        </p:nvSpPr>
        <p:spPr>
          <a:xfrm>
            <a:off x="1901952" y="621792"/>
            <a:ext cx="68580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C8D3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用对比和证据证明不是简单套壳或同质化应用</a:t>
            </a:r>
            <a:endParaRPr lang="en-US" sz="1050" dirty="0"/>
          </a:p>
        </p:txBody>
      </p:sp>
      <p:sp>
        <p:nvSpPr>
          <p:cNvPr id="6" name="Shape 2"/>
          <p:cNvSpPr/>
          <p:nvPr/>
        </p:nvSpPr>
        <p:spPr>
          <a:xfrm>
            <a:off x="9281160" y="210312"/>
            <a:ext cx="1554480" cy="310896"/>
          </a:xfrm>
          <a:prstGeom prst="roundRect">
            <a:avLst>
              <a:gd name="adj" fmla="val 35294"/>
            </a:avLst>
          </a:prstGeom>
          <a:solidFill>
            <a:srgbClr val="53C6EE"/>
          </a:solidFill>
          <a:ln w="12700">
            <a:solidFill>
              <a:srgbClr val="53C6EE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9326880" y="219456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1927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创新性 · 20分</a:t>
            </a:r>
            <a:endParaRPr lang="en-US" sz="1020" dirty="0"/>
          </a:p>
        </p:txBody>
      </p:sp>
      <p:sp>
        <p:nvSpPr>
          <p:cNvPr id="8" name="Shape 4"/>
          <p:cNvSpPr/>
          <p:nvPr/>
        </p:nvSpPr>
        <p:spPr>
          <a:xfrm>
            <a:off x="10927080" y="210312"/>
            <a:ext cx="822960" cy="310896"/>
          </a:xfrm>
          <a:prstGeom prst="roundRect">
            <a:avLst>
              <a:gd name="adj" fmla="val 35294"/>
            </a:avLst>
          </a:prstGeom>
          <a:solidFill>
            <a:srgbClr val="F46883"/>
          </a:solidFill>
          <a:ln w="12700">
            <a:solidFill>
              <a:srgbClr val="F4688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10972800" y="219456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建议 55秒</a:t>
            </a:r>
            <a:endParaRPr lang="en-US" sz="1020" dirty="0"/>
          </a:p>
        </p:txBody>
      </p:sp>
      <p:sp>
        <p:nvSpPr>
          <p:cNvPr id="10" name="Shape 6"/>
          <p:cNvSpPr/>
          <p:nvPr/>
        </p:nvSpPr>
        <p:spPr>
          <a:xfrm>
            <a:off x="1874520" y="749808"/>
            <a:ext cx="9756648" cy="0"/>
          </a:xfrm>
          <a:prstGeom prst="line">
            <a:avLst/>
          </a:prstGeom>
          <a:noFill/>
          <a:ln w="13970">
            <a:solidFill>
              <a:srgbClr val="53C6EE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38912" y="941832"/>
            <a:ext cx="11311128" cy="5230368"/>
          </a:xfrm>
          <a:prstGeom prst="roundRect">
            <a:avLst>
              <a:gd name="adj" fmla="val 2448"/>
            </a:avLst>
          </a:prstGeom>
          <a:solidFill>
            <a:srgbClr val="F6F8FC"/>
          </a:solidFill>
          <a:ln w="10160">
            <a:solidFill>
              <a:srgbClr val="E1E6F0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9464040" y="6446520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C6D0E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智极松决赛路演模板  |  第 5 页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822960" y="1389888"/>
            <a:ext cx="2670048" cy="2029968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0160">
            <a:solidFill>
              <a:srgbClr val="DEE4E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22960" y="1389888"/>
            <a:ext cx="2670048" cy="91440"/>
          </a:xfrm>
          <a:prstGeom prst="rect">
            <a:avLst/>
          </a:prstGeom>
          <a:solidFill>
            <a:srgbClr val="53C6EE"/>
          </a:solidFill>
          <a:ln w="12700">
            <a:solidFill>
              <a:srgbClr val="53C6EE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87552" y="1627632"/>
            <a:ext cx="457200" cy="457200"/>
          </a:xfrm>
          <a:prstGeom prst="ellipse">
            <a:avLst/>
          </a:prstGeom>
          <a:solidFill>
            <a:srgbClr val="53C6EE"/>
          </a:solidFill>
          <a:ln w="12700">
            <a:solidFill>
              <a:srgbClr val="53C6EE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987552" y="162763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1572768" y="1581912"/>
            <a:ext cx="1719072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521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创新点 1：核心技术</a:t>
            </a:r>
            <a:endParaRPr lang="en-US" sz="1650" dirty="0"/>
          </a:p>
        </p:txBody>
      </p:sp>
      <p:sp>
        <p:nvSpPr>
          <p:cNvPr id="18" name="Text 14"/>
          <p:cNvSpPr txBox="1"/>
          <p:nvPr/>
        </p:nvSpPr>
        <p:spPr>
          <a:xfrm>
            <a:off x="1005840" y="2212848"/>
            <a:ext cx="2304288" cy="7498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[突破何种限制，指标提升多少]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1481328" y="3054096"/>
            <a:ext cx="1371600" cy="310896"/>
          </a:xfrm>
          <a:prstGeom prst="roundRect">
            <a:avLst>
              <a:gd name="adj" fmla="val 35294"/>
            </a:avLst>
          </a:prstGeom>
          <a:solidFill>
            <a:srgbClr val="53C6EE"/>
          </a:solidFill>
          <a:ln w="12700">
            <a:solidFill>
              <a:srgbClr val="53C6EE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1527048" y="306324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量化证据</a:t>
            </a:r>
            <a:endParaRPr lang="en-US" sz="1030" dirty="0"/>
          </a:p>
        </p:txBody>
      </p:sp>
      <p:sp>
        <p:nvSpPr>
          <p:cNvPr id="21" name="Shape 17"/>
          <p:cNvSpPr/>
          <p:nvPr/>
        </p:nvSpPr>
        <p:spPr>
          <a:xfrm>
            <a:off x="3822192" y="1389888"/>
            <a:ext cx="2670048" cy="2029968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0160">
            <a:solidFill>
              <a:srgbClr val="DEE4EF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3822192" y="1389888"/>
            <a:ext cx="2670048" cy="91440"/>
          </a:xfrm>
          <a:prstGeom prst="rect">
            <a:avLst/>
          </a:prstGeom>
          <a:solidFill>
            <a:srgbClr val="F46883"/>
          </a:solidFill>
          <a:ln w="12700">
            <a:solidFill>
              <a:srgbClr val="F46883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3986784" y="1627632"/>
            <a:ext cx="457200" cy="457200"/>
          </a:xfrm>
          <a:prstGeom prst="ellipse">
            <a:avLst/>
          </a:prstGeom>
          <a:solidFill>
            <a:srgbClr val="F46883"/>
          </a:solidFill>
          <a:ln w="12700">
            <a:solidFill>
              <a:srgbClr val="F46883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3986784" y="162763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600" dirty="0"/>
          </a:p>
        </p:txBody>
      </p:sp>
      <p:sp>
        <p:nvSpPr>
          <p:cNvPr id="25" name="Text 21"/>
          <p:cNvSpPr txBox="1"/>
          <p:nvPr/>
        </p:nvSpPr>
        <p:spPr>
          <a:xfrm>
            <a:off x="4572000" y="1581912"/>
            <a:ext cx="1719072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521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创新点 2：产品/流程</a:t>
            </a:r>
            <a:endParaRPr lang="en-US" sz="1650" dirty="0"/>
          </a:p>
        </p:txBody>
      </p:sp>
      <p:sp>
        <p:nvSpPr>
          <p:cNvPr id="26" name="Text 22"/>
          <p:cNvSpPr txBox="1"/>
          <p:nvPr/>
        </p:nvSpPr>
        <p:spPr>
          <a:xfrm>
            <a:off x="4005072" y="2212848"/>
            <a:ext cx="2304288" cy="7498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[改变何种工作流，降低何种成本]</a:t>
            </a:r>
            <a:endParaRPr lang="en-US" sz="1300" dirty="0"/>
          </a:p>
        </p:txBody>
      </p:sp>
      <p:sp>
        <p:nvSpPr>
          <p:cNvPr id="27" name="Shape 23"/>
          <p:cNvSpPr/>
          <p:nvPr/>
        </p:nvSpPr>
        <p:spPr>
          <a:xfrm>
            <a:off x="4480560" y="3054096"/>
            <a:ext cx="1371600" cy="310896"/>
          </a:xfrm>
          <a:prstGeom prst="roundRect">
            <a:avLst>
              <a:gd name="adj" fmla="val 35294"/>
            </a:avLst>
          </a:prstGeom>
          <a:solidFill>
            <a:srgbClr val="F46883"/>
          </a:solidFill>
          <a:ln w="12700">
            <a:solidFill>
              <a:srgbClr val="F46883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4526280" y="306324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量化证据</a:t>
            </a:r>
            <a:endParaRPr lang="en-US" sz="1030" dirty="0"/>
          </a:p>
        </p:txBody>
      </p:sp>
      <p:sp>
        <p:nvSpPr>
          <p:cNvPr id="29" name="Shape 25"/>
          <p:cNvSpPr/>
          <p:nvPr/>
        </p:nvSpPr>
        <p:spPr>
          <a:xfrm>
            <a:off x="6821424" y="1389888"/>
            <a:ext cx="2670048" cy="2029968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0160">
            <a:solidFill>
              <a:srgbClr val="DEE4EF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6821424" y="1389888"/>
            <a:ext cx="2670048" cy="91440"/>
          </a:xfrm>
          <a:prstGeom prst="rect">
            <a:avLst/>
          </a:prstGeom>
          <a:solidFill>
            <a:srgbClr val="6F58D9"/>
          </a:solidFill>
          <a:ln w="12700">
            <a:solidFill>
              <a:srgbClr val="6F58D9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6986016" y="1627632"/>
            <a:ext cx="457200" cy="457200"/>
          </a:xfrm>
          <a:prstGeom prst="ellipse">
            <a:avLst/>
          </a:prstGeom>
          <a:solidFill>
            <a:srgbClr val="6F58D9"/>
          </a:solidFill>
          <a:ln w="12700">
            <a:solidFill>
              <a:srgbClr val="6F58D9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6986016" y="162763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600" dirty="0"/>
          </a:p>
        </p:txBody>
      </p:sp>
      <p:sp>
        <p:nvSpPr>
          <p:cNvPr id="33" name="Text 29"/>
          <p:cNvSpPr txBox="1"/>
          <p:nvPr/>
        </p:nvSpPr>
        <p:spPr>
          <a:xfrm>
            <a:off x="7571232" y="1581912"/>
            <a:ext cx="1719072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521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创新点 3：数据/商业模式</a:t>
            </a:r>
            <a:endParaRPr lang="en-US" sz="1650" dirty="0"/>
          </a:p>
        </p:txBody>
      </p:sp>
      <p:sp>
        <p:nvSpPr>
          <p:cNvPr id="34" name="Text 30"/>
          <p:cNvSpPr txBox="1"/>
          <p:nvPr/>
        </p:nvSpPr>
        <p:spPr>
          <a:xfrm>
            <a:off x="7004304" y="2212848"/>
            <a:ext cx="2304288" cy="7498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[形成何种数据、渠道或生态飞轮]</a:t>
            </a:r>
            <a:endParaRPr lang="en-US" sz="1300" dirty="0"/>
          </a:p>
        </p:txBody>
      </p:sp>
      <p:sp>
        <p:nvSpPr>
          <p:cNvPr id="35" name="Shape 31"/>
          <p:cNvSpPr/>
          <p:nvPr/>
        </p:nvSpPr>
        <p:spPr>
          <a:xfrm>
            <a:off x="7479792" y="3054096"/>
            <a:ext cx="1371600" cy="310896"/>
          </a:xfrm>
          <a:prstGeom prst="roundRect">
            <a:avLst>
              <a:gd name="adj" fmla="val 35294"/>
            </a:avLst>
          </a:prstGeom>
          <a:solidFill>
            <a:srgbClr val="6F58D9"/>
          </a:solidFill>
          <a:ln w="12700">
            <a:solidFill>
              <a:srgbClr val="6F58D9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7525512" y="306324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量化证据</a:t>
            </a:r>
            <a:endParaRPr lang="en-US" sz="1030" dirty="0"/>
          </a:p>
        </p:txBody>
      </p:sp>
      <p:sp>
        <p:nvSpPr>
          <p:cNvPr id="37" name="Shape 33"/>
          <p:cNvSpPr/>
          <p:nvPr/>
        </p:nvSpPr>
        <p:spPr>
          <a:xfrm>
            <a:off x="9829800" y="1389888"/>
            <a:ext cx="1417320" cy="4206240"/>
          </a:xfrm>
          <a:prstGeom prst="roundRect">
            <a:avLst>
              <a:gd name="adj" fmla="val 7742"/>
            </a:avLst>
          </a:prstGeom>
          <a:solidFill>
            <a:srgbClr val="EEF3FA"/>
          </a:solidFill>
          <a:ln w="10160">
            <a:solidFill>
              <a:srgbClr val="DDE4EF"/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10012680" y="1600200"/>
            <a:ext cx="105156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927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护城河</a:t>
            </a:r>
            <a:endParaRPr lang="en-US" sz="1800" dirty="0"/>
          </a:p>
        </p:txBody>
      </p:sp>
      <p:sp>
        <p:nvSpPr>
          <p:cNvPr id="39" name="Shape 35"/>
          <p:cNvSpPr/>
          <p:nvPr/>
        </p:nvSpPr>
        <p:spPr>
          <a:xfrm>
            <a:off x="9994392" y="2148840"/>
            <a:ext cx="475488" cy="310896"/>
          </a:xfrm>
          <a:prstGeom prst="roundRect">
            <a:avLst>
              <a:gd name="adj" fmla="val 35294"/>
            </a:avLst>
          </a:prstGeom>
          <a:solidFill>
            <a:srgbClr val="3C8EDB"/>
          </a:solidFill>
          <a:ln w="12700">
            <a:solidFill>
              <a:srgbClr val="3C8EDB"/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10040112" y="2157984"/>
            <a:ext cx="384048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</a:t>
            </a:r>
            <a:endParaRPr lang="en-US" sz="950" dirty="0"/>
          </a:p>
        </p:txBody>
      </p:sp>
      <p:sp>
        <p:nvSpPr>
          <p:cNvPr id="41" name="Text 37"/>
          <p:cNvSpPr txBox="1"/>
          <p:nvPr/>
        </p:nvSpPr>
        <p:spPr>
          <a:xfrm>
            <a:off x="10533888" y="2157984"/>
            <a:ext cx="56692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521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专利/诀窍</a:t>
            </a:r>
            <a:endParaRPr lang="en-US" sz="950" dirty="0"/>
          </a:p>
        </p:txBody>
      </p:sp>
      <p:sp>
        <p:nvSpPr>
          <p:cNvPr id="42" name="Shape 38"/>
          <p:cNvSpPr/>
          <p:nvPr/>
        </p:nvSpPr>
        <p:spPr>
          <a:xfrm>
            <a:off x="9994392" y="2715768"/>
            <a:ext cx="475488" cy="310896"/>
          </a:xfrm>
          <a:prstGeom prst="roundRect">
            <a:avLst>
              <a:gd name="adj" fmla="val 35294"/>
            </a:avLst>
          </a:prstGeom>
          <a:solidFill>
            <a:srgbClr val="53C6EE"/>
          </a:solidFill>
          <a:ln w="12700">
            <a:solidFill>
              <a:srgbClr val="53C6EE"/>
            </a:solidFill>
            <a:prstDash val="solid"/>
          </a:ln>
        </p:spPr>
      </p:sp>
      <p:sp>
        <p:nvSpPr>
          <p:cNvPr id="43" name="Text 39"/>
          <p:cNvSpPr txBox="1"/>
          <p:nvPr/>
        </p:nvSpPr>
        <p:spPr>
          <a:xfrm>
            <a:off x="10040112" y="2724912"/>
            <a:ext cx="384048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</a:t>
            </a:r>
            <a:endParaRPr lang="en-US" sz="950" dirty="0"/>
          </a:p>
        </p:txBody>
      </p:sp>
      <p:sp>
        <p:nvSpPr>
          <p:cNvPr id="44" name="Text 40"/>
          <p:cNvSpPr txBox="1"/>
          <p:nvPr/>
        </p:nvSpPr>
        <p:spPr>
          <a:xfrm>
            <a:off x="10533888" y="2724912"/>
            <a:ext cx="56692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521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独有/反馈</a:t>
            </a:r>
            <a:endParaRPr lang="en-US" sz="950" dirty="0"/>
          </a:p>
        </p:txBody>
      </p:sp>
      <p:sp>
        <p:nvSpPr>
          <p:cNvPr id="45" name="Shape 41"/>
          <p:cNvSpPr/>
          <p:nvPr/>
        </p:nvSpPr>
        <p:spPr>
          <a:xfrm>
            <a:off x="9994392" y="3282696"/>
            <a:ext cx="475488" cy="310896"/>
          </a:xfrm>
          <a:prstGeom prst="roundRect">
            <a:avLst>
              <a:gd name="adj" fmla="val 35294"/>
            </a:avLst>
          </a:prstGeom>
          <a:solidFill>
            <a:srgbClr val="6F58D9"/>
          </a:solidFill>
          <a:ln w="12700">
            <a:solidFill>
              <a:srgbClr val="6F58D9"/>
            </a:solidFill>
            <a:prstDash val="solid"/>
          </a:ln>
        </p:spPr>
      </p:sp>
      <p:sp>
        <p:nvSpPr>
          <p:cNvPr id="46" name="Text 42"/>
          <p:cNvSpPr txBox="1"/>
          <p:nvPr/>
        </p:nvSpPr>
        <p:spPr>
          <a:xfrm>
            <a:off x="10040112" y="3291840"/>
            <a:ext cx="384048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产品</a:t>
            </a:r>
            <a:endParaRPr lang="en-US" sz="950" dirty="0"/>
          </a:p>
        </p:txBody>
      </p:sp>
      <p:sp>
        <p:nvSpPr>
          <p:cNvPr id="47" name="Text 43"/>
          <p:cNvSpPr txBox="1"/>
          <p:nvPr/>
        </p:nvSpPr>
        <p:spPr>
          <a:xfrm>
            <a:off x="10533888" y="3291840"/>
            <a:ext cx="56692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521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流程嵌入</a:t>
            </a:r>
            <a:endParaRPr lang="en-US" sz="950" dirty="0"/>
          </a:p>
        </p:txBody>
      </p:sp>
      <p:sp>
        <p:nvSpPr>
          <p:cNvPr id="48" name="Shape 44"/>
          <p:cNvSpPr/>
          <p:nvPr/>
        </p:nvSpPr>
        <p:spPr>
          <a:xfrm>
            <a:off x="9994392" y="3849624"/>
            <a:ext cx="475488" cy="310896"/>
          </a:xfrm>
          <a:prstGeom prst="roundRect">
            <a:avLst>
              <a:gd name="adj" fmla="val 35294"/>
            </a:avLst>
          </a:prstGeom>
          <a:solidFill>
            <a:srgbClr val="F39A72"/>
          </a:solidFill>
          <a:ln w="12700">
            <a:solidFill>
              <a:srgbClr val="F39A72"/>
            </a:solidFill>
            <a:prstDash val="solid"/>
          </a:ln>
        </p:spPr>
      </p:sp>
      <p:sp>
        <p:nvSpPr>
          <p:cNvPr id="49" name="Text 45"/>
          <p:cNvSpPr txBox="1"/>
          <p:nvPr/>
        </p:nvSpPr>
        <p:spPr>
          <a:xfrm>
            <a:off x="10040112" y="3858768"/>
            <a:ext cx="384048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渠道</a:t>
            </a:r>
            <a:endParaRPr lang="en-US" sz="950" dirty="0"/>
          </a:p>
        </p:txBody>
      </p:sp>
      <p:sp>
        <p:nvSpPr>
          <p:cNvPr id="50" name="Text 46"/>
          <p:cNvSpPr txBox="1"/>
          <p:nvPr/>
        </p:nvSpPr>
        <p:spPr>
          <a:xfrm>
            <a:off x="10533888" y="3858768"/>
            <a:ext cx="56692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521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客户/伙伴</a:t>
            </a:r>
            <a:endParaRPr lang="en-US" sz="950" dirty="0"/>
          </a:p>
        </p:txBody>
      </p:sp>
      <p:sp>
        <p:nvSpPr>
          <p:cNvPr id="51" name="Shape 47"/>
          <p:cNvSpPr/>
          <p:nvPr/>
        </p:nvSpPr>
        <p:spPr>
          <a:xfrm>
            <a:off x="9994392" y="4416552"/>
            <a:ext cx="475488" cy="310896"/>
          </a:xfrm>
          <a:prstGeom prst="roundRect">
            <a:avLst>
              <a:gd name="adj" fmla="val 35294"/>
            </a:avLst>
          </a:prstGeom>
          <a:solidFill>
            <a:srgbClr val="F46883"/>
          </a:solidFill>
          <a:ln w="12700">
            <a:solidFill>
              <a:srgbClr val="F46883"/>
            </a:solidFill>
            <a:prstDash val="solid"/>
          </a:ln>
        </p:spPr>
      </p:sp>
      <p:sp>
        <p:nvSpPr>
          <p:cNvPr id="52" name="Text 48"/>
          <p:cNvSpPr txBox="1"/>
          <p:nvPr/>
        </p:nvSpPr>
        <p:spPr>
          <a:xfrm>
            <a:off x="10040112" y="4425696"/>
            <a:ext cx="384048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迁移</a:t>
            </a:r>
            <a:endParaRPr lang="en-US" sz="950" dirty="0"/>
          </a:p>
        </p:txBody>
      </p:sp>
      <p:sp>
        <p:nvSpPr>
          <p:cNvPr id="53" name="Text 49"/>
          <p:cNvSpPr txBox="1"/>
          <p:nvPr/>
        </p:nvSpPr>
        <p:spPr>
          <a:xfrm>
            <a:off x="10533888" y="4425696"/>
            <a:ext cx="56692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521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切换成本</a:t>
            </a:r>
            <a:endParaRPr lang="en-US" sz="950" dirty="0"/>
          </a:p>
        </p:txBody>
      </p:sp>
      <p:sp>
        <p:nvSpPr>
          <p:cNvPr id="54" name="Shape 50"/>
          <p:cNvSpPr/>
          <p:nvPr/>
        </p:nvSpPr>
        <p:spPr>
          <a:xfrm>
            <a:off x="822960" y="3703320"/>
            <a:ext cx="8686800" cy="1325880"/>
          </a:xfrm>
          <a:prstGeom prst="roundRect">
            <a:avLst>
              <a:gd name="adj" fmla="val 6897"/>
            </a:avLst>
          </a:prstGeom>
          <a:solidFill>
            <a:srgbClr val="F8FAFD"/>
          </a:solidFill>
          <a:ln w="10160">
            <a:solidFill>
              <a:srgbClr val="DCE3EE"/>
            </a:solidFill>
            <a:prstDash val="solid"/>
          </a:ln>
        </p:spPr>
      </p:sp>
      <p:sp>
        <p:nvSpPr>
          <p:cNvPr id="55" name="Text 51"/>
          <p:cNvSpPr txBox="1"/>
          <p:nvPr/>
        </p:nvSpPr>
        <p:spPr>
          <a:xfrm>
            <a:off x="1051560" y="3886200"/>
            <a:ext cx="201168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927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与主流替代方案比较</a:t>
            </a:r>
            <a:endParaRPr lang="en-US" sz="1600" dirty="0"/>
          </a:p>
        </p:txBody>
      </p:sp>
      <p:sp>
        <p:nvSpPr>
          <p:cNvPr id="56" name="Text 52"/>
          <p:cNvSpPr txBox="1"/>
          <p:nvPr/>
        </p:nvSpPr>
        <p:spPr>
          <a:xfrm>
            <a:off x="1005840" y="4315968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关键指标</a:t>
            </a:r>
            <a:endParaRPr lang="en-US" sz="1150" dirty="0"/>
          </a:p>
        </p:txBody>
      </p:sp>
      <p:sp>
        <p:nvSpPr>
          <p:cNvPr id="57" name="Text 53"/>
          <p:cNvSpPr txBox="1"/>
          <p:nvPr/>
        </p:nvSpPr>
        <p:spPr>
          <a:xfrm>
            <a:off x="2971800" y="4315968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本项目</a:t>
            </a:r>
            <a:endParaRPr lang="en-US" sz="1150" dirty="0"/>
          </a:p>
        </p:txBody>
      </p:sp>
      <p:sp>
        <p:nvSpPr>
          <p:cNvPr id="58" name="Text 54"/>
          <p:cNvSpPr txBox="1"/>
          <p:nvPr/>
        </p:nvSpPr>
        <p:spPr>
          <a:xfrm>
            <a:off x="4709160" y="4315968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主流方案</a:t>
            </a:r>
            <a:endParaRPr lang="en-US" sz="1150" dirty="0"/>
          </a:p>
        </p:txBody>
      </p:sp>
      <p:sp>
        <p:nvSpPr>
          <p:cNvPr id="59" name="Text 55"/>
          <p:cNvSpPr txBox="1"/>
          <p:nvPr/>
        </p:nvSpPr>
        <p:spPr>
          <a:xfrm>
            <a:off x="6446520" y="4315968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优势来源</a:t>
            </a:r>
            <a:endParaRPr lang="en-US" sz="1150" dirty="0"/>
          </a:p>
        </p:txBody>
      </p:sp>
      <p:sp>
        <p:nvSpPr>
          <p:cNvPr id="60" name="Text 56"/>
          <p:cNvSpPr txBox="1"/>
          <p:nvPr/>
        </p:nvSpPr>
        <p:spPr>
          <a:xfrm>
            <a:off x="1005840" y="4608576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521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[准确率/成本]</a:t>
            </a:r>
            <a:endParaRPr lang="en-US" sz="1250" dirty="0"/>
          </a:p>
        </p:txBody>
      </p:sp>
      <p:sp>
        <p:nvSpPr>
          <p:cNvPr id="61" name="Text 57"/>
          <p:cNvSpPr txBox="1"/>
          <p:nvPr/>
        </p:nvSpPr>
        <p:spPr>
          <a:xfrm>
            <a:off x="2971800" y="4608576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FAE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[数值]</a:t>
            </a:r>
            <a:endParaRPr lang="en-US" sz="1250" dirty="0"/>
          </a:p>
        </p:txBody>
      </p:sp>
      <p:sp>
        <p:nvSpPr>
          <p:cNvPr id="62" name="Text 58"/>
          <p:cNvSpPr txBox="1"/>
          <p:nvPr/>
        </p:nvSpPr>
        <p:spPr>
          <a:xfrm>
            <a:off x="4709160" y="4608576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521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[数值]</a:t>
            </a:r>
            <a:endParaRPr lang="en-US" sz="1250" dirty="0"/>
          </a:p>
        </p:txBody>
      </p:sp>
      <p:sp>
        <p:nvSpPr>
          <p:cNvPr id="63" name="Text 59"/>
          <p:cNvSpPr txBox="1"/>
          <p:nvPr/>
        </p:nvSpPr>
        <p:spPr>
          <a:xfrm>
            <a:off x="6446520" y="4608576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521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[创新点1]</a:t>
            </a:r>
            <a:endParaRPr lang="en-US" sz="1250" dirty="0"/>
          </a:p>
        </p:txBody>
      </p:sp>
      <p:sp>
        <p:nvSpPr>
          <p:cNvPr id="64" name="Text 60"/>
          <p:cNvSpPr txBox="1"/>
          <p:nvPr/>
        </p:nvSpPr>
        <p:spPr>
          <a:xfrm>
            <a:off x="1005840" y="4864608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521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[交付周期]</a:t>
            </a:r>
            <a:endParaRPr lang="en-US" sz="1250" dirty="0"/>
          </a:p>
        </p:txBody>
      </p:sp>
      <p:sp>
        <p:nvSpPr>
          <p:cNvPr id="65" name="Text 61"/>
          <p:cNvSpPr txBox="1"/>
          <p:nvPr/>
        </p:nvSpPr>
        <p:spPr>
          <a:xfrm>
            <a:off x="2971800" y="4864608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FAE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[数值]</a:t>
            </a:r>
            <a:endParaRPr lang="en-US" sz="1250" dirty="0"/>
          </a:p>
        </p:txBody>
      </p:sp>
      <p:sp>
        <p:nvSpPr>
          <p:cNvPr id="66" name="Text 62"/>
          <p:cNvSpPr txBox="1"/>
          <p:nvPr/>
        </p:nvSpPr>
        <p:spPr>
          <a:xfrm>
            <a:off x="4709160" y="4864608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521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[数值]</a:t>
            </a:r>
            <a:endParaRPr lang="en-US" sz="1250" dirty="0"/>
          </a:p>
        </p:txBody>
      </p:sp>
      <p:sp>
        <p:nvSpPr>
          <p:cNvPr id="67" name="Text 63"/>
          <p:cNvSpPr txBox="1"/>
          <p:nvPr/>
        </p:nvSpPr>
        <p:spPr>
          <a:xfrm>
            <a:off x="6446520" y="4864608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521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[创新点2]</a:t>
            </a:r>
            <a:endParaRPr lang="en-US" sz="1250" dirty="0"/>
          </a:p>
        </p:txBody>
      </p:sp>
      <p:sp>
        <p:nvSpPr>
          <p:cNvPr id="68" name="Shape 64"/>
          <p:cNvSpPr/>
          <p:nvPr/>
        </p:nvSpPr>
        <p:spPr>
          <a:xfrm>
            <a:off x="960120" y="5705856"/>
            <a:ext cx="5212080" cy="310896"/>
          </a:xfrm>
          <a:prstGeom prst="roundRect">
            <a:avLst>
              <a:gd name="adj" fmla="val 23529"/>
            </a:avLst>
          </a:prstGeom>
          <a:solidFill>
            <a:srgbClr val="FFF3E7"/>
          </a:solidFill>
          <a:ln w="10160">
            <a:solidFill>
              <a:srgbClr val="F3C39C"/>
            </a:solidFill>
            <a:prstDash val="solid"/>
          </a:ln>
        </p:spPr>
      </p:sp>
      <p:sp>
        <p:nvSpPr>
          <p:cNvPr id="69" name="Text 65"/>
          <p:cNvSpPr txBox="1"/>
          <p:nvPr/>
        </p:nvSpPr>
        <p:spPr>
          <a:xfrm>
            <a:off x="1069848" y="5724144"/>
            <a:ext cx="4992624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8A4B1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模板提示：创新点必须回答：相比谁、好多少、为何能持续。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7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智极松_content_bg_clean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mnt/data/智极松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2880"/>
            <a:ext cx="1234440" cy="37490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874520" y="164592"/>
            <a:ext cx="6583680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Demo：用 2 分钟证明核心闭环</a:t>
            </a:r>
            <a:endParaRPr lang="en-US" sz="2700" dirty="0"/>
          </a:p>
        </p:txBody>
      </p:sp>
      <p:sp>
        <p:nvSpPr>
          <p:cNvPr id="5" name="Text 1"/>
          <p:cNvSpPr txBox="1"/>
          <p:nvPr/>
        </p:nvSpPr>
        <p:spPr>
          <a:xfrm>
            <a:off x="1901952" y="621792"/>
            <a:ext cx="68580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C8D3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演示真实可用性、稳定性和关键效果，不要把时间耗在登录与配置</a:t>
            </a:r>
            <a:endParaRPr lang="en-US" sz="1050" dirty="0"/>
          </a:p>
        </p:txBody>
      </p:sp>
      <p:sp>
        <p:nvSpPr>
          <p:cNvPr id="6" name="Shape 2"/>
          <p:cNvSpPr/>
          <p:nvPr/>
        </p:nvSpPr>
        <p:spPr>
          <a:xfrm>
            <a:off x="9281160" y="210312"/>
            <a:ext cx="1554480" cy="310896"/>
          </a:xfrm>
          <a:prstGeom prst="roundRect">
            <a:avLst>
              <a:gd name="adj" fmla="val 35294"/>
            </a:avLst>
          </a:prstGeom>
          <a:solidFill>
            <a:srgbClr val="53C6EE"/>
          </a:solidFill>
          <a:ln w="12700">
            <a:solidFill>
              <a:srgbClr val="53C6EE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9326880" y="219456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1927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Demo效果与路演表现 · 20分</a:t>
            </a:r>
            <a:endParaRPr lang="en-US" sz="1020" dirty="0"/>
          </a:p>
        </p:txBody>
      </p:sp>
      <p:sp>
        <p:nvSpPr>
          <p:cNvPr id="8" name="Shape 4"/>
          <p:cNvSpPr/>
          <p:nvPr/>
        </p:nvSpPr>
        <p:spPr>
          <a:xfrm>
            <a:off x="10927080" y="210312"/>
            <a:ext cx="822960" cy="310896"/>
          </a:xfrm>
          <a:prstGeom prst="roundRect">
            <a:avLst>
              <a:gd name="adj" fmla="val 35294"/>
            </a:avLst>
          </a:prstGeom>
          <a:solidFill>
            <a:srgbClr val="F46883"/>
          </a:solidFill>
          <a:ln w="12700">
            <a:solidFill>
              <a:srgbClr val="F4688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10972800" y="219456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建议 115秒</a:t>
            </a:r>
            <a:endParaRPr lang="en-US" sz="1020" dirty="0"/>
          </a:p>
        </p:txBody>
      </p:sp>
      <p:sp>
        <p:nvSpPr>
          <p:cNvPr id="10" name="Shape 6"/>
          <p:cNvSpPr/>
          <p:nvPr/>
        </p:nvSpPr>
        <p:spPr>
          <a:xfrm>
            <a:off x="1874520" y="749808"/>
            <a:ext cx="9756648" cy="0"/>
          </a:xfrm>
          <a:prstGeom prst="line">
            <a:avLst/>
          </a:prstGeom>
          <a:noFill/>
          <a:ln w="13970">
            <a:solidFill>
              <a:srgbClr val="53C6EE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38912" y="941832"/>
            <a:ext cx="11311128" cy="5230368"/>
          </a:xfrm>
          <a:prstGeom prst="roundRect">
            <a:avLst>
              <a:gd name="adj" fmla="val 2448"/>
            </a:avLst>
          </a:prstGeom>
          <a:solidFill>
            <a:srgbClr val="F6F8FC"/>
          </a:solidFill>
          <a:ln w="10160">
            <a:solidFill>
              <a:srgbClr val="E1E6F0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9464040" y="6446520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C6D0E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智极松决赛路演模板  |  第 6 页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713232" y="1261872"/>
            <a:ext cx="6995160" cy="4443984"/>
          </a:xfrm>
          <a:prstGeom prst="roundRect">
            <a:avLst>
              <a:gd name="adj" fmla="val 2469"/>
            </a:avLst>
          </a:prstGeom>
          <a:solidFill>
            <a:srgbClr val="F9FBFE"/>
          </a:solidFill>
          <a:ln w="10160">
            <a:solidFill>
              <a:srgbClr val="CAD4E5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13232" y="1261872"/>
            <a:ext cx="6995160" cy="329184"/>
          </a:xfrm>
          <a:prstGeom prst="rect">
            <a:avLst/>
          </a:prstGeom>
          <a:solidFill>
            <a:srgbClr val="E8EEF8"/>
          </a:solidFill>
          <a:ln w="12700">
            <a:solidFill>
              <a:srgbClr val="E8EEF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50392" y="1353312"/>
            <a:ext cx="100584" cy="100584"/>
          </a:xfrm>
          <a:prstGeom prst="ellipse">
            <a:avLst/>
          </a:prstGeom>
          <a:solidFill>
            <a:srgbClr val="F46883"/>
          </a:solidFill>
          <a:ln w="12700">
            <a:solidFill>
              <a:srgbClr val="F46883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996696" y="1353312"/>
            <a:ext cx="100584" cy="100584"/>
          </a:xfrm>
          <a:prstGeom prst="ellipse">
            <a:avLst/>
          </a:prstGeom>
          <a:solidFill>
            <a:srgbClr val="F3B35D"/>
          </a:solidFill>
          <a:ln w="12700">
            <a:solidFill>
              <a:srgbClr val="F3B35D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1143000" y="1353312"/>
            <a:ext cx="100584" cy="100584"/>
          </a:xfrm>
          <a:prstGeom prst="ellipse">
            <a:avLst/>
          </a:prstGeom>
          <a:solidFill>
            <a:srgbClr val="53C6A8"/>
          </a:solidFill>
          <a:ln w="12700">
            <a:solidFill>
              <a:srgbClr val="53C6A8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1353312" y="1298448"/>
            <a:ext cx="621792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现场 Demo 主画面（建议全屏切换）</a:t>
            </a:r>
            <a:endParaRPr lang="en-US" sz="1050" dirty="0"/>
          </a:p>
        </p:txBody>
      </p:sp>
      <p:sp>
        <p:nvSpPr>
          <p:cNvPr id="19" name="Text 15"/>
          <p:cNvSpPr txBox="1"/>
          <p:nvPr/>
        </p:nvSpPr>
        <p:spPr>
          <a:xfrm>
            <a:off x="941832" y="1847088"/>
            <a:ext cx="6537960" cy="35295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93A0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替换为真实界面、设备照片或演示视频首帧</a:t>
            </a:r>
            <a:endParaRPr lang="en-US" sz="1700" dirty="0"/>
          </a:p>
        </p:txBody>
      </p:sp>
      <p:sp>
        <p:nvSpPr>
          <p:cNvPr id="20" name="Shape 16"/>
          <p:cNvSpPr/>
          <p:nvPr/>
        </p:nvSpPr>
        <p:spPr>
          <a:xfrm rot="5400000">
            <a:off x="4009644" y="3392424"/>
            <a:ext cx="420624" cy="420624"/>
          </a:xfrm>
          <a:prstGeom prst="triangle">
            <a:avLst/>
          </a:prstGeom>
          <a:solidFill>
            <a:srgbClr val="53C6EE">
              <a:alpha val="92000"/>
            </a:srgbClr>
          </a:solidFill>
          <a:ln w="12700">
            <a:solidFill>
              <a:srgbClr val="53C6EE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7955280" y="132588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927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演示脚本</a:t>
            </a:r>
            <a:endParaRPr lang="en-US" sz="1800" dirty="0"/>
          </a:p>
        </p:txBody>
      </p:sp>
      <p:sp>
        <p:nvSpPr>
          <p:cNvPr id="22" name="Shape 18"/>
          <p:cNvSpPr/>
          <p:nvPr/>
        </p:nvSpPr>
        <p:spPr>
          <a:xfrm>
            <a:off x="7973568" y="1755648"/>
            <a:ext cx="420624" cy="420624"/>
          </a:xfrm>
          <a:prstGeom prst="ellipse">
            <a:avLst/>
          </a:prstGeom>
          <a:solidFill>
            <a:srgbClr val="53C6EE"/>
          </a:solidFill>
          <a:ln w="12700">
            <a:solidFill>
              <a:srgbClr val="53C6EE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7973568" y="1755648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1200" dirty="0"/>
          </a:p>
        </p:txBody>
      </p:sp>
      <p:sp>
        <p:nvSpPr>
          <p:cNvPr id="24" name="Text 20"/>
          <p:cNvSpPr txBox="1"/>
          <p:nvPr/>
        </p:nvSpPr>
        <p:spPr>
          <a:xfrm>
            <a:off x="8522208" y="1737360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521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输入真实任务</a:t>
            </a:r>
            <a:endParaRPr lang="en-US" sz="1550" dirty="0"/>
          </a:p>
        </p:txBody>
      </p:sp>
      <p:sp>
        <p:nvSpPr>
          <p:cNvPr id="25" name="Text 21"/>
          <p:cNvSpPr txBox="1"/>
          <p:nvPr/>
        </p:nvSpPr>
        <p:spPr>
          <a:xfrm>
            <a:off x="8522208" y="2057400"/>
            <a:ext cx="2331720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选择一条代表性数据/场景，不做冗长配置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7973568" y="2596896"/>
            <a:ext cx="420624" cy="420624"/>
          </a:xfrm>
          <a:prstGeom prst="ellipse">
            <a:avLst/>
          </a:prstGeom>
          <a:solidFill>
            <a:srgbClr val="F46883"/>
          </a:solidFill>
          <a:ln w="12700">
            <a:solidFill>
              <a:srgbClr val="F46883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7973568" y="2596896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1200" dirty="0"/>
          </a:p>
        </p:txBody>
      </p:sp>
      <p:sp>
        <p:nvSpPr>
          <p:cNvPr id="28" name="Text 24"/>
          <p:cNvSpPr txBox="1"/>
          <p:nvPr/>
        </p:nvSpPr>
        <p:spPr>
          <a:xfrm>
            <a:off x="8522208" y="2578608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521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完成核心处理</a:t>
            </a:r>
            <a:endParaRPr lang="en-US" sz="1550" dirty="0"/>
          </a:p>
        </p:txBody>
      </p:sp>
      <p:sp>
        <p:nvSpPr>
          <p:cNvPr id="29" name="Text 25"/>
          <p:cNvSpPr txBox="1"/>
          <p:nvPr/>
        </p:nvSpPr>
        <p:spPr>
          <a:xfrm>
            <a:off x="8522208" y="2898648"/>
            <a:ext cx="2331720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展示关键交互、模型判断或自动化流程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7973568" y="3438144"/>
            <a:ext cx="420624" cy="420624"/>
          </a:xfrm>
          <a:prstGeom prst="ellipse">
            <a:avLst/>
          </a:prstGeom>
          <a:solidFill>
            <a:srgbClr val="3C8EDB"/>
          </a:solidFill>
          <a:ln w="12700">
            <a:solidFill>
              <a:srgbClr val="3C8EDB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7973568" y="3438144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1200" dirty="0"/>
          </a:p>
        </p:txBody>
      </p:sp>
      <p:sp>
        <p:nvSpPr>
          <p:cNvPr id="32" name="Text 28"/>
          <p:cNvSpPr txBox="1"/>
          <p:nvPr/>
        </p:nvSpPr>
        <p:spPr>
          <a:xfrm>
            <a:off x="8522208" y="3419856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521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输出结果与指标</a:t>
            </a:r>
            <a:endParaRPr lang="en-US" sz="1550" dirty="0"/>
          </a:p>
        </p:txBody>
      </p:sp>
      <p:sp>
        <p:nvSpPr>
          <p:cNvPr id="33" name="Text 29"/>
          <p:cNvSpPr txBox="1"/>
          <p:nvPr/>
        </p:nvSpPr>
        <p:spPr>
          <a:xfrm>
            <a:off x="8522208" y="3739896"/>
            <a:ext cx="2331720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展示结果、耗时、准确率或业务价值</a:t>
            </a:r>
            <a:endParaRPr lang="en-US" sz="1050" dirty="0"/>
          </a:p>
        </p:txBody>
      </p:sp>
      <p:sp>
        <p:nvSpPr>
          <p:cNvPr id="34" name="Shape 30"/>
          <p:cNvSpPr/>
          <p:nvPr/>
        </p:nvSpPr>
        <p:spPr>
          <a:xfrm>
            <a:off x="7973568" y="4279392"/>
            <a:ext cx="420624" cy="420624"/>
          </a:xfrm>
          <a:prstGeom prst="ellipse">
            <a:avLst/>
          </a:prstGeom>
          <a:solidFill>
            <a:srgbClr val="F39A72"/>
          </a:solidFill>
          <a:ln w="12700">
            <a:solidFill>
              <a:srgbClr val="F39A72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7973568" y="4279392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1200" dirty="0"/>
          </a:p>
        </p:txBody>
      </p:sp>
      <p:sp>
        <p:nvSpPr>
          <p:cNvPr id="36" name="Text 32"/>
          <p:cNvSpPr txBox="1"/>
          <p:nvPr/>
        </p:nvSpPr>
        <p:spPr>
          <a:xfrm>
            <a:off x="8522208" y="4261104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521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异常与人工协同</a:t>
            </a:r>
            <a:endParaRPr lang="en-US" sz="1550" dirty="0"/>
          </a:p>
        </p:txBody>
      </p:sp>
      <p:sp>
        <p:nvSpPr>
          <p:cNvPr id="37" name="Text 33"/>
          <p:cNvSpPr txBox="1"/>
          <p:nvPr/>
        </p:nvSpPr>
        <p:spPr>
          <a:xfrm>
            <a:off x="8522208" y="4581144"/>
            <a:ext cx="2331720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可选：展示边界、回退或人工确认机制</a:t>
            </a:r>
            <a:endParaRPr lang="en-US" sz="1050" dirty="0"/>
          </a:p>
        </p:txBody>
      </p:sp>
      <p:sp>
        <p:nvSpPr>
          <p:cNvPr id="38" name="Shape 34"/>
          <p:cNvSpPr/>
          <p:nvPr/>
        </p:nvSpPr>
        <p:spPr>
          <a:xfrm>
            <a:off x="7955280" y="5285232"/>
            <a:ext cx="3218688" cy="411480"/>
          </a:xfrm>
          <a:prstGeom prst="roundRect">
            <a:avLst>
              <a:gd name="adj" fmla="val 17778"/>
            </a:avLst>
          </a:prstGeom>
          <a:solidFill>
            <a:srgbClr val="FFF3E7"/>
          </a:solidFill>
          <a:ln w="10160">
            <a:solidFill>
              <a:srgbClr val="F1C69E"/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8119872" y="5358384"/>
            <a:ext cx="2889504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8A4B1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备份：离线录屏 + 截图 + 测试账号</a:t>
            </a:r>
            <a:endParaRPr lang="en-US" sz="1130" dirty="0"/>
          </a:p>
        </p:txBody>
      </p:sp>
      <p:sp>
        <p:nvSpPr>
          <p:cNvPr id="40" name="Shape 36"/>
          <p:cNvSpPr/>
          <p:nvPr/>
        </p:nvSpPr>
        <p:spPr>
          <a:xfrm>
            <a:off x="960120" y="5705856"/>
            <a:ext cx="7132320" cy="310896"/>
          </a:xfrm>
          <a:prstGeom prst="roundRect">
            <a:avLst>
              <a:gd name="adj" fmla="val 23529"/>
            </a:avLst>
          </a:prstGeom>
          <a:solidFill>
            <a:srgbClr val="FFF3E7"/>
          </a:solidFill>
          <a:ln w="10160">
            <a:solidFill>
              <a:srgbClr val="F3C39C"/>
            </a:solidFill>
            <a:prstDash val="solid"/>
          </a:ln>
        </p:spPr>
      </p:sp>
      <p:sp>
        <p:nvSpPr>
          <p:cNvPr id="41" name="Text 37"/>
          <p:cNvSpPr txBox="1"/>
          <p:nvPr/>
        </p:nvSpPr>
        <p:spPr>
          <a:xfrm>
            <a:off x="1069848" y="5724144"/>
            <a:ext cx="6912864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8A4B1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模板提示：演示失败时不要反复调试；立即切换备份，并继续讲证据和结果。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7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智极松_content_bg_clean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mnt/data/智极松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2880"/>
            <a:ext cx="1234440" cy="37490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874520" y="164592"/>
            <a:ext cx="6583680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验证结果与当前进展</a:t>
            </a:r>
            <a:endParaRPr lang="en-US" sz="2700" dirty="0"/>
          </a:p>
        </p:txBody>
      </p:sp>
      <p:sp>
        <p:nvSpPr>
          <p:cNvPr id="5" name="Text 1"/>
          <p:cNvSpPr txBox="1"/>
          <p:nvPr/>
        </p:nvSpPr>
        <p:spPr>
          <a:xfrm>
            <a:off x="1901952" y="621792"/>
            <a:ext cx="68580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C8D3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用量化结果、真实用户和阶段里程碑支撑可信度</a:t>
            </a:r>
            <a:endParaRPr lang="en-US" sz="1050" dirty="0"/>
          </a:p>
        </p:txBody>
      </p:sp>
      <p:sp>
        <p:nvSpPr>
          <p:cNvPr id="6" name="Shape 2"/>
          <p:cNvSpPr/>
          <p:nvPr/>
        </p:nvSpPr>
        <p:spPr>
          <a:xfrm>
            <a:off x="9281160" y="210312"/>
            <a:ext cx="1554480" cy="310896"/>
          </a:xfrm>
          <a:prstGeom prst="roundRect">
            <a:avLst>
              <a:gd name="adj" fmla="val 35294"/>
            </a:avLst>
          </a:prstGeom>
          <a:solidFill>
            <a:srgbClr val="53C6EE"/>
          </a:solidFill>
          <a:ln w="12700">
            <a:solidFill>
              <a:srgbClr val="53C6EE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9326880" y="219456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1927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Demo / 产业价值 · 20+20分</a:t>
            </a:r>
            <a:endParaRPr lang="en-US" sz="1020" dirty="0"/>
          </a:p>
        </p:txBody>
      </p:sp>
      <p:sp>
        <p:nvSpPr>
          <p:cNvPr id="8" name="Shape 4"/>
          <p:cNvSpPr/>
          <p:nvPr/>
        </p:nvSpPr>
        <p:spPr>
          <a:xfrm>
            <a:off x="10927080" y="210312"/>
            <a:ext cx="822960" cy="310896"/>
          </a:xfrm>
          <a:prstGeom prst="roundRect">
            <a:avLst>
              <a:gd name="adj" fmla="val 35294"/>
            </a:avLst>
          </a:prstGeom>
          <a:solidFill>
            <a:srgbClr val="F46883"/>
          </a:solidFill>
          <a:ln w="12700">
            <a:solidFill>
              <a:srgbClr val="F4688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10972800" y="219456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建议 55秒</a:t>
            </a:r>
            <a:endParaRPr lang="en-US" sz="1020" dirty="0"/>
          </a:p>
        </p:txBody>
      </p:sp>
      <p:sp>
        <p:nvSpPr>
          <p:cNvPr id="10" name="Shape 6"/>
          <p:cNvSpPr/>
          <p:nvPr/>
        </p:nvSpPr>
        <p:spPr>
          <a:xfrm>
            <a:off x="1874520" y="749808"/>
            <a:ext cx="9756648" cy="0"/>
          </a:xfrm>
          <a:prstGeom prst="line">
            <a:avLst/>
          </a:prstGeom>
          <a:noFill/>
          <a:ln w="13970">
            <a:solidFill>
              <a:srgbClr val="53C6EE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38912" y="941832"/>
            <a:ext cx="11311128" cy="5230368"/>
          </a:xfrm>
          <a:prstGeom prst="roundRect">
            <a:avLst>
              <a:gd name="adj" fmla="val 2448"/>
            </a:avLst>
          </a:prstGeom>
          <a:solidFill>
            <a:srgbClr val="F6F8FC"/>
          </a:solidFill>
          <a:ln w="10160">
            <a:solidFill>
              <a:srgbClr val="E1E6F0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9464040" y="6446520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C6D0E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智极松决赛路演模板  |  第 7 页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822960" y="1225296"/>
            <a:ext cx="384048" cy="384048"/>
          </a:xfrm>
          <a:prstGeom prst="ellipse">
            <a:avLst/>
          </a:prstGeom>
          <a:solidFill>
            <a:srgbClr val="3C8EDB"/>
          </a:solidFill>
          <a:ln w="12700">
            <a:solidFill>
              <a:srgbClr val="3C8EDB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822960" y="122529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1335024" y="1216152"/>
            <a:ext cx="1865376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521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核心指标对标</a:t>
            </a: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822960" y="1700784"/>
            <a:ext cx="6400800" cy="35204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0160">
            <a:solidFill>
              <a:srgbClr val="DDE4EF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1078992" y="2148840"/>
            <a:ext cx="13258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1521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主流方案A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2423160" y="2167128"/>
            <a:ext cx="4069080" cy="256032"/>
          </a:xfrm>
          <a:prstGeom prst="roundRect">
            <a:avLst>
              <a:gd name="adj" fmla="val 28571"/>
            </a:avLst>
          </a:prstGeom>
          <a:solidFill>
            <a:srgbClr val="EDF1F7"/>
          </a:solidFill>
          <a:ln w="12700">
            <a:solidFill>
              <a:srgbClr val="EDF1F7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2423160" y="2167128"/>
            <a:ext cx="2360066" cy="256032"/>
          </a:xfrm>
          <a:prstGeom prst="roundRect">
            <a:avLst>
              <a:gd name="adj" fmla="val 28571"/>
            </a:avLst>
          </a:prstGeom>
          <a:solidFill>
            <a:srgbClr val="AEB9CC"/>
          </a:solidFill>
          <a:ln w="12700">
            <a:solidFill>
              <a:srgbClr val="AEB9CC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6565392" y="2130552"/>
            <a:ext cx="41148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58%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1078992" y="2898648"/>
            <a:ext cx="13258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1521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主流方案B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2423160" y="2916936"/>
            <a:ext cx="4069080" cy="256032"/>
          </a:xfrm>
          <a:prstGeom prst="roundRect">
            <a:avLst>
              <a:gd name="adj" fmla="val 28571"/>
            </a:avLst>
          </a:prstGeom>
          <a:solidFill>
            <a:srgbClr val="EDF1F7"/>
          </a:solidFill>
          <a:ln w="12700">
            <a:solidFill>
              <a:srgbClr val="EDF1F7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2423160" y="2916936"/>
            <a:ext cx="2929738" cy="256032"/>
          </a:xfrm>
          <a:prstGeom prst="roundRect">
            <a:avLst>
              <a:gd name="adj" fmla="val 28571"/>
            </a:avLst>
          </a:prstGeom>
          <a:solidFill>
            <a:srgbClr val="8499BC"/>
          </a:solidFill>
          <a:ln w="12700">
            <a:solidFill>
              <a:srgbClr val="8499BC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6565392" y="2880360"/>
            <a:ext cx="41148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72%</a:t>
            </a:r>
            <a:endParaRPr lang="en-US" sz="1300" dirty="0"/>
          </a:p>
        </p:txBody>
      </p:sp>
      <p:sp>
        <p:nvSpPr>
          <p:cNvPr id="25" name="Text 21"/>
          <p:cNvSpPr txBox="1"/>
          <p:nvPr/>
        </p:nvSpPr>
        <p:spPr>
          <a:xfrm>
            <a:off x="1078992" y="3648456"/>
            <a:ext cx="13258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521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本项目</a:t>
            </a:r>
            <a:endParaRPr lang="en-US" sz="1250" dirty="0"/>
          </a:p>
        </p:txBody>
      </p:sp>
      <p:sp>
        <p:nvSpPr>
          <p:cNvPr id="26" name="Shape 22"/>
          <p:cNvSpPr/>
          <p:nvPr/>
        </p:nvSpPr>
        <p:spPr>
          <a:xfrm>
            <a:off x="2423160" y="3666744"/>
            <a:ext cx="4069080" cy="256032"/>
          </a:xfrm>
          <a:prstGeom prst="roundRect">
            <a:avLst>
              <a:gd name="adj" fmla="val 28571"/>
            </a:avLst>
          </a:prstGeom>
          <a:solidFill>
            <a:srgbClr val="EDF1F7"/>
          </a:solidFill>
          <a:ln w="12700">
            <a:solidFill>
              <a:srgbClr val="EDF1F7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2423160" y="3666744"/>
            <a:ext cx="3743554" cy="256032"/>
          </a:xfrm>
          <a:prstGeom prst="roundRect">
            <a:avLst>
              <a:gd name="adj" fmla="val 28571"/>
            </a:avLst>
          </a:prstGeom>
          <a:solidFill>
            <a:srgbClr val="53C6EE"/>
          </a:solidFill>
          <a:ln w="12700">
            <a:solidFill>
              <a:srgbClr val="53C6EE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6565392" y="3630168"/>
            <a:ext cx="41148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3C8E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92%</a:t>
            </a:r>
            <a:endParaRPr lang="en-US" sz="1300" dirty="0"/>
          </a:p>
        </p:txBody>
      </p:sp>
      <p:sp>
        <p:nvSpPr>
          <p:cNvPr id="29" name="Text 25"/>
          <p:cNvSpPr txBox="1"/>
          <p:nvPr/>
        </p:nvSpPr>
        <p:spPr>
          <a:xfrm>
            <a:off x="1078992" y="4526280"/>
            <a:ext cx="5852160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指标：[准确率 / 速度 / 成本 / 复购 / 转化]  |  测试样本：[N]  |  基线：[来源]</a:t>
            </a:r>
            <a:endParaRPr lang="en-US" sz="1150" dirty="0"/>
          </a:p>
        </p:txBody>
      </p:sp>
      <p:sp>
        <p:nvSpPr>
          <p:cNvPr id="30" name="Shape 26"/>
          <p:cNvSpPr/>
          <p:nvPr/>
        </p:nvSpPr>
        <p:spPr>
          <a:xfrm>
            <a:off x="7452360" y="1225296"/>
            <a:ext cx="384048" cy="384048"/>
          </a:xfrm>
          <a:prstGeom prst="ellipse">
            <a:avLst/>
          </a:prstGeom>
          <a:solidFill>
            <a:srgbClr val="2FAE7B"/>
          </a:solidFill>
          <a:ln w="12700">
            <a:solidFill>
              <a:srgbClr val="2FAE7B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7452360" y="122529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400" dirty="0"/>
          </a:p>
        </p:txBody>
      </p:sp>
      <p:sp>
        <p:nvSpPr>
          <p:cNvPr id="32" name="Text 28"/>
          <p:cNvSpPr txBox="1"/>
          <p:nvPr/>
        </p:nvSpPr>
        <p:spPr>
          <a:xfrm>
            <a:off x="7964424" y="1216152"/>
            <a:ext cx="1865376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521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业务与用户进展</a:t>
            </a:r>
            <a:endParaRPr lang="en-US" sz="2000" dirty="0"/>
          </a:p>
        </p:txBody>
      </p:sp>
      <p:sp>
        <p:nvSpPr>
          <p:cNvPr id="33" name="Shape 29"/>
          <p:cNvSpPr/>
          <p:nvPr/>
        </p:nvSpPr>
        <p:spPr>
          <a:xfrm>
            <a:off x="7452360" y="1719072"/>
            <a:ext cx="178308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0160">
            <a:solidFill>
              <a:srgbClr val="E0E6F0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7452360" y="1719072"/>
            <a:ext cx="73152" cy="1170432"/>
          </a:xfrm>
          <a:prstGeom prst="rect">
            <a:avLst/>
          </a:prstGeom>
          <a:solidFill>
            <a:srgbClr val="53C6EE"/>
          </a:solidFill>
          <a:ln w="12700">
            <a:solidFill>
              <a:srgbClr val="53C6EE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7653528" y="1856232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用户/客户</a:t>
            </a:r>
            <a:endParaRPr lang="en-US" sz="1150" dirty="0"/>
          </a:p>
        </p:txBody>
      </p:sp>
      <p:sp>
        <p:nvSpPr>
          <p:cNvPr id="36" name="Text 32"/>
          <p:cNvSpPr txBox="1"/>
          <p:nvPr/>
        </p:nvSpPr>
        <p:spPr>
          <a:xfrm>
            <a:off x="7653528" y="2148840"/>
            <a:ext cx="14630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927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[N]</a:t>
            </a:r>
            <a:endParaRPr lang="en-US" sz="2900" dirty="0"/>
          </a:p>
        </p:txBody>
      </p:sp>
      <p:sp>
        <p:nvSpPr>
          <p:cNvPr id="37" name="Text 33"/>
          <p:cNvSpPr txBox="1"/>
          <p:nvPr/>
        </p:nvSpPr>
        <p:spPr>
          <a:xfrm>
            <a:off x="7653528" y="2478024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真实使用/接洽</a:t>
            </a:r>
            <a:endParaRPr lang="en-US" sz="1050" dirty="0"/>
          </a:p>
        </p:txBody>
      </p:sp>
      <p:sp>
        <p:nvSpPr>
          <p:cNvPr id="38" name="Shape 34"/>
          <p:cNvSpPr/>
          <p:nvPr/>
        </p:nvSpPr>
        <p:spPr>
          <a:xfrm>
            <a:off x="9400032" y="1719072"/>
            <a:ext cx="178308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0160">
            <a:solidFill>
              <a:srgbClr val="E0E6F0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9400032" y="1719072"/>
            <a:ext cx="73152" cy="1170432"/>
          </a:xfrm>
          <a:prstGeom prst="rect">
            <a:avLst/>
          </a:prstGeom>
          <a:solidFill>
            <a:srgbClr val="F46883"/>
          </a:solidFill>
          <a:ln w="12700">
            <a:solidFill>
              <a:srgbClr val="F46883"/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9601200" y="1856232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试点/订单</a:t>
            </a:r>
            <a:endParaRPr lang="en-US" sz="1150" dirty="0"/>
          </a:p>
        </p:txBody>
      </p:sp>
      <p:sp>
        <p:nvSpPr>
          <p:cNvPr id="41" name="Text 37"/>
          <p:cNvSpPr txBox="1"/>
          <p:nvPr/>
        </p:nvSpPr>
        <p:spPr>
          <a:xfrm>
            <a:off x="9601200" y="2148840"/>
            <a:ext cx="14630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927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[N]</a:t>
            </a:r>
            <a:endParaRPr lang="en-US" sz="2900" dirty="0"/>
          </a:p>
        </p:txBody>
      </p:sp>
      <p:sp>
        <p:nvSpPr>
          <p:cNvPr id="42" name="Text 38"/>
          <p:cNvSpPr txBox="1"/>
          <p:nvPr/>
        </p:nvSpPr>
        <p:spPr>
          <a:xfrm>
            <a:off x="9601200" y="2478024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POC/合同/LOI</a:t>
            </a:r>
            <a:endParaRPr lang="en-US" sz="1050" dirty="0"/>
          </a:p>
        </p:txBody>
      </p:sp>
      <p:sp>
        <p:nvSpPr>
          <p:cNvPr id="43" name="Shape 39"/>
          <p:cNvSpPr/>
          <p:nvPr/>
        </p:nvSpPr>
        <p:spPr>
          <a:xfrm>
            <a:off x="7452360" y="3127248"/>
            <a:ext cx="178308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0160">
            <a:solidFill>
              <a:srgbClr val="E0E6F0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7452360" y="3127248"/>
            <a:ext cx="73152" cy="1170432"/>
          </a:xfrm>
          <a:prstGeom prst="rect">
            <a:avLst/>
          </a:prstGeom>
          <a:solidFill>
            <a:srgbClr val="3C8EDB"/>
          </a:solidFill>
          <a:ln w="12700">
            <a:solidFill>
              <a:srgbClr val="3C8EDB"/>
            </a:solidFill>
            <a:prstDash val="solid"/>
          </a:ln>
        </p:spPr>
      </p:sp>
      <p:sp>
        <p:nvSpPr>
          <p:cNvPr id="45" name="Text 41"/>
          <p:cNvSpPr txBox="1"/>
          <p:nvPr/>
        </p:nvSpPr>
        <p:spPr>
          <a:xfrm>
            <a:off x="7653528" y="3264408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收入/GMV</a:t>
            </a:r>
            <a:endParaRPr lang="en-US" sz="1150" dirty="0"/>
          </a:p>
        </p:txBody>
      </p:sp>
      <p:sp>
        <p:nvSpPr>
          <p:cNvPr id="46" name="Text 42"/>
          <p:cNvSpPr txBox="1"/>
          <p:nvPr/>
        </p:nvSpPr>
        <p:spPr>
          <a:xfrm>
            <a:off x="7653528" y="3557016"/>
            <a:ext cx="14630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927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[数值]</a:t>
            </a:r>
            <a:endParaRPr lang="en-US" sz="2900" dirty="0"/>
          </a:p>
        </p:txBody>
      </p:sp>
      <p:sp>
        <p:nvSpPr>
          <p:cNvPr id="47" name="Text 43"/>
          <p:cNvSpPr txBox="1"/>
          <p:nvPr/>
        </p:nvSpPr>
        <p:spPr>
          <a:xfrm>
            <a:off x="7653528" y="3886200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已确认/在手</a:t>
            </a:r>
            <a:endParaRPr lang="en-US" sz="1050" dirty="0"/>
          </a:p>
        </p:txBody>
      </p:sp>
      <p:sp>
        <p:nvSpPr>
          <p:cNvPr id="48" name="Shape 44"/>
          <p:cNvSpPr/>
          <p:nvPr/>
        </p:nvSpPr>
        <p:spPr>
          <a:xfrm>
            <a:off x="9400032" y="3127248"/>
            <a:ext cx="178308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0160">
            <a:solidFill>
              <a:srgbClr val="E0E6F0"/>
            </a:solidFill>
            <a:prstDash val="solid"/>
          </a:ln>
        </p:spPr>
      </p:sp>
      <p:sp>
        <p:nvSpPr>
          <p:cNvPr id="49" name="Shape 45"/>
          <p:cNvSpPr/>
          <p:nvPr/>
        </p:nvSpPr>
        <p:spPr>
          <a:xfrm>
            <a:off x="9400032" y="3127248"/>
            <a:ext cx="73152" cy="1170432"/>
          </a:xfrm>
          <a:prstGeom prst="rect">
            <a:avLst/>
          </a:prstGeom>
          <a:solidFill>
            <a:srgbClr val="F39A72"/>
          </a:solidFill>
          <a:ln w="12700">
            <a:solidFill>
              <a:srgbClr val="F39A72"/>
            </a:solidFill>
            <a:prstDash val="solid"/>
          </a:ln>
        </p:spPr>
      </p:sp>
      <p:sp>
        <p:nvSpPr>
          <p:cNvPr id="50" name="Text 46"/>
          <p:cNvSpPr txBox="1"/>
          <p:nvPr/>
        </p:nvSpPr>
        <p:spPr>
          <a:xfrm>
            <a:off x="9601200" y="3264408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复购/留存</a:t>
            </a:r>
            <a:endParaRPr lang="en-US" sz="1150" dirty="0"/>
          </a:p>
        </p:txBody>
      </p:sp>
      <p:sp>
        <p:nvSpPr>
          <p:cNvPr id="51" name="Text 47"/>
          <p:cNvSpPr txBox="1"/>
          <p:nvPr/>
        </p:nvSpPr>
        <p:spPr>
          <a:xfrm>
            <a:off x="9601200" y="3557016"/>
            <a:ext cx="14630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927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[数值]</a:t>
            </a:r>
            <a:endParaRPr lang="en-US" sz="2900" dirty="0"/>
          </a:p>
        </p:txBody>
      </p:sp>
      <p:sp>
        <p:nvSpPr>
          <p:cNvPr id="52" name="Text 48"/>
          <p:cNvSpPr txBox="1"/>
          <p:nvPr/>
        </p:nvSpPr>
        <p:spPr>
          <a:xfrm>
            <a:off x="9601200" y="3886200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或使用频次</a:t>
            </a:r>
            <a:endParaRPr lang="en-US" sz="1050" dirty="0"/>
          </a:p>
        </p:txBody>
      </p:sp>
      <p:sp>
        <p:nvSpPr>
          <p:cNvPr id="53" name="Shape 49"/>
          <p:cNvSpPr/>
          <p:nvPr/>
        </p:nvSpPr>
        <p:spPr>
          <a:xfrm>
            <a:off x="7452360" y="4590288"/>
            <a:ext cx="3730752" cy="621792"/>
          </a:xfrm>
          <a:prstGeom prst="roundRect">
            <a:avLst>
              <a:gd name="adj" fmla="val 14706"/>
            </a:avLst>
          </a:prstGeom>
          <a:solidFill>
            <a:srgbClr val="EEF3FA"/>
          </a:solidFill>
          <a:ln w="10160">
            <a:solidFill>
              <a:srgbClr val="DCE4EF"/>
            </a:solidFill>
            <a:prstDash val="solid"/>
          </a:ln>
        </p:spPr>
      </p:sp>
      <p:sp>
        <p:nvSpPr>
          <p:cNvPr id="54" name="Text 50"/>
          <p:cNvSpPr txBox="1"/>
          <p:nvPr/>
        </p:nvSpPr>
        <p:spPr>
          <a:xfrm>
            <a:off x="7662672" y="4709160"/>
            <a:ext cx="3310128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1927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最强第三方证据：[客户Logo/合同页/试点照片/评价]</a:t>
            </a:r>
            <a:endParaRPr lang="en-US" sz="1180" dirty="0"/>
          </a:p>
        </p:txBody>
      </p:sp>
      <p:sp>
        <p:nvSpPr>
          <p:cNvPr id="55" name="Shape 51"/>
          <p:cNvSpPr/>
          <p:nvPr/>
        </p:nvSpPr>
        <p:spPr>
          <a:xfrm>
            <a:off x="960120" y="5705856"/>
            <a:ext cx="7772400" cy="310896"/>
          </a:xfrm>
          <a:prstGeom prst="roundRect">
            <a:avLst>
              <a:gd name="adj" fmla="val 23529"/>
            </a:avLst>
          </a:prstGeom>
          <a:solidFill>
            <a:srgbClr val="FFF3E7"/>
          </a:solidFill>
          <a:ln w="10160">
            <a:solidFill>
              <a:srgbClr val="F3C39C"/>
            </a:solidFill>
            <a:prstDash val="solid"/>
          </a:ln>
        </p:spPr>
      </p:sp>
      <p:sp>
        <p:nvSpPr>
          <p:cNvPr id="56" name="Text 52"/>
          <p:cNvSpPr txBox="1"/>
          <p:nvPr/>
        </p:nvSpPr>
        <p:spPr>
          <a:xfrm>
            <a:off x="1069848" y="5724144"/>
            <a:ext cx="7552944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8A4B1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模板提示：所有数字标注口径、时间范围和数据来源；不展示无法解释的“大数”。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7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智极松_content_bg_clean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mnt/data/智极松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2880"/>
            <a:ext cx="1234440" cy="37490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874520" y="164592"/>
            <a:ext cx="6583680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产业价值与市场空间</a:t>
            </a:r>
            <a:endParaRPr lang="en-US" sz="2700" dirty="0"/>
          </a:p>
        </p:txBody>
      </p:sp>
      <p:sp>
        <p:nvSpPr>
          <p:cNvPr id="5" name="Text 1"/>
          <p:cNvSpPr txBox="1"/>
          <p:nvPr/>
        </p:nvSpPr>
        <p:spPr>
          <a:xfrm>
            <a:off x="1901952" y="621792"/>
            <a:ext cx="68580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C8D3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证明客户价值、可复制性和可进入的首个市场</a:t>
            </a:r>
            <a:endParaRPr lang="en-US" sz="1050" dirty="0"/>
          </a:p>
        </p:txBody>
      </p:sp>
      <p:sp>
        <p:nvSpPr>
          <p:cNvPr id="6" name="Shape 2"/>
          <p:cNvSpPr/>
          <p:nvPr/>
        </p:nvSpPr>
        <p:spPr>
          <a:xfrm>
            <a:off x="9281160" y="210312"/>
            <a:ext cx="1554480" cy="310896"/>
          </a:xfrm>
          <a:prstGeom prst="roundRect">
            <a:avLst>
              <a:gd name="adj" fmla="val 35294"/>
            </a:avLst>
          </a:prstGeom>
          <a:solidFill>
            <a:srgbClr val="53C6EE"/>
          </a:solidFill>
          <a:ln w="12700">
            <a:solidFill>
              <a:srgbClr val="53C6EE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9326880" y="219456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1927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产业价值 · 20分</a:t>
            </a:r>
            <a:endParaRPr lang="en-US" sz="1020" dirty="0"/>
          </a:p>
        </p:txBody>
      </p:sp>
      <p:sp>
        <p:nvSpPr>
          <p:cNvPr id="8" name="Shape 4"/>
          <p:cNvSpPr/>
          <p:nvPr/>
        </p:nvSpPr>
        <p:spPr>
          <a:xfrm>
            <a:off x="10927080" y="210312"/>
            <a:ext cx="822960" cy="310896"/>
          </a:xfrm>
          <a:prstGeom prst="roundRect">
            <a:avLst>
              <a:gd name="adj" fmla="val 35294"/>
            </a:avLst>
          </a:prstGeom>
          <a:solidFill>
            <a:srgbClr val="F46883"/>
          </a:solidFill>
          <a:ln w="12700">
            <a:solidFill>
              <a:srgbClr val="F4688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10972800" y="219456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建议 50秒</a:t>
            </a:r>
            <a:endParaRPr lang="en-US" sz="1020" dirty="0"/>
          </a:p>
        </p:txBody>
      </p:sp>
      <p:sp>
        <p:nvSpPr>
          <p:cNvPr id="10" name="Shape 6"/>
          <p:cNvSpPr/>
          <p:nvPr/>
        </p:nvSpPr>
        <p:spPr>
          <a:xfrm>
            <a:off x="1874520" y="749808"/>
            <a:ext cx="9756648" cy="0"/>
          </a:xfrm>
          <a:prstGeom prst="line">
            <a:avLst/>
          </a:prstGeom>
          <a:noFill/>
          <a:ln w="13970">
            <a:solidFill>
              <a:srgbClr val="53C6EE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38912" y="941832"/>
            <a:ext cx="11311128" cy="5230368"/>
          </a:xfrm>
          <a:prstGeom prst="roundRect">
            <a:avLst>
              <a:gd name="adj" fmla="val 2448"/>
            </a:avLst>
          </a:prstGeom>
          <a:solidFill>
            <a:srgbClr val="F6F8FC"/>
          </a:solidFill>
          <a:ln w="10160">
            <a:solidFill>
              <a:srgbClr val="E1E6F0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9464040" y="6446520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C6D0E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智极松决赛路演模板  |  第 8 页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822960" y="1234440"/>
            <a:ext cx="384048" cy="384048"/>
          </a:xfrm>
          <a:prstGeom prst="ellipse">
            <a:avLst/>
          </a:prstGeom>
          <a:solidFill>
            <a:srgbClr val="2FAE7B"/>
          </a:solidFill>
          <a:ln w="12700">
            <a:solidFill>
              <a:srgbClr val="2FAE7B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822960" y="123444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1335024" y="1225296"/>
            <a:ext cx="1865376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521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客户价值与ROI</a:t>
            </a: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822960" y="1737360"/>
            <a:ext cx="2377440" cy="987552"/>
          </a:xfrm>
          <a:prstGeom prst="roundRect">
            <a:avLst>
              <a:gd name="adj" fmla="val 9259"/>
            </a:avLst>
          </a:prstGeom>
          <a:solidFill>
            <a:srgbClr val="EAF7F0"/>
          </a:solidFill>
          <a:ln w="10160">
            <a:solidFill>
              <a:srgbClr val="DEE5EF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969264" y="1865376"/>
            <a:ext cx="530352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效率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1536192" y="1810512"/>
            <a:ext cx="1426464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927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[提升×%]</a:t>
            </a:r>
            <a:endParaRPr lang="en-US" sz="2300" dirty="0"/>
          </a:p>
        </p:txBody>
      </p:sp>
      <p:sp>
        <p:nvSpPr>
          <p:cNvPr id="19" name="Text 15"/>
          <p:cNvSpPr txBox="1"/>
          <p:nvPr/>
        </p:nvSpPr>
        <p:spPr>
          <a:xfrm>
            <a:off x="987552" y="2304288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节省人时/缩短周期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3429000" y="1737360"/>
            <a:ext cx="2377440" cy="987552"/>
          </a:xfrm>
          <a:prstGeom prst="roundRect">
            <a:avLst>
              <a:gd name="adj" fmla="val 9259"/>
            </a:avLst>
          </a:prstGeom>
          <a:solidFill>
            <a:srgbClr val="EAF4FB"/>
          </a:solidFill>
          <a:ln w="10160">
            <a:solidFill>
              <a:srgbClr val="DEE5EF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3575304" y="1865376"/>
            <a:ext cx="530352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成本</a:t>
            </a:r>
            <a:endParaRPr lang="en-US" sz="1300" dirty="0"/>
          </a:p>
        </p:txBody>
      </p:sp>
      <p:sp>
        <p:nvSpPr>
          <p:cNvPr id="22" name="Text 18"/>
          <p:cNvSpPr txBox="1"/>
          <p:nvPr/>
        </p:nvSpPr>
        <p:spPr>
          <a:xfrm>
            <a:off x="4142232" y="1810512"/>
            <a:ext cx="1426464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927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[降低×%]</a:t>
            </a:r>
            <a:endParaRPr lang="en-US" sz="2300" dirty="0"/>
          </a:p>
        </p:txBody>
      </p:sp>
      <p:sp>
        <p:nvSpPr>
          <p:cNvPr id="23" name="Text 19"/>
          <p:cNvSpPr txBox="1"/>
          <p:nvPr/>
        </p:nvSpPr>
        <p:spPr>
          <a:xfrm>
            <a:off x="3593592" y="2304288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软硬件/人力/损耗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822960" y="2971800"/>
            <a:ext cx="2377440" cy="987552"/>
          </a:xfrm>
          <a:prstGeom prst="roundRect">
            <a:avLst>
              <a:gd name="adj" fmla="val 9259"/>
            </a:avLst>
          </a:prstGeom>
          <a:solidFill>
            <a:srgbClr val="FCEEF2"/>
          </a:solidFill>
          <a:ln w="10160">
            <a:solidFill>
              <a:srgbClr val="DEE5EF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969264" y="3099816"/>
            <a:ext cx="530352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风险</a:t>
            </a:r>
            <a:endParaRPr lang="en-US" sz="1300" dirty="0"/>
          </a:p>
        </p:txBody>
      </p:sp>
      <p:sp>
        <p:nvSpPr>
          <p:cNvPr id="26" name="Text 22"/>
          <p:cNvSpPr txBox="1"/>
          <p:nvPr/>
        </p:nvSpPr>
        <p:spPr>
          <a:xfrm>
            <a:off x="1536192" y="3044952"/>
            <a:ext cx="1426464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927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[降低×%]</a:t>
            </a:r>
            <a:endParaRPr lang="en-US" sz="2300" dirty="0"/>
          </a:p>
        </p:txBody>
      </p:sp>
      <p:sp>
        <p:nvSpPr>
          <p:cNvPr id="27" name="Text 23"/>
          <p:cNvSpPr txBox="1"/>
          <p:nvPr/>
        </p:nvSpPr>
        <p:spPr>
          <a:xfrm>
            <a:off x="987552" y="3538728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错误、合规、事故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3429000" y="2971800"/>
            <a:ext cx="2377440" cy="987552"/>
          </a:xfrm>
          <a:prstGeom prst="roundRect">
            <a:avLst>
              <a:gd name="adj" fmla="val 9259"/>
            </a:avLst>
          </a:prstGeom>
          <a:solidFill>
            <a:srgbClr val="FFF7E2"/>
          </a:solidFill>
          <a:ln w="10160">
            <a:solidFill>
              <a:srgbClr val="DEE5EF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3575304" y="3099816"/>
            <a:ext cx="530352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收入</a:t>
            </a:r>
            <a:endParaRPr lang="en-US" sz="1300" dirty="0"/>
          </a:p>
        </p:txBody>
      </p:sp>
      <p:sp>
        <p:nvSpPr>
          <p:cNvPr id="30" name="Text 26"/>
          <p:cNvSpPr txBox="1"/>
          <p:nvPr/>
        </p:nvSpPr>
        <p:spPr>
          <a:xfrm>
            <a:off x="4142232" y="3044952"/>
            <a:ext cx="1426464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927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[新增×]</a:t>
            </a:r>
            <a:endParaRPr lang="en-US" sz="2300" dirty="0"/>
          </a:p>
        </p:txBody>
      </p:sp>
      <p:sp>
        <p:nvSpPr>
          <p:cNvPr id="31" name="Text 27"/>
          <p:cNvSpPr txBox="1"/>
          <p:nvPr/>
        </p:nvSpPr>
        <p:spPr>
          <a:xfrm>
            <a:off x="3593592" y="3538728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转化、客单、复购</a:t>
            </a:r>
            <a:endParaRPr lang="en-US" sz="1050" dirty="0"/>
          </a:p>
        </p:txBody>
      </p:sp>
      <p:sp>
        <p:nvSpPr>
          <p:cNvPr id="32" name="Shape 28"/>
          <p:cNvSpPr/>
          <p:nvPr/>
        </p:nvSpPr>
        <p:spPr>
          <a:xfrm>
            <a:off x="822960" y="4315968"/>
            <a:ext cx="4983480" cy="786384"/>
          </a:xfrm>
          <a:prstGeom prst="roundRect">
            <a:avLst>
              <a:gd name="adj" fmla="val 11628"/>
            </a:avLst>
          </a:prstGeom>
          <a:solidFill>
            <a:srgbClr val="192747"/>
          </a:solidFill>
          <a:ln w="10160">
            <a:solidFill>
              <a:srgbClr val="192747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1060704" y="4507992"/>
            <a:ext cx="4517136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单客户价值：投入 [X] → 年收益/节省 [Y] → 回收期 [Z个月]</a:t>
            </a:r>
            <a:endParaRPr lang="en-US" sz="1500" dirty="0"/>
          </a:p>
        </p:txBody>
      </p:sp>
      <p:sp>
        <p:nvSpPr>
          <p:cNvPr id="34" name="Shape 30"/>
          <p:cNvSpPr/>
          <p:nvPr/>
        </p:nvSpPr>
        <p:spPr>
          <a:xfrm>
            <a:off x="6172200" y="1234440"/>
            <a:ext cx="384048" cy="384048"/>
          </a:xfrm>
          <a:prstGeom prst="ellipse">
            <a:avLst/>
          </a:prstGeom>
          <a:solidFill>
            <a:srgbClr val="3C8EDB"/>
          </a:solidFill>
          <a:ln w="12700">
            <a:solidFill>
              <a:srgbClr val="3C8EDB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6172200" y="123444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400" dirty="0"/>
          </a:p>
        </p:txBody>
      </p:sp>
      <p:sp>
        <p:nvSpPr>
          <p:cNvPr id="36" name="Text 32"/>
          <p:cNvSpPr txBox="1"/>
          <p:nvPr/>
        </p:nvSpPr>
        <p:spPr>
          <a:xfrm>
            <a:off x="6684264" y="1225296"/>
            <a:ext cx="1865376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521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市场切入与规模</a:t>
            </a:r>
            <a:endParaRPr lang="en-US" sz="2000" dirty="0"/>
          </a:p>
        </p:txBody>
      </p:sp>
      <p:sp>
        <p:nvSpPr>
          <p:cNvPr id="37" name="Shape 33"/>
          <p:cNvSpPr/>
          <p:nvPr/>
        </p:nvSpPr>
        <p:spPr>
          <a:xfrm>
            <a:off x="6446520" y="1783080"/>
            <a:ext cx="4343400" cy="658368"/>
          </a:xfrm>
          <a:prstGeom prst="roundRect">
            <a:avLst>
              <a:gd name="adj" fmla="val 13889"/>
            </a:avLst>
          </a:prstGeom>
          <a:solidFill>
            <a:srgbClr val="DDE9F8"/>
          </a:solidFill>
          <a:ln w="10160">
            <a:solidFill>
              <a:srgbClr val="B9CEE7"/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6611112" y="1874520"/>
            <a:ext cx="238887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927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TAM  总体市场</a:t>
            </a:r>
            <a:endParaRPr lang="en-US" sz="1350" dirty="0"/>
          </a:p>
        </p:txBody>
      </p:sp>
      <p:sp>
        <p:nvSpPr>
          <p:cNvPr id="39" name="Text 35"/>
          <p:cNvSpPr txBox="1"/>
          <p:nvPr/>
        </p:nvSpPr>
        <p:spPr>
          <a:xfrm>
            <a:off x="8835390" y="1874520"/>
            <a:ext cx="173736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3C8E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[规模 / 口径]</a:t>
            </a:r>
            <a:endParaRPr lang="en-US" sz="1300" dirty="0"/>
          </a:p>
        </p:txBody>
      </p:sp>
      <p:sp>
        <p:nvSpPr>
          <p:cNvPr id="40" name="Shape 36"/>
          <p:cNvSpPr/>
          <p:nvPr/>
        </p:nvSpPr>
        <p:spPr>
          <a:xfrm>
            <a:off x="6839712" y="2624328"/>
            <a:ext cx="3566160" cy="658368"/>
          </a:xfrm>
          <a:prstGeom prst="roundRect">
            <a:avLst>
              <a:gd name="adj" fmla="val 13889"/>
            </a:avLst>
          </a:prstGeom>
          <a:solidFill>
            <a:srgbClr val="CDE2F5"/>
          </a:solidFill>
          <a:ln w="10160">
            <a:solidFill>
              <a:srgbClr val="B9CEE7"/>
            </a:solidFill>
            <a:prstDash val="solid"/>
          </a:ln>
        </p:spPr>
      </p:sp>
      <p:sp>
        <p:nvSpPr>
          <p:cNvPr id="41" name="Text 37"/>
          <p:cNvSpPr txBox="1"/>
          <p:nvPr/>
        </p:nvSpPr>
        <p:spPr>
          <a:xfrm>
            <a:off x="7004304" y="2715768"/>
            <a:ext cx="1961388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927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SAM  可服务市场</a:t>
            </a:r>
            <a:endParaRPr lang="en-US" sz="1350" dirty="0"/>
          </a:p>
        </p:txBody>
      </p:sp>
      <p:sp>
        <p:nvSpPr>
          <p:cNvPr id="42" name="Text 38"/>
          <p:cNvSpPr txBox="1"/>
          <p:nvPr/>
        </p:nvSpPr>
        <p:spPr>
          <a:xfrm>
            <a:off x="8801100" y="2715768"/>
            <a:ext cx="1426464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3C8E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[行业/区域]</a:t>
            </a:r>
            <a:endParaRPr lang="en-US" sz="1300" dirty="0"/>
          </a:p>
        </p:txBody>
      </p:sp>
      <p:sp>
        <p:nvSpPr>
          <p:cNvPr id="43" name="Shape 39"/>
          <p:cNvSpPr/>
          <p:nvPr/>
        </p:nvSpPr>
        <p:spPr>
          <a:xfrm>
            <a:off x="7242048" y="3465576"/>
            <a:ext cx="2743200" cy="658368"/>
          </a:xfrm>
          <a:prstGeom prst="roundRect">
            <a:avLst>
              <a:gd name="adj" fmla="val 13889"/>
            </a:avLst>
          </a:prstGeom>
          <a:solidFill>
            <a:srgbClr val="B8D9F0"/>
          </a:solidFill>
          <a:ln w="10160">
            <a:solidFill>
              <a:srgbClr val="B9CEE7"/>
            </a:solidFill>
            <a:prstDash val="solid"/>
          </a:ln>
        </p:spPr>
      </p:sp>
      <p:sp>
        <p:nvSpPr>
          <p:cNvPr id="44" name="Text 40"/>
          <p:cNvSpPr txBox="1"/>
          <p:nvPr/>
        </p:nvSpPr>
        <p:spPr>
          <a:xfrm>
            <a:off x="7406640" y="3557016"/>
            <a:ext cx="150876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927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SOM  3年可获得</a:t>
            </a:r>
            <a:endParaRPr lang="en-US" sz="1350" dirty="0"/>
          </a:p>
        </p:txBody>
      </p:sp>
      <p:sp>
        <p:nvSpPr>
          <p:cNvPr id="45" name="Text 41"/>
          <p:cNvSpPr txBox="1"/>
          <p:nvPr/>
        </p:nvSpPr>
        <p:spPr>
          <a:xfrm>
            <a:off x="8750808" y="3557016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3C8E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[客户数/收入]</a:t>
            </a:r>
            <a:endParaRPr lang="en-US" sz="1300" dirty="0"/>
          </a:p>
        </p:txBody>
      </p:sp>
      <p:sp>
        <p:nvSpPr>
          <p:cNvPr id="46" name="Shape 42"/>
          <p:cNvSpPr/>
          <p:nvPr/>
        </p:nvSpPr>
        <p:spPr>
          <a:xfrm>
            <a:off x="6355080" y="4434840"/>
            <a:ext cx="4572000" cy="658368"/>
          </a:xfrm>
          <a:prstGeom prst="roundRect">
            <a:avLst>
              <a:gd name="adj" fmla="val 13889"/>
            </a:avLst>
          </a:prstGeom>
          <a:solidFill>
            <a:srgbClr val="EEF3FA"/>
          </a:solidFill>
          <a:ln w="10160">
            <a:solidFill>
              <a:srgbClr val="DDE4EF"/>
            </a:solidFill>
            <a:prstDash val="solid"/>
          </a:ln>
        </p:spPr>
      </p:sp>
      <p:sp>
        <p:nvSpPr>
          <p:cNvPr id="47" name="Text 43"/>
          <p:cNvSpPr txBox="1"/>
          <p:nvPr/>
        </p:nvSpPr>
        <p:spPr>
          <a:xfrm>
            <a:off x="6565392" y="4599432"/>
            <a:ext cx="416052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927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复制路径：[首个场景] → [相邻场景] → [平台化/标准化]</a:t>
            </a:r>
            <a:endParaRPr lang="en-US" sz="1350" dirty="0"/>
          </a:p>
        </p:txBody>
      </p:sp>
      <p:sp>
        <p:nvSpPr>
          <p:cNvPr id="48" name="Shape 44"/>
          <p:cNvSpPr/>
          <p:nvPr/>
        </p:nvSpPr>
        <p:spPr>
          <a:xfrm>
            <a:off x="960120" y="5705856"/>
            <a:ext cx="7498080" cy="310896"/>
          </a:xfrm>
          <a:prstGeom prst="roundRect">
            <a:avLst>
              <a:gd name="adj" fmla="val 23529"/>
            </a:avLst>
          </a:prstGeom>
          <a:solidFill>
            <a:srgbClr val="FFF3E7"/>
          </a:solidFill>
          <a:ln w="10160">
            <a:solidFill>
              <a:srgbClr val="F3C39C"/>
            </a:solidFill>
            <a:prstDash val="solid"/>
          </a:ln>
        </p:spPr>
      </p:sp>
      <p:sp>
        <p:nvSpPr>
          <p:cNvPr id="49" name="Text 45"/>
          <p:cNvSpPr txBox="1"/>
          <p:nvPr/>
        </p:nvSpPr>
        <p:spPr>
          <a:xfrm>
            <a:off x="1069848" y="5724144"/>
            <a:ext cx="7278624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8A4B1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模板提示：市场规模必须对应“本项目可获得的收入”，不要直接引用整个行业总规模。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7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智极松_content_bg_clean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mnt/data/智极松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2880"/>
            <a:ext cx="1234440" cy="37490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874520" y="164592"/>
            <a:ext cx="6583680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商业模式与客户拓展</a:t>
            </a:r>
            <a:endParaRPr lang="en-US" sz="2700" dirty="0"/>
          </a:p>
        </p:txBody>
      </p:sp>
      <p:sp>
        <p:nvSpPr>
          <p:cNvPr id="5" name="Text 1"/>
          <p:cNvSpPr txBox="1"/>
          <p:nvPr/>
        </p:nvSpPr>
        <p:spPr>
          <a:xfrm>
            <a:off x="1901952" y="621792"/>
            <a:ext cx="68580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C8D3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说明谁付费、如何交付、如何复购，以及首批客户怎么获得</a:t>
            </a:r>
            <a:endParaRPr lang="en-US" sz="1050" dirty="0"/>
          </a:p>
        </p:txBody>
      </p:sp>
      <p:sp>
        <p:nvSpPr>
          <p:cNvPr id="6" name="Shape 2"/>
          <p:cNvSpPr/>
          <p:nvPr/>
        </p:nvSpPr>
        <p:spPr>
          <a:xfrm>
            <a:off x="9281160" y="210312"/>
            <a:ext cx="1554480" cy="310896"/>
          </a:xfrm>
          <a:prstGeom prst="roundRect">
            <a:avLst>
              <a:gd name="adj" fmla="val 35294"/>
            </a:avLst>
          </a:prstGeom>
          <a:solidFill>
            <a:srgbClr val="53C6EE"/>
          </a:solidFill>
          <a:ln w="12700">
            <a:solidFill>
              <a:srgbClr val="53C6EE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9326880" y="219456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1927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商业计划与成长性 · 20分</a:t>
            </a:r>
            <a:endParaRPr lang="en-US" sz="1020" dirty="0"/>
          </a:p>
        </p:txBody>
      </p:sp>
      <p:sp>
        <p:nvSpPr>
          <p:cNvPr id="8" name="Shape 4"/>
          <p:cNvSpPr/>
          <p:nvPr/>
        </p:nvSpPr>
        <p:spPr>
          <a:xfrm>
            <a:off x="10927080" y="210312"/>
            <a:ext cx="822960" cy="310896"/>
          </a:xfrm>
          <a:prstGeom prst="roundRect">
            <a:avLst>
              <a:gd name="adj" fmla="val 35294"/>
            </a:avLst>
          </a:prstGeom>
          <a:solidFill>
            <a:srgbClr val="F46883"/>
          </a:solidFill>
          <a:ln w="12700">
            <a:solidFill>
              <a:srgbClr val="F4688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10972800" y="219456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建议 50秒</a:t>
            </a:r>
            <a:endParaRPr lang="en-US" sz="1020" dirty="0"/>
          </a:p>
        </p:txBody>
      </p:sp>
      <p:sp>
        <p:nvSpPr>
          <p:cNvPr id="10" name="Shape 6"/>
          <p:cNvSpPr/>
          <p:nvPr/>
        </p:nvSpPr>
        <p:spPr>
          <a:xfrm>
            <a:off x="1874520" y="749808"/>
            <a:ext cx="9756648" cy="0"/>
          </a:xfrm>
          <a:prstGeom prst="line">
            <a:avLst/>
          </a:prstGeom>
          <a:noFill/>
          <a:ln w="13970">
            <a:solidFill>
              <a:srgbClr val="53C6EE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38912" y="941832"/>
            <a:ext cx="11311128" cy="5230368"/>
          </a:xfrm>
          <a:prstGeom prst="roundRect">
            <a:avLst>
              <a:gd name="adj" fmla="val 2448"/>
            </a:avLst>
          </a:prstGeom>
          <a:solidFill>
            <a:srgbClr val="F6F8FC"/>
          </a:solidFill>
          <a:ln w="10160">
            <a:solidFill>
              <a:srgbClr val="E1E6F0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9464040" y="6446520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C6D0E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智极松决赛路演模板  |  第 9 页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822960" y="1234440"/>
            <a:ext cx="384048" cy="384048"/>
          </a:xfrm>
          <a:prstGeom prst="ellipse">
            <a:avLst/>
          </a:prstGeom>
          <a:solidFill>
            <a:srgbClr val="3C8EDB"/>
          </a:solidFill>
          <a:ln w="12700">
            <a:solidFill>
              <a:srgbClr val="3C8EDB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822960" y="123444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1335024" y="1225296"/>
            <a:ext cx="1499616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521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商业模式</a:t>
            </a: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914400" y="1828800"/>
            <a:ext cx="658368" cy="310896"/>
          </a:xfrm>
          <a:prstGeom prst="roundRect">
            <a:avLst>
              <a:gd name="adj" fmla="val 35294"/>
            </a:avLst>
          </a:prstGeom>
          <a:solidFill>
            <a:srgbClr val="53C6EE"/>
          </a:solidFill>
          <a:ln w="12700">
            <a:solidFill>
              <a:srgbClr val="53C6EE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960120" y="1837944"/>
            <a:ext cx="566928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客户</a:t>
            </a:r>
            <a:endParaRPr lang="en-US" sz="1020" dirty="0"/>
          </a:p>
        </p:txBody>
      </p:sp>
      <p:sp>
        <p:nvSpPr>
          <p:cNvPr id="18" name="Shape 14"/>
          <p:cNvSpPr/>
          <p:nvPr/>
        </p:nvSpPr>
        <p:spPr>
          <a:xfrm>
            <a:off x="1691640" y="1755648"/>
            <a:ext cx="38862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0160">
            <a:solidFill>
              <a:srgbClr val="DCE3EE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1874520" y="1828800"/>
            <a:ext cx="352044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521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[企业/政府/消费者]</a:t>
            </a:r>
            <a:endParaRPr lang="en-US" sz="1450" dirty="0"/>
          </a:p>
        </p:txBody>
      </p:sp>
      <p:sp>
        <p:nvSpPr>
          <p:cNvPr id="20" name="Shape 16"/>
          <p:cNvSpPr/>
          <p:nvPr/>
        </p:nvSpPr>
        <p:spPr>
          <a:xfrm>
            <a:off x="914400" y="2496312"/>
            <a:ext cx="658368" cy="310896"/>
          </a:xfrm>
          <a:prstGeom prst="roundRect">
            <a:avLst>
              <a:gd name="adj" fmla="val 35294"/>
            </a:avLst>
          </a:prstGeom>
          <a:solidFill>
            <a:srgbClr val="F46883"/>
          </a:solidFill>
          <a:ln w="12700">
            <a:solidFill>
              <a:srgbClr val="F46883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960120" y="2505456"/>
            <a:ext cx="566928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产品</a:t>
            </a:r>
            <a:endParaRPr lang="en-US" sz="1020" dirty="0"/>
          </a:p>
        </p:txBody>
      </p:sp>
      <p:sp>
        <p:nvSpPr>
          <p:cNvPr id="22" name="Shape 18"/>
          <p:cNvSpPr/>
          <p:nvPr/>
        </p:nvSpPr>
        <p:spPr>
          <a:xfrm>
            <a:off x="1691640" y="2423160"/>
            <a:ext cx="38862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0160">
            <a:solidFill>
              <a:srgbClr val="DCE3EE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1874520" y="2496312"/>
            <a:ext cx="352044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521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[软件订阅/设备/服务]</a:t>
            </a:r>
            <a:endParaRPr lang="en-US" sz="1450" dirty="0"/>
          </a:p>
        </p:txBody>
      </p:sp>
      <p:sp>
        <p:nvSpPr>
          <p:cNvPr id="24" name="Shape 20"/>
          <p:cNvSpPr/>
          <p:nvPr/>
        </p:nvSpPr>
        <p:spPr>
          <a:xfrm>
            <a:off x="914400" y="3163824"/>
            <a:ext cx="658368" cy="310896"/>
          </a:xfrm>
          <a:prstGeom prst="roundRect">
            <a:avLst>
              <a:gd name="adj" fmla="val 35294"/>
            </a:avLst>
          </a:prstGeom>
          <a:solidFill>
            <a:srgbClr val="F39A72"/>
          </a:solidFill>
          <a:ln w="12700">
            <a:solidFill>
              <a:srgbClr val="F39A72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960120" y="3172968"/>
            <a:ext cx="566928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定价</a:t>
            </a:r>
            <a:endParaRPr lang="en-US" sz="1020" dirty="0"/>
          </a:p>
        </p:txBody>
      </p:sp>
      <p:sp>
        <p:nvSpPr>
          <p:cNvPr id="26" name="Shape 22"/>
          <p:cNvSpPr/>
          <p:nvPr/>
        </p:nvSpPr>
        <p:spPr>
          <a:xfrm>
            <a:off x="1691640" y="3090672"/>
            <a:ext cx="38862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0160">
            <a:solidFill>
              <a:srgbClr val="DCE3EE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1874520" y="3163824"/>
            <a:ext cx="352044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521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[按年/按量/项目/分成]</a:t>
            </a:r>
            <a:endParaRPr lang="en-US" sz="1450" dirty="0"/>
          </a:p>
        </p:txBody>
      </p:sp>
      <p:sp>
        <p:nvSpPr>
          <p:cNvPr id="28" name="Shape 24"/>
          <p:cNvSpPr/>
          <p:nvPr/>
        </p:nvSpPr>
        <p:spPr>
          <a:xfrm>
            <a:off x="914400" y="3831336"/>
            <a:ext cx="658368" cy="310896"/>
          </a:xfrm>
          <a:prstGeom prst="roundRect">
            <a:avLst>
              <a:gd name="adj" fmla="val 35294"/>
            </a:avLst>
          </a:prstGeom>
          <a:solidFill>
            <a:srgbClr val="6F58D9"/>
          </a:solidFill>
          <a:ln w="12700">
            <a:solidFill>
              <a:srgbClr val="6F58D9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960120" y="3840480"/>
            <a:ext cx="566928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交付</a:t>
            </a:r>
            <a:endParaRPr lang="en-US" sz="1020" dirty="0"/>
          </a:p>
        </p:txBody>
      </p:sp>
      <p:sp>
        <p:nvSpPr>
          <p:cNvPr id="30" name="Shape 26"/>
          <p:cNvSpPr/>
          <p:nvPr/>
        </p:nvSpPr>
        <p:spPr>
          <a:xfrm>
            <a:off x="1691640" y="3758184"/>
            <a:ext cx="38862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0160">
            <a:solidFill>
              <a:srgbClr val="DCE3EE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1874520" y="3831336"/>
            <a:ext cx="352044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521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[云/私有化/端侧/渠道]</a:t>
            </a:r>
            <a:endParaRPr lang="en-US" sz="1450" dirty="0"/>
          </a:p>
        </p:txBody>
      </p:sp>
      <p:sp>
        <p:nvSpPr>
          <p:cNvPr id="32" name="Shape 28"/>
          <p:cNvSpPr/>
          <p:nvPr/>
        </p:nvSpPr>
        <p:spPr>
          <a:xfrm>
            <a:off x="914400" y="4498848"/>
            <a:ext cx="658368" cy="310896"/>
          </a:xfrm>
          <a:prstGeom prst="roundRect">
            <a:avLst>
              <a:gd name="adj" fmla="val 35294"/>
            </a:avLst>
          </a:prstGeom>
          <a:solidFill>
            <a:srgbClr val="2FAE7B"/>
          </a:solidFill>
          <a:ln w="12700">
            <a:solidFill>
              <a:srgbClr val="2FAE7B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960120" y="4507992"/>
            <a:ext cx="566928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复购</a:t>
            </a:r>
            <a:endParaRPr lang="en-US" sz="1020" dirty="0"/>
          </a:p>
        </p:txBody>
      </p:sp>
      <p:sp>
        <p:nvSpPr>
          <p:cNvPr id="34" name="Shape 30"/>
          <p:cNvSpPr/>
          <p:nvPr/>
        </p:nvSpPr>
        <p:spPr>
          <a:xfrm>
            <a:off x="1691640" y="4425696"/>
            <a:ext cx="38862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0160">
            <a:solidFill>
              <a:srgbClr val="DCE3EE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1874520" y="4498848"/>
            <a:ext cx="352044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521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[续费/耗材/扩容/增值]</a:t>
            </a:r>
            <a:endParaRPr lang="en-US" sz="1450" dirty="0"/>
          </a:p>
        </p:txBody>
      </p:sp>
      <p:sp>
        <p:nvSpPr>
          <p:cNvPr id="36" name="Shape 32"/>
          <p:cNvSpPr/>
          <p:nvPr/>
        </p:nvSpPr>
        <p:spPr>
          <a:xfrm>
            <a:off x="896112" y="5193792"/>
            <a:ext cx="4681728" cy="384048"/>
          </a:xfrm>
          <a:prstGeom prst="roundRect">
            <a:avLst>
              <a:gd name="adj" fmla="val 19048"/>
            </a:avLst>
          </a:prstGeom>
          <a:solidFill>
            <a:srgbClr val="FFF3E7"/>
          </a:solidFill>
          <a:ln w="10160">
            <a:solidFill>
              <a:srgbClr val="F0C79F"/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1024128" y="5266944"/>
            <a:ext cx="4407408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8A4B1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单位经济性：客单价 / 毛利率 / 回款周期 / 续费率 / 获客成本</a:t>
            </a:r>
            <a:endParaRPr lang="en-US" sz="1070" dirty="0"/>
          </a:p>
        </p:txBody>
      </p:sp>
      <p:sp>
        <p:nvSpPr>
          <p:cNvPr id="38" name="Shape 34"/>
          <p:cNvSpPr/>
          <p:nvPr/>
        </p:nvSpPr>
        <p:spPr>
          <a:xfrm>
            <a:off x="5989320" y="1234440"/>
            <a:ext cx="384048" cy="384048"/>
          </a:xfrm>
          <a:prstGeom prst="ellipse">
            <a:avLst/>
          </a:prstGeom>
          <a:solidFill>
            <a:srgbClr val="2FAE7B"/>
          </a:solidFill>
          <a:ln w="12700">
            <a:solidFill>
              <a:srgbClr val="2FAE7B"/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5989320" y="123444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400" dirty="0"/>
          </a:p>
        </p:txBody>
      </p:sp>
      <p:sp>
        <p:nvSpPr>
          <p:cNvPr id="40" name="Text 36"/>
          <p:cNvSpPr txBox="1"/>
          <p:nvPr/>
        </p:nvSpPr>
        <p:spPr>
          <a:xfrm>
            <a:off x="6501384" y="1225296"/>
            <a:ext cx="2231136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521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客户拓展与销售漏斗</a:t>
            </a:r>
            <a:endParaRPr lang="en-US" sz="2000" dirty="0"/>
          </a:p>
        </p:txBody>
      </p:sp>
      <p:sp>
        <p:nvSpPr>
          <p:cNvPr id="41" name="Shape 37"/>
          <p:cNvSpPr/>
          <p:nvPr/>
        </p:nvSpPr>
        <p:spPr>
          <a:xfrm>
            <a:off x="6126480" y="1874520"/>
            <a:ext cx="4663440" cy="566928"/>
          </a:xfrm>
          <a:prstGeom prst="roundRect">
            <a:avLst>
              <a:gd name="adj" fmla="val 12903"/>
            </a:avLst>
          </a:prstGeom>
          <a:solidFill>
            <a:srgbClr val="EAF4FB"/>
          </a:solidFill>
          <a:ln w="10160">
            <a:solidFill>
              <a:srgbClr val="BBD3EA"/>
            </a:solidFill>
            <a:prstDash val="solid"/>
          </a:ln>
        </p:spPr>
      </p:sp>
      <p:sp>
        <p:nvSpPr>
          <p:cNvPr id="42" name="Text 38"/>
          <p:cNvSpPr txBox="1"/>
          <p:nvPr/>
        </p:nvSpPr>
        <p:spPr>
          <a:xfrm>
            <a:off x="6327648" y="1965960"/>
            <a:ext cx="2564892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927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线索</a:t>
            </a:r>
            <a:endParaRPr lang="en-US" sz="1400" dirty="0"/>
          </a:p>
        </p:txBody>
      </p:sp>
      <p:sp>
        <p:nvSpPr>
          <p:cNvPr id="43" name="Text 39"/>
          <p:cNvSpPr txBox="1"/>
          <p:nvPr/>
        </p:nvSpPr>
        <p:spPr>
          <a:xfrm>
            <a:off x="9966960" y="1965960"/>
            <a:ext cx="56692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3C8E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[N]</a:t>
            </a:r>
            <a:endParaRPr lang="en-US" sz="1400" dirty="0"/>
          </a:p>
        </p:txBody>
      </p:sp>
      <p:sp>
        <p:nvSpPr>
          <p:cNvPr id="44" name="Shape 40"/>
          <p:cNvSpPr/>
          <p:nvPr/>
        </p:nvSpPr>
        <p:spPr>
          <a:xfrm>
            <a:off x="7370064" y="2313432"/>
            <a:ext cx="3730752" cy="566928"/>
          </a:xfrm>
          <a:prstGeom prst="roundRect">
            <a:avLst>
              <a:gd name="adj" fmla="val 12903"/>
            </a:avLst>
          </a:prstGeom>
          <a:solidFill>
            <a:srgbClr val="DDECF8"/>
          </a:solidFill>
          <a:ln w="10160">
            <a:solidFill>
              <a:srgbClr val="BBD3EA"/>
            </a:solidFill>
            <a:prstDash val="solid"/>
          </a:ln>
        </p:spPr>
      </p:sp>
      <p:sp>
        <p:nvSpPr>
          <p:cNvPr id="45" name="Text 41"/>
          <p:cNvSpPr txBox="1"/>
          <p:nvPr/>
        </p:nvSpPr>
        <p:spPr>
          <a:xfrm>
            <a:off x="7571232" y="2404872"/>
            <a:ext cx="2051914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927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有效商机</a:t>
            </a:r>
            <a:endParaRPr lang="en-US" sz="1400" dirty="0"/>
          </a:p>
        </p:txBody>
      </p:sp>
      <p:sp>
        <p:nvSpPr>
          <p:cNvPr id="46" name="Text 42"/>
          <p:cNvSpPr txBox="1"/>
          <p:nvPr/>
        </p:nvSpPr>
        <p:spPr>
          <a:xfrm>
            <a:off x="10277856" y="2404872"/>
            <a:ext cx="56692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3C8E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[N]</a:t>
            </a:r>
            <a:endParaRPr lang="en-US" sz="1400" dirty="0"/>
          </a:p>
        </p:txBody>
      </p:sp>
      <p:sp>
        <p:nvSpPr>
          <p:cNvPr id="47" name="Shape 43"/>
          <p:cNvSpPr/>
          <p:nvPr/>
        </p:nvSpPr>
        <p:spPr>
          <a:xfrm>
            <a:off x="8613648" y="2752344"/>
            <a:ext cx="2798064" cy="566928"/>
          </a:xfrm>
          <a:prstGeom prst="roundRect">
            <a:avLst>
              <a:gd name="adj" fmla="val 12903"/>
            </a:avLst>
          </a:prstGeom>
          <a:solidFill>
            <a:srgbClr val="CCE4F4"/>
          </a:solidFill>
          <a:ln w="10160">
            <a:solidFill>
              <a:srgbClr val="BBD3EA"/>
            </a:solidFill>
            <a:prstDash val="solid"/>
          </a:ln>
        </p:spPr>
      </p:sp>
      <p:sp>
        <p:nvSpPr>
          <p:cNvPr id="48" name="Text 44"/>
          <p:cNvSpPr txBox="1"/>
          <p:nvPr/>
        </p:nvSpPr>
        <p:spPr>
          <a:xfrm>
            <a:off x="8814816" y="2843784"/>
            <a:ext cx="1538935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927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POC/试点</a:t>
            </a:r>
            <a:endParaRPr lang="en-US" sz="1400" dirty="0"/>
          </a:p>
        </p:txBody>
      </p:sp>
      <p:sp>
        <p:nvSpPr>
          <p:cNvPr id="49" name="Text 45"/>
          <p:cNvSpPr txBox="1"/>
          <p:nvPr/>
        </p:nvSpPr>
        <p:spPr>
          <a:xfrm>
            <a:off x="10588752" y="2843784"/>
            <a:ext cx="56692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3C8E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[N]</a:t>
            </a:r>
            <a:endParaRPr lang="en-US" sz="1400" dirty="0"/>
          </a:p>
        </p:txBody>
      </p:sp>
      <p:sp>
        <p:nvSpPr>
          <p:cNvPr id="50" name="Shape 46"/>
          <p:cNvSpPr/>
          <p:nvPr/>
        </p:nvSpPr>
        <p:spPr>
          <a:xfrm>
            <a:off x="9857232" y="3191256"/>
            <a:ext cx="1865376" cy="566928"/>
          </a:xfrm>
          <a:prstGeom prst="roundRect">
            <a:avLst>
              <a:gd name="adj" fmla="val 12903"/>
            </a:avLst>
          </a:prstGeom>
          <a:solidFill>
            <a:srgbClr val="B8D9F0"/>
          </a:solidFill>
          <a:ln w="10160">
            <a:solidFill>
              <a:srgbClr val="BBD3EA"/>
            </a:solidFill>
            <a:prstDash val="solid"/>
          </a:ln>
        </p:spPr>
      </p:sp>
      <p:sp>
        <p:nvSpPr>
          <p:cNvPr id="51" name="Text 47"/>
          <p:cNvSpPr txBox="1"/>
          <p:nvPr/>
        </p:nvSpPr>
        <p:spPr>
          <a:xfrm>
            <a:off x="10058400" y="3282696"/>
            <a:ext cx="1025957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927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合同/付费</a:t>
            </a:r>
            <a:endParaRPr lang="en-US" sz="1400" dirty="0"/>
          </a:p>
        </p:txBody>
      </p:sp>
      <p:sp>
        <p:nvSpPr>
          <p:cNvPr id="52" name="Text 48"/>
          <p:cNvSpPr txBox="1"/>
          <p:nvPr/>
        </p:nvSpPr>
        <p:spPr>
          <a:xfrm>
            <a:off x="10899648" y="3282696"/>
            <a:ext cx="56692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3C8E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[N]</a:t>
            </a:r>
            <a:endParaRPr lang="en-US" sz="1400" dirty="0"/>
          </a:p>
        </p:txBody>
      </p:sp>
      <p:sp>
        <p:nvSpPr>
          <p:cNvPr id="53" name="Shape 49"/>
          <p:cNvSpPr/>
          <p:nvPr/>
        </p:nvSpPr>
        <p:spPr>
          <a:xfrm>
            <a:off x="6126480" y="4133088"/>
            <a:ext cx="45720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0160">
            <a:solidFill>
              <a:srgbClr val="DDE4EF"/>
            </a:solidFill>
            <a:prstDash val="solid"/>
          </a:ln>
        </p:spPr>
      </p:sp>
      <p:sp>
        <p:nvSpPr>
          <p:cNvPr id="54" name="Text 50"/>
          <p:cNvSpPr txBox="1"/>
          <p:nvPr/>
        </p:nvSpPr>
        <p:spPr>
          <a:xfrm>
            <a:off x="6355080" y="4315968"/>
            <a:ext cx="8686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927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获客路径</a:t>
            </a:r>
            <a:endParaRPr lang="en-US" sz="1400" dirty="0"/>
          </a:p>
        </p:txBody>
      </p:sp>
      <p:sp>
        <p:nvSpPr>
          <p:cNvPr id="55" name="Text 51"/>
          <p:cNvSpPr txBox="1"/>
          <p:nvPr/>
        </p:nvSpPr>
        <p:spPr>
          <a:xfrm>
            <a:off x="7315200" y="4261104"/>
            <a:ext cx="310896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521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[直销] + [渠道/生态] + [行业伙伴] + [标杆客户复制]</a:t>
            </a:r>
            <a:endParaRPr lang="en-US" sz="1350" dirty="0"/>
          </a:p>
        </p:txBody>
      </p:sp>
      <p:sp>
        <p:nvSpPr>
          <p:cNvPr id="56" name="Text 52"/>
          <p:cNvSpPr txBox="1"/>
          <p:nvPr/>
        </p:nvSpPr>
        <p:spPr>
          <a:xfrm>
            <a:off x="6355080" y="4754880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销售周期：[X个月]  |  当前最关键下一单：[客户/阶段]</a:t>
            </a:r>
            <a:endParaRPr lang="en-US" sz="1150" dirty="0"/>
          </a:p>
        </p:txBody>
      </p:sp>
      <p:sp>
        <p:nvSpPr>
          <p:cNvPr id="57" name="Shape 53"/>
          <p:cNvSpPr/>
          <p:nvPr/>
        </p:nvSpPr>
        <p:spPr>
          <a:xfrm>
            <a:off x="960120" y="5705856"/>
            <a:ext cx="8046720" cy="310896"/>
          </a:xfrm>
          <a:prstGeom prst="roundRect">
            <a:avLst>
              <a:gd name="adj" fmla="val 23529"/>
            </a:avLst>
          </a:prstGeom>
          <a:solidFill>
            <a:srgbClr val="FFF3E7"/>
          </a:solidFill>
          <a:ln w="10160">
            <a:solidFill>
              <a:srgbClr val="F3C39C"/>
            </a:solidFill>
            <a:prstDash val="solid"/>
          </a:ln>
        </p:spPr>
      </p:sp>
      <p:sp>
        <p:nvSpPr>
          <p:cNvPr id="58" name="Text 54"/>
          <p:cNvSpPr txBox="1"/>
          <p:nvPr/>
        </p:nvSpPr>
        <p:spPr>
          <a:xfrm>
            <a:off x="1069848" y="5724144"/>
            <a:ext cx="7827264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8A4B1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模板提示：商业模式要能算账；客户拓展要体现“现在走到哪里”，而非只写未来渠道。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7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智极松_content_bg_clean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mnt/data/智极松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2880"/>
            <a:ext cx="1234440" cy="37490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874520" y="164592"/>
            <a:ext cx="6583680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成长计划与投资价值</a:t>
            </a:r>
            <a:endParaRPr lang="en-US" sz="2700" dirty="0"/>
          </a:p>
        </p:txBody>
      </p:sp>
      <p:sp>
        <p:nvSpPr>
          <p:cNvPr id="5" name="Text 1"/>
          <p:cNvSpPr txBox="1"/>
          <p:nvPr/>
        </p:nvSpPr>
        <p:spPr>
          <a:xfrm>
            <a:off x="1901952" y="621792"/>
            <a:ext cx="68580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C8D3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用里程碑和资金用途说明增长确定性与资本效率</a:t>
            </a:r>
            <a:endParaRPr lang="en-US" sz="1050" dirty="0"/>
          </a:p>
        </p:txBody>
      </p:sp>
      <p:sp>
        <p:nvSpPr>
          <p:cNvPr id="6" name="Shape 2"/>
          <p:cNvSpPr/>
          <p:nvPr/>
        </p:nvSpPr>
        <p:spPr>
          <a:xfrm>
            <a:off x="9281160" y="210312"/>
            <a:ext cx="1554480" cy="310896"/>
          </a:xfrm>
          <a:prstGeom prst="roundRect">
            <a:avLst>
              <a:gd name="adj" fmla="val 35294"/>
            </a:avLst>
          </a:prstGeom>
          <a:solidFill>
            <a:srgbClr val="53C6EE"/>
          </a:solidFill>
          <a:ln w="12700">
            <a:solidFill>
              <a:srgbClr val="53C6EE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9326880" y="219456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1927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商业计划 / 投资价值 · 20+10分</a:t>
            </a:r>
            <a:endParaRPr lang="en-US" sz="1020" dirty="0"/>
          </a:p>
        </p:txBody>
      </p:sp>
      <p:sp>
        <p:nvSpPr>
          <p:cNvPr id="8" name="Shape 4"/>
          <p:cNvSpPr/>
          <p:nvPr/>
        </p:nvSpPr>
        <p:spPr>
          <a:xfrm>
            <a:off x="10927080" y="210312"/>
            <a:ext cx="822960" cy="310896"/>
          </a:xfrm>
          <a:prstGeom prst="roundRect">
            <a:avLst>
              <a:gd name="adj" fmla="val 35294"/>
            </a:avLst>
          </a:prstGeom>
          <a:solidFill>
            <a:srgbClr val="F46883"/>
          </a:solidFill>
          <a:ln w="12700">
            <a:solidFill>
              <a:srgbClr val="F4688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10972800" y="219456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建议 45秒</a:t>
            </a:r>
            <a:endParaRPr lang="en-US" sz="1020" dirty="0"/>
          </a:p>
        </p:txBody>
      </p:sp>
      <p:sp>
        <p:nvSpPr>
          <p:cNvPr id="10" name="Shape 6"/>
          <p:cNvSpPr/>
          <p:nvPr/>
        </p:nvSpPr>
        <p:spPr>
          <a:xfrm>
            <a:off x="1874520" y="749808"/>
            <a:ext cx="9756648" cy="0"/>
          </a:xfrm>
          <a:prstGeom prst="line">
            <a:avLst/>
          </a:prstGeom>
          <a:noFill/>
          <a:ln w="13970">
            <a:solidFill>
              <a:srgbClr val="53C6EE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38912" y="941832"/>
            <a:ext cx="11311128" cy="5230368"/>
          </a:xfrm>
          <a:prstGeom prst="roundRect">
            <a:avLst>
              <a:gd name="adj" fmla="val 2448"/>
            </a:avLst>
          </a:prstGeom>
          <a:solidFill>
            <a:srgbClr val="F6F8FC"/>
          </a:solidFill>
          <a:ln w="10160">
            <a:solidFill>
              <a:srgbClr val="E1E6F0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9464040" y="6446520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C6D0E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智极松决赛路演模板  |  第 10 页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822960" y="1234440"/>
            <a:ext cx="384048" cy="384048"/>
          </a:xfrm>
          <a:prstGeom prst="ellipse">
            <a:avLst/>
          </a:prstGeom>
          <a:solidFill>
            <a:srgbClr val="3C8EDB"/>
          </a:solidFill>
          <a:ln w="12700">
            <a:solidFill>
              <a:srgbClr val="3C8EDB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822960" y="123444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1335024" y="1225296"/>
            <a:ext cx="2231136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521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未来 12 个月里程碑</a:t>
            </a: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1051560" y="2788920"/>
            <a:ext cx="6492240" cy="0"/>
          </a:xfrm>
          <a:prstGeom prst="line">
            <a:avLst/>
          </a:prstGeom>
          <a:noFill/>
          <a:ln w="25400">
            <a:solidFill>
              <a:srgbClr val="9BAAC2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1234440" y="2578608"/>
            <a:ext cx="420624" cy="420624"/>
          </a:xfrm>
          <a:prstGeom prst="ellipse">
            <a:avLst/>
          </a:prstGeom>
          <a:solidFill>
            <a:srgbClr val="53C6EE"/>
          </a:solidFill>
          <a:ln w="12700">
            <a:solidFill>
              <a:srgbClr val="53C6EE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1234440" y="2578608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Q1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850392" y="1645920"/>
            <a:ext cx="11887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0160">
            <a:solidFill>
              <a:srgbClr val="DDE4EF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941832" y="1746504"/>
            <a:ext cx="100584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927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产品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941832" y="2057400"/>
            <a:ext cx="1005840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[版本/指标]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850392" y="3154680"/>
            <a:ext cx="1188720" cy="658368"/>
          </a:xfrm>
          <a:prstGeom prst="roundRect">
            <a:avLst>
              <a:gd name="adj" fmla="val 11111"/>
            </a:avLst>
          </a:prstGeom>
          <a:solidFill>
            <a:srgbClr val="EAF4FB"/>
          </a:solidFill>
          <a:ln w="10160">
            <a:solidFill>
              <a:srgbClr val="DDE4EF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978408" y="3264408"/>
            <a:ext cx="301752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KPI</a:t>
            </a:r>
            <a:endParaRPr lang="en-US" sz="1000" dirty="0"/>
          </a:p>
        </p:txBody>
      </p:sp>
      <p:sp>
        <p:nvSpPr>
          <p:cNvPr id="24" name="Text 20"/>
          <p:cNvSpPr txBox="1"/>
          <p:nvPr/>
        </p:nvSpPr>
        <p:spPr>
          <a:xfrm>
            <a:off x="1307592" y="3227832"/>
            <a:ext cx="59436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521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[数值]</a:t>
            </a:r>
            <a:endParaRPr lang="en-US" sz="1450" dirty="0"/>
          </a:p>
        </p:txBody>
      </p:sp>
      <p:sp>
        <p:nvSpPr>
          <p:cNvPr id="25" name="Shape 21"/>
          <p:cNvSpPr/>
          <p:nvPr/>
        </p:nvSpPr>
        <p:spPr>
          <a:xfrm>
            <a:off x="2788920" y="2578608"/>
            <a:ext cx="420624" cy="420624"/>
          </a:xfrm>
          <a:prstGeom prst="ellipse">
            <a:avLst/>
          </a:prstGeom>
          <a:solidFill>
            <a:srgbClr val="F46883"/>
          </a:solidFill>
          <a:ln w="12700">
            <a:solidFill>
              <a:srgbClr val="F46883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2788920" y="2578608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Q2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2404872" y="1645920"/>
            <a:ext cx="11887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0160">
            <a:solidFill>
              <a:srgbClr val="DDE4EF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2496312" y="1746504"/>
            <a:ext cx="100584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927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客户</a:t>
            </a:r>
            <a:endParaRPr lang="en-US" sz="1400" dirty="0"/>
          </a:p>
        </p:txBody>
      </p:sp>
      <p:sp>
        <p:nvSpPr>
          <p:cNvPr id="29" name="Text 25"/>
          <p:cNvSpPr txBox="1"/>
          <p:nvPr/>
        </p:nvSpPr>
        <p:spPr>
          <a:xfrm>
            <a:off x="2496312" y="2057400"/>
            <a:ext cx="1005840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[试点/合同]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2404872" y="3154680"/>
            <a:ext cx="1188720" cy="658368"/>
          </a:xfrm>
          <a:prstGeom prst="roundRect">
            <a:avLst>
              <a:gd name="adj" fmla="val 11111"/>
            </a:avLst>
          </a:prstGeom>
          <a:solidFill>
            <a:srgbClr val="FCEEF2"/>
          </a:solidFill>
          <a:ln w="10160">
            <a:solidFill>
              <a:srgbClr val="DDE4EF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2532888" y="3264408"/>
            <a:ext cx="301752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KPI</a:t>
            </a:r>
            <a:endParaRPr lang="en-US" sz="1000" dirty="0"/>
          </a:p>
        </p:txBody>
      </p:sp>
      <p:sp>
        <p:nvSpPr>
          <p:cNvPr id="32" name="Text 28"/>
          <p:cNvSpPr txBox="1"/>
          <p:nvPr/>
        </p:nvSpPr>
        <p:spPr>
          <a:xfrm>
            <a:off x="2862072" y="3227832"/>
            <a:ext cx="59436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521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[数值]</a:t>
            </a:r>
            <a:endParaRPr lang="en-US" sz="1450" dirty="0"/>
          </a:p>
        </p:txBody>
      </p:sp>
      <p:sp>
        <p:nvSpPr>
          <p:cNvPr id="33" name="Shape 29"/>
          <p:cNvSpPr/>
          <p:nvPr/>
        </p:nvSpPr>
        <p:spPr>
          <a:xfrm>
            <a:off x="4343400" y="2578608"/>
            <a:ext cx="420624" cy="420624"/>
          </a:xfrm>
          <a:prstGeom prst="ellipse">
            <a:avLst/>
          </a:prstGeom>
          <a:solidFill>
            <a:srgbClr val="3C8EDB"/>
          </a:solidFill>
          <a:ln w="12700">
            <a:solidFill>
              <a:srgbClr val="3C8EDB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4343400" y="2578608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Q3</a:t>
            </a:r>
            <a:endParaRPr lang="en-US" sz="1050" dirty="0"/>
          </a:p>
        </p:txBody>
      </p:sp>
      <p:sp>
        <p:nvSpPr>
          <p:cNvPr id="35" name="Shape 31"/>
          <p:cNvSpPr/>
          <p:nvPr/>
        </p:nvSpPr>
        <p:spPr>
          <a:xfrm>
            <a:off x="3959352" y="1645920"/>
            <a:ext cx="11887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0160">
            <a:solidFill>
              <a:srgbClr val="DDE4EF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4050792" y="1746504"/>
            <a:ext cx="100584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927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规模</a:t>
            </a:r>
            <a:endParaRPr lang="en-US" sz="1400" dirty="0"/>
          </a:p>
        </p:txBody>
      </p:sp>
      <p:sp>
        <p:nvSpPr>
          <p:cNvPr id="37" name="Text 33"/>
          <p:cNvSpPr txBox="1"/>
          <p:nvPr/>
        </p:nvSpPr>
        <p:spPr>
          <a:xfrm>
            <a:off x="4050792" y="2057400"/>
            <a:ext cx="1005840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[交付/收入]</a:t>
            </a:r>
            <a:endParaRPr lang="en-US" sz="1050" dirty="0"/>
          </a:p>
        </p:txBody>
      </p:sp>
      <p:sp>
        <p:nvSpPr>
          <p:cNvPr id="38" name="Shape 34"/>
          <p:cNvSpPr/>
          <p:nvPr/>
        </p:nvSpPr>
        <p:spPr>
          <a:xfrm>
            <a:off x="3959352" y="3154680"/>
            <a:ext cx="1188720" cy="658368"/>
          </a:xfrm>
          <a:prstGeom prst="roundRect">
            <a:avLst>
              <a:gd name="adj" fmla="val 11111"/>
            </a:avLst>
          </a:prstGeom>
          <a:solidFill>
            <a:srgbClr val="EAF7F0"/>
          </a:solidFill>
          <a:ln w="10160">
            <a:solidFill>
              <a:srgbClr val="DDE4EF"/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4087368" y="3264408"/>
            <a:ext cx="301752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KPI</a:t>
            </a:r>
            <a:endParaRPr lang="en-US" sz="1000" dirty="0"/>
          </a:p>
        </p:txBody>
      </p:sp>
      <p:sp>
        <p:nvSpPr>
          <p:cNvPr id="40" name="Text 36"/>
          <p:cNvSpPr txBox="1"/>
          <p:nvPr/>
        </p:nvSpPr>
        <p:spPr>
          <a:xfrm>
            <a:off x="4416552" y="3227832"/>
            <a:ext cx="59436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521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[数值]</a:t>
            </a:r>
            <a:endParaRPr lang="en-US" sz="1450" dirty="0"/>
          </a:p>
        </p:txBody>
      </p:sp>
      <p:sp>
        <p:nvSpPr>
          <p:cNvPr id="41" name="Shape 37"/>
          <p:cNvSpPr/>
          <p:nvPr/>
        </p:nvSpPr>
        <p:spPr>
          <a:xfrm>
            <a:off x="5897880" y="2578608"/>
            <a:ext cx="420624" cy="420624"/>
          </a:xfrm>
          <a:prstGeom prst="ellipse">
            <a:avLst/>
          </a:prstGeom>
          <a:solidFill>
            <a:srgbClr val="F39A72"/>
          </a:solidFill>
          <a:ln w="12700">
            <a:solidFill>
              <a:srgbClr val="F39A72"/>
            </a:solidFill>
            <a:prstDash val="solid"/>
          </a:ln>
        </p:spPr>
      </p:sp>
      <p:sp>
        <p:nvSpPr>
          <p:cNvPr id="42" name="Text 38"/>
          <p:cNvSpPr txBox="1"/>
          <p:nvPr/>
        </p:nvSpPr>
        <p:spPr>
          <a:xfrm>
            <a:off x="5897880" y="2578608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Q4</a:t>
            </a:r>
            <a:endParaRPr lang="en-US" sz="1050" dirty="0"/>
          </a:p>
        </p:txBody>
      </p:sp>
      <p:sp>
        <p:nvSpPr>
          <p:cNvPr id="43" name="Shape 39"/>
          <p:cNvSpPr/>
          <p:nvPr/>
        </p:nvSpPr>
        <p:spPr>
          <a:xfrm>
            <a:off x="5513832" y="1645920"/>
            <a:ext cx="11887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0160">
            <a:solidFill>
              <a:srgbClr val="DDE4EF"/>
            </a:solidFill>
            <a:prstDash val="solid"/>
          </a:ln>
        </p:spPr>
      </p:sp>
      <p:sp>
        <p:nvSpPr>
          <p:cNvPr id="44" name="Text 40"/>
          <p:cNvSpPr txBox="1"/>
          <p:nvPr/>
        </p:nvSpPr>
        <p:spPr>
          <a:xfrm>
            <a:off x="5605272" y="1746504"/>
            <a:ext cx="100584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927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扩张</a:t>
            </a:r>
            <a:endParaRPr lang="en-US" sz="1400" dirty="0"/>
          </a:p>
        </p:txBody>
      </p:sp>
      <p:sp>
        <p:nvSpPr>
          <p:cNvPr id="45" name="Text 41"/>
          <p:cNvSpPr txBox="1"/>
          <p:nvPr/>
        </p:nvSpPr>
        <p:spPr>
          <a:xfrm>
            <a:off x="5605272" y="2057400"/>
            <a:ext cx="1005840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[区域/行业]</a:t>
            </a:r>
            <a:endParaRPr lang="en-US" sz="1050" dirty="0"/>
          </a:p>
        </p:txBody>
      </p:sp>
      <p:sp>
        <p:nvSpPr>
          <p:cNvPr id="46" name="Shape 42"/>
          <p:cNvSpPr/>
          <p:nvPr/>
        </p:nvSpPr>
        <p:spPr>
          <a:xfrm>
            <a:off x="5513832" y="3154680"/>
            <a:ext cx="1188720" cy="658368"/>
          </a:xfrm>
          <a:prstGeom prst="roundRect">
            <a:avLst>
              <a:gd name="adj" fmla="val 11111"/>
            </a:avLst>
          </a:prstGeom>
          <a:solidFill>
            <a:srgbClr val="FFF7E2"/>
          </a:solidFill>
          <a:ln w="10160">
            <a:solidFill>
              <a:srgbClr val="DDE4EF"/>
            </a:solidFill>
            <a:prstDash val="solid"/>
          </a:ln>
        </p:spPr>
      </p:sp>
      <p:sp>
        <p:nvSpPr>
          <p:cNvPr id="47" name="Text 43"/>
          <p:cNvSpPr txBox="1"/>
          <p:nvPr/>
        </p:nvSpPr>
        <p:spPr>
          <a:xfrm>
            <a:off x="5641848" y="3264408"/>
            <a:ext cx="301752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KPI</a:t>
            </a:r>
            <a:endParaRPr lang="en-US" sz="1000" dirty="0"/>
          </a:p>
        </p:txBody>
      </p:sp>
      <p:sp>
        <p:nvSpPr>
          <p:cNvPr id="48" name="Text 44"/>
          <p:cNvSpPr txBox="1"/>
          <p:nvPr/>
        </p:nvSpPr>
        <p:spPr>
          <a:xfrm>
            <a:off x="5971032" y="3227832"/>
            <a:ext cx="59436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521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[数值]</a:t>
            </a:r>
            <a:endParaRPr lang="en-US" sz="1450" dirty="0"/>
          </a:p>
        </p:txBody>
      </p:sp>
      <p:sp>
        <p:nvSpPr>
          <p:cNvPr id="49" name="Shape 45"/>
          <p:cNvSpPr/>
          <p:nvPr/>
        </p:nvSpPr>
        <p:spPr>
          <a:xfrm>
            <a:off x="896112" y="4187952"/>
            <a:ext cx="6656832" cy="987552"/>
          </a:xfrm>
          <a:prstGeom prst="roundRect">
            <a:avLst>
              <a:gd name="adj" fmla="val 9259"/>
            </a:avLst>
          </a:prstGeom>
          <a:solidFill>
            <a:srgbClr val="EEF3FA"/>
          </a:solidFill>
          <a:ln w="10160">
            <a:solidFill>
              <a:srgbClr val="DDE4EF"/>
            </a:solidFill>
            <a:prstDash val="solid"/>
          </a:ln>
        </p:spPr>
      </p:sp>
      <p:sp>
        <p:nvSpPr>
          <p:cNvPr id="50" name="Text 46"/>
          <p:cNvSpPr txBox="1"/>
          <p:nvPr/>
        </p:nvSpPr>
        <p:spPr>
          <a:xfrm>
            <a:off x="1097280" y="4343400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927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核心生死点 / 关键依赖</a:t>
            </a:r>
            <a:endParaRPr lang="en-US" sz="1400" dirty="0"/>
          </a:p>
        </p:txBody>
      </p:sp>
      <p:sp>
        <p:nvSpPr>
          <p:cNvPr id="51" name="Text 47"/>
          <p:cNvSpPr txBox="1"/>
          <p:nvPr/>
        </p:nvSpPr>
        <p:spPr>
          <a:xfrm>
            <a:off x="2560320" y="4315968"/>
            <a:ext cx="461772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521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[数据许可]  [关键人才]  [渠道合作]  [监管/认证]  [供应链]</a:t>
            </a:r>
            <a:endParaRPr lang="en-US" sz="1350" dirty="0"/>
          </a:p>
        </p:txBody>
      </p:sp>
      <p:sp>
        <p:nvSpPr>
          <p:cNvPr id="52" name="Shape 48"/>
          <p:cNvSpPr/>
          <p:nvPr/>
        </p:nvSpPr>
        <p:spPr>
          <a:xfrm>
            <a:off x="7818120" y="1234440"/>
            <a:ext cx="384048" cy="384048"/>
          </a:xfrm>
          <a:prstGeom prst="ellipse">
            <a:avLst/>
          </a:prstGeom>
          <a:solidFill>
            <a:srgbClr val="F46883"/>
          </a:solidFill>
          <a:ln w="12700">
            <a:solidFill>
              <a:srgbClr val="F46883"/>
            </a:solidFill>
            <a:prstDash val="solid"/>
          </a:ln>
        </p:spPr>
      </p:sp>
      <p:sp>
        <p:nvSpPr>
          <p:cNvPr id="53" name="Text 49"/>
          <p:cNvSpPr txBox="1"/>
          <p:nvPr/>
        </p:nvSpPr>
        <p:spPr>
          <a:xfrm>
            <a:off x="7818120" y="123444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400" dirty="0"/>
          </a:p>
        </p:txBody>
      </p:sp>
      <p:sp>
        <p:nvSpPr>
          <p:cNvPr id="54" name="Text 50"/>
          <p:cNvSpPr txBox="1"/>
          <p:nvPr/>
        </p:nvSpPr>
        <p:spPr>
          <a:xfrm>
            <a:off x="8330184" y="1225296"/>
            <a:ext cx="1773936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521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融资与资本效率</a:t>
            </a:r>
            <a:endParaRPr lang="en-US" sz="2000" dirty="0"/>
          </a:p>
        </p:txBody>
      </p:sp>
      <p:sp>
        <p:nvSpPr>
          <p:cNvPr id="55" name="Shape 51"/>
          <p:cNvSpPr/>
          <p:nvPr/>
        </p:nvSpPr>
        <p:spPr>
          <a:xfrm>
            <a:off x="7818120" y="1737360"/>
            <a:ext cx="1600200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0160">
            <a:solidFill>
              <a:srgbClr val="E0E6F0"/>
            </a:solidFill>
            <a:prstDash val="solid"/>
          </a:ln>
        </p:spPr>
      </p:sp>
      <p:sp>
        <p:nvSpPr>
          <p:cNvPr id="56" name="Shape 52"/>
          <p:cNvSpPr/>
          <p:nvPr/>
        </p:nvSpPr>
        <p:spPr>
          <a:xfrm>
            <a:off x="7818120" y="1737360"/>
            <a:ext cx="73152" cy="1207008"/>
          </a:xfrm>
          <a:prstGeom prst="rect">
            <a:avLst/>
          </a:prstGeom>
          <a:solidFill>
            <a:srgbClr val="F46883"/>
          </a:solidFill>
          <a:ln w="12700">
            <a:solidFill>
              <a:srgbClr val="F46883"/>
            </a:solidFill>
            <a:prstDash val="solid"/>
          </a:ln>
        </p:spPr>
      </p:sp>
      <p:sp>
        <p:nvSpPr>
          <p:cNvPr id="57" name="Text 53"/>
          <p:cNvSpPr txBox="1"/>
          <p:nvPr/>
        </p:nvSpPr>
        <p:spPr>
          <a:xfrm>
            <a:off x="8019288" y="1874520"/>
            <a:ext cx="128016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融资需求</a:t>
            </a:r>
            <a:endParaRPr lang="en-US" sz="1150" dirty="0"/>
          </a:p>
        </p:txBody>
      </p:sp>
      <p:sp>
        <p:nvSpPr>
          <p:cNvPr id="58" name="Text 54"/>
          <p:cNvSpPr txBox="1"/>
          <p:nvPr/>
        </p:nvSpPr>
        <p:spPr>
          <a:xfrm>
            <a:off x="8019288" y="2167128"/>
            <a:ext cx="128016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927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[X万]</a:t>
            </a:r>
            <a:endParaRPr lang="en-US" sz="2900" dirty="0"/>
          </a:p>
        </p:txBody>
      </p:sp>
      <p:sp>
        <p:nvSpPr>
          <p:cNvPr id="59" name="Text 55"/>
          <p:cNvSpPr txBox="1"/>
          <p:nvPr/>
        </p:nvSpPr>
        <p:spPr>
          <a:xfrm>
            <a:off x="8019288" y="2532888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本轮/未来12个月</a:t>
            </a:r>
            <a:endParaRPr lang="en-US" sz="1050" dirty="0"/>
          </a:p>
        </p:txBody>
      </p:sp>
      <p:sp>
        <p:nvSpPr>
          <p:cNvPr id="60" name="Shape 56"/>
          <p:cNvSpPr/>
          <p:nvPr/>
        </p:nvSpPr>
        <p:spPr>
          <a:xfrm>
            <a:off x="9601200" y="1737360"/>
            <a:ext cx="1600200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0160">
            <a:solidFill>
              <a:srgbClr val="E0E6F0"/>
            </a:solidFill>
            <a:prstDash val="solid"/>
          </a:ln>
        </p:spPr>
      </p:sp>
      <p:sp>
        <p:nvSpPr>
          <p:cNvPr id="61" name="Shape 57"/>
          <p:cNvSpPr/>
          <p:nvPr/>
        </p:nvSpPr>
        <p:spPr>
          <a:xfrm>
            <a:off x="9601200" y="1737360"/>
            <a:ext cx="73152" cy="1207008"/>
          </a:xfrm>
          <a:prstGeom prst="rect">
            <a:avLst/>
          </a:prstGeom>
          <a:solidFill>
            <a:srgbClr val="3C8EDB"/>
          </a:solidFill>
          <a:ln w="12700">
            <a:solidFill>
              <a:srgbClr val="3C8EDB"/>
            </a:solidFill>
            <a:prstDash val="solid"/>
          </a:ln>
        </p:spPr>
      </p:sp>
      <p:sp>
        <p:nvSpPr>
          <p:cNvPr id="62" name="Text 58"/>
          <p:cNvSpPr txBox="1"/>
          <p:nvPr/>
        </p:nvSpPr>
        <p:spPr>
          <a:xfrm>
            <a:off x="9802368" y="1874520"/>
            <a:ext cx="128016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资金跑道</a:t>
            </a:r>
            <a:endParaRPr lang="en-US" sz="1150" dirty="0"/>
          </a:p>
        </p:txBody>
      </p:sp>
      <p:sp>
        <p:nvSpPr>
          <p:cNvPr id="63" name="Text 59"/>
          <p:cNvSpPr txBox="1"/>
          <p:nvPr/>
        </p:nvSpPr>
        <p:spPr>
          <a:xfrm>
            <a:off x="9802368" y="2167128"/>
            <a:ext cx="128016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927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[X月]</a:t>
            </a:r>
            <a:endParaRPr lang="en-US" sz="2900" dirty="0"/>
          </a:p>
        </p:txBody>
      </p:sp>
      <p:sp>
        <p:nvSpPr>
          <p:cNvPr id="64" name="Text 60"/>
          <p:cNvSpPr txBox="1"/>
          <p:nvPr/>
        </p:nvSpPr>
        <p:spPr>
          <a:xfrm>
            <a:off x="9802368" y="2532888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达到下一里程碑</a:t>
            </a:r>
            <a:endParaRPr lang="en-US" sz="1050" dirty="0"/>
          </a:p>
        </p:txBody>
      </p:sp>
      <p:sp>
        <p:nvSpPr>
          <p:cNvPr id="65" name="Shape 61"/>
          <p:cNvSpPr/>
          <p:nvPr/>
        </p:nvSpPr>
        <p:spPr>
          <a:xfrm>
            <a:off x="7818120" y="3182112"/>
            <a:ext cx="33832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0160">
            <a:solidFill>
              <a:srgbClr val="DDE4EF"/>
            </a:solidFill>
            <a:prstDash val="solid"/>
          </a:ln>
        </p:spPr>
      </p:sp>
      <p:sp>
        <p:nvSpPr>
          <p:cNvPr id="66" name="Text 62"/>
          <p:cNvSpPr txBox="1"/>
          <p:nvPr/>
        </p:nvSpPr>
        <p:spPr>
          <a:xfrm>
            <a:off x="8028432" y="3364992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927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资金用途</a:t>
            </a:r>
            <a:endParaRPr lang="en-US" sz="1400" dirty="0"/>
          </a:p>
        </p:txBody>
      </p:sp>
      <p:sp>
        <p:nvSpPr>
          <p:cNvPr id="67" name="Text 63"/>
          <p:cNvSpPr txBox="1"/>
          <p:nvPr/>
        </p:nvSpPr>
        <p:spPr>
          <a:xfrm>
            <a:off x="8065008" y="3703320"/>
            <a:ext cx="11430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产品/研发</a:t>
            </a:r>
            <a:endParaRPr lang="en-US" sz="1050" dirty="0"/>
          </a:p>
        </p:txBody>
      </p:sp>
      <p:sp>
        <p:nvSpPr>
          <p:cNvPr id="68" name="Text 64"/>
          <p:cNvSpPr txBox="1"/>
          <p:nvPr/>
        </p:nvSpPr>
        <p:spPr>
          <a:xfrm>
            <a:off x="9829800" y="3703320"/>
            <a:ext cx="86868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521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[40%]</a:t>
            </a:r>
            <a:endParaRPr lang="en-US" sz="1050" dirty="0"/>
          </a:p>
        </p:txBody>
      </p:sp>
      <p:sp>
        <p:nvSpPr>
          <p:cNvPr id="69" name="Text 65"/>
          <p:cNvSpPr txBox="1"/>
          <p:nvPr/>
        </p:nvSpPr>
        <p:spPr>
          <a:xfrm>
            <a:off x="8065008" y="3977640"/>
            <a:ext cx="11430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市场/交付</a:t>
            </a:r>
            <a:endParaRPr lang="en-US" sz="1050" dirty="0"/>
          </a:p>
        </p:txBody>
      </p:sp>
      <p:sp>
        <p:nvSpPr>
          <p:cNvPr id="70" name="Text 66"/>
          <p:cNvSpPr txBox="1"/>
          <p:nvPr/>
        </p:nvSpPr>
        <p:spPr>
          <a:xfrm>
            <a:off x="9829800" y="3977640"/>
            <a:ext cx="86868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521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[35%]</a:t>
            </a:r>
            <a:endParaRPr lang="en-US" sz="1050" dirty="0"/>
          </a:p>
        </p:txBody>
      </p:sp>
      <p:sp>
        <p:nvSpPr>
          <p:cNvPr id="71" name="Text 67"/>
          <p:cNvSpPr txBox="1"/>
          <p:nvPr/>
        </p:nvSpPr>
        <p:spPr>
          <a:xfrm>
            <a:off x="8065008" y="4251960"/>
            <a:ext cx="11430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团队/合规</a:t>
            </a:r>
            <a:endParaRPr lang="en-US" sz="1050" dirty="0"/>
          </a:p>
        </p:txBody>
      </p:sp>
      <p:sp>
        <p:nvSpPr>
          <p:cNvPr id="72" name="Text 68"/>
          <p:cNvSpPr txBox="1"/>
          <p:nvPr/>
        </p:nvSpPr>
        <p:spPr>
          <a:xfrm>
            <a:off x="9829800" y="4251960"/>
            <a:ext cx="86868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521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[25%]</a:t>
            </a:r>
            <a:endParaRPr lang="en-US" sz="1050" dirty="0"/>
          </a:p>
        </p:txBody>
      </p:sp>
      <p:sp>
        <p:nvSpPr>
          <p:cNvPr id="73" name="Shape 69"/>
          <p:cNvSpPr/>
          <p:nvPr/>
        </p:nvSpPr>
        <p:spPr>
          <a:xfrm>
            <a:off x="7818120" y="4818888"/>
            <a:ext cx="3383280" cy="420624"/>
          </a:xfrm>
          <a:prstGeom prst="roundRect">
            <a:avLst>
              <a:gd name="adj" fmla="val 17391"/>
            </a:avLst>
          </a:prstGeom>
          <a:solidFill>
            <a:srgbClr val="192747"/>
          </a:solidFill>
          <a:ln w="10160">
            <a:solidFill>
              <a:srgbClr val="192747"/>
            </a:solidFill>
            <a:prstDash val="solid"/>
          </a:ln>
        </p:spPr>
      </p:sp>
      <p:sp>
        <p:nvSpPr>
          <p:cNvPr id="74" name="Text 70"/>
          <p:cNvSpPr txBox="1"/>
          <p:nvPr/>
        </p:nvSpPr>
        <p:spPr>
          <a:xfrm>
            <a:off x="7973568" y="4901184"/>
            <a:ext cx="306324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本轮资金 → [可验证里程碑] → 下一轮/自我造血</a:t>
            </a:r>
            <a:endParaRPr lang="en-US" sz="1050" dirty="0"/>
          </a:p>
        </p:txBody>
      </p:sp>
      <p:sp>
        <p:nvSpPr>
          <p:cNvPr id="75" name="Shape 71"/>
          <p:cNvSpPr/>
          <p:nvPr/>
        </p:nvSpPr>
        <p:spPr>
          <a:xfrm>
            <a:off x="960120" y="5705856"/>
            <a:ext cx="7498080" cy="310896"/>
          </a:xfrm>
          <a:prstGeom prst="roundRect">
            <a:avLst>
              <a:gd name="adj" fmla="val 23529"/>
            </a:avLst>
          </a:prstGeom>
          <a:solidFill>
            <a:srgbClr val="FFF3E7"/>
          </a:solidFill>
          <a:ln w="10160">
            <a:solidFill>
              <a:srgbClr val="F3C39C"/>
            </a:solidFill>
            <a:prstDash val="solid"/>
          </a:ln>
        </p:spPr>
      </p:sp>
      <p:sp>
        <p:nvSpPr>
          <p:cNvPr id="76" name="Text 72"/>
          <p:cNvSpPr txBox="1"/>
          <p:nvPr/>
        </p:nvSpPr>
        <p:spPr>
          <a:xfrm>
            <a:off x="1069848" y="5724144"/>
            <a:ext cx="7278624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8A4B1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模板提示：融资额必须与里程碑和资金用途绑定；避免只谈估值、不谈资本效率。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7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智极松_content_bg_clean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mnt/data/智极松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2880"/>
            <a:ext cx="1234440" cy="37490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874520" y="164592"/>
            <a:ext cx="6583680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落地计划与团队执行</a:t>
            </a:r>
            <a:endParaRPr lang="en-US" sz="2700" dirty="0"/>
          </a:p>
        </p:txBody>
      </p:sp>
      <p:sp>
        <p:nvSpPr>
          <p:cNvPr id="5" name="Text 1"/>
          <p:cNvSpPr txBox="1"/>
          <p:nvPr/>
        </p:nvSpPr>
        <p:spPr>
          <a:xfrm>
            <a:off x="1901952" y="621792"/>
            <a:ext cx="68580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C8D3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给出赛后3—6个月可执行计划，并证明团队为什么能做成</a:t>
            </a:r>
            <a:endParaRPr lang="en-US" sz="1050" dirty="0"/>
          </a:p>
        </p:txBody>
      </p:sp>
      <p:sp>
        <p:nvSpPr>
          <p:cNvPr id="6" name="Shape 2"/>
          <p:cNvSpPr/>
          <p:nvPr/>
        </p:nvSpPr>
        <p:spPr>
          <a:xfrm>
            <a:off x="9281160" y="210312"/>
            <a:ext cx="1554480" cy="310896"/>
          </a:xfrm>
          <a:prstGeom prst="roundRect">
            <a:avLst>
              <a:gd name="adj" fmla="val 35294"/>
            </a:avLst>
          </a:prstGeom>
          <a:solidFill>
            <a:srgbClr val="53C6EE"/>
          </a:solidFill>
          <a:ln w="12700">
            <a:solidFill>
              <a:srgbClr val="53C6EE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9326880" y="219456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1927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落地意愿 / 团队执行 · 10分</a:t>
            </a:r>
            <a:endParaRPr lang="en-US" sz="1020" dirty="0"/>
          </a:p>
        </p:txBody>
      </p:sp>
      <p:sp>
        <p:nvSpPr>
          <p:cNvPr id="8" name="Shape 4"/>
          <p:cNvSpPr/>
          <p:nvPr/>
        </p:nvSpPr>
        <p:spPr>
          <a:xfrm>
            <a:off x="10927080" y="210312"/>
            <a:ext cx="822960" cy="310896"/>
          </a:xfrm>
          <a:prstGeom prst="roundRect">
            <a:avLst>
              <a:gd name="adj" fmla="val 35294"/>
            </a:avLst>
          </a:prstGeom>
          <a:solidFill>
            <a:srgbClr val="F46883"/>
          </a:solidFill>
          <a:ln w="12700">
            <a:solidFill>
              <a:srgbClr val="F4688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10972800" y="219456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建议 45秒</a:t>
            </a:r>
            <a:endParaRPr lang="en-US" sz="1020" dirty="0"/>
          </a:p>
        </p:txBody>
      </p:sp>
      <p:sp>
        <p:nvSpPr>
          <p:cNvPr id="10" name="Shape 6"/>
          <p:cNvSpPr/>
          <p:nvPr/>
        </p:nvSpPr>
        <p:spPr>
          <a:xfrm>
            <a:off x="1874520" y="749808"/>
            <a:ext cx="9756648" cy="0"/>
          </a:xfrm>
          <a:prstGeom prst="line">
            <a:avLst/>
          </a:prstGeom>
          <a:noFill/>
          <a:ln w="13970">
            <a:solidFill>
              <a:srgbClr val="53C6EE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38912" y="941832"/>
            <a:ext cx="11311128" cy="5230368"/>
          </a:xfrm>
          <a:prstGeom prst="roundRect">
            <a:avLst>
              <a:gd name="adj" fmla="val 2448"/>
            </a:avLst>
          </a:prstGeom>
          <a:solidFill>
            <a:srgbClr val="F6F8FC"/>
          </a:solidFill>
          <a:ln w="10160">
            <a:solidFill>
              <a:srgbClr val="E1E6F0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9464040" y="6446520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C6D0E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智极松决赛路演模板  |  第 11 页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822960" y="1234440"/>
            <a:ext cx="384048" cy="384048"/>
          </a:xfrm>
          <a:prstGeom prst="ellipse">
            <a:avLst/>
          </a:prstGeom>
          <a:solidFill>
            <a:srgbClr val="F39A72"/>
          </a:solidFill>
          <a:ln w="12700">
            <a:solidFill>
              <a:srgbClr val="F39A72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822960" y="123444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1334770" y="1225550"/>
            <a:ext cx="3696335" cy="40259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521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长沙/湖南落地</a:t>
            </a:r>
            <a:r>
              <a:rPr lang="zh-CN" altLang="en-US" sz="2000" b="1" dirty="0">
                <a:solidFill>
                  <a:srgbClr val="1521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意向</a:t>
            </a:r>
            <a:r>
              <a:rPr lang="en-US" altLang="zh-CN" sz="2000" b="1" dirty="0">
                <a:solidFill>
                  <a:srgbClr val="1521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/</a:t>
            </a:r>
            <a:r>
              <a:rPr lang="en-US" sz="2000" b="1" dirty="0">
                <a:solidFill>
                  <a:srgbClr val="1521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计划</a:t>
            </a: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868680" y="1783080"/>
            <a:ext cx="1664208" cy="2084832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10160">
            <a:solidFill>
              <a:srgbClr val="DDE4EF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1115568" y="1956816"/>
            <a:ext cx="1170432" cy="310896"/>
          </a:xfrm>
          <a:prstGeom prst="roundRect">
            <a:avLst>
              <a:gd name="adj" fmla="val 35294"/>
            </a:avLst>
          </a:prstGeom>
          <a:solidFill>
            <a:srgbClr val="53C6EE"/>
          </a:solidFill>
          <a:ln w="12700">
            <a:solidFill>
              <a:srgbClr val="53C6EE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1161288" y="1965960"/>
            <a:ext cx="1078992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0—30天</a:t>
            </a:r>
            <a:endParaRPr lang="en-US" sz="1030" dirty="0"/>
          </a:p>
        </p:txBody>
      </p:sp>
      <p:sp>
        <p:nvSpPr>
          <p:cNvPr id="19" name="Text 15"/>
          <p:cNvSpPr txBox="1"/>
          <p:nvPr/>
        </p:nvSpPr>
        <p:spPr>
          <a:xfrm>
            <a:off x="1097280" y="2487168"/>
            <a:ext cx="1207008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927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启动</a:t>
            </a:r>
            <a:endParaRPr lang="en-US" sz="1800" dirty="0"/>
          </a:p>
        </p:txBody>
      </p:sp>
      <p:sp>
        <p:nvSpPr>
          <p:cNvPr id="20" name="Text 16"/>
          <p:cNvSpPr txBox="1"/>
          <p:nvPr/>
        </p:nvSpPr>
        <p:spPr>
          <a:xfrm>
            <a:off x="1033272" y="2944368"/>
            <a:ext cx="1335024" cy="5943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[注册/驻场/签约/伙伴确认]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2532888" y="2816352"/>
            <a:ext cx="237744" cy="0"/>
          </a:xfrm>
          <a:prstGeom prst="line">
            <a:avLst/>
          </a:prstGeom>
          <a:noFill/>
          <a:ln w="19050">
            <a:solidFill>
              <a:srgbClr val="AAB6CB"/>
            </a:solidFill>
            <a:prstDash val="solid"/>
            <a:tailEnd type="triangle"/>
          </a:ln>
        </p:spPr>
      </p:sp>
      <p:sp>
        <p:nvSpPr>
          <p:cNvPr id="22" name="Shape 18"/>
          <p:cNvSpPr/>
          <p:nvPr/>
        </p:nvSpPr>
        <p:spPr>
          <a:xfrm>
            <a:off x="2770632" y="1783080"/>
            <a:ext cx="1664208" cy="2084832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10160">
            <a:solidFill>
              <a:srgbClr val="DDE4EF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3017520" y="1956816"/>
            <a:ext cx="1170432" cy="310896"/>
          </a:xfrm>
          <a:prstGeom prst="roundRect">
            <a:avLst>
              <a:gd name="adj" fmla="val 35294"/>
            </a:avLst>
          </a:prstGeom>
          <a:solidFill>
            <a:srgbClr val="F46883"/>
          </a:solidFill>
          <a:ln w="12700">
            <a:solidFill>
              <a:srgbClr val="F46883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3063240" y="1965960"/>
            <a:ext cx="1078992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31—90天</a:t>
            </a:r>
            <a:endParaRPr lang="en-US" sz="1030" dirty="0"/>
          </a:p>
        </p:txBody>
      </p:sp>
      <p:sp>
        <p:nvSpPr>
          <p:cNvPr id="25" name="Text 21"/>
          <p:cNvSpPr txBox="1"/>
          <p:nvPr/>
        </p:nvSpPr>
        <p:spPr>
          <a:xfrm>
            <a:off x="2999232" y="2487168"/>
            <a:ext cx="1207008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927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验证</a:t>
            </a:r>
            <a:endParaRPr lang="en-US" sz="1800" dirty="0"/>
          </a:p>
        </p:txBody>
      </p:sp>
      <p:sp>
        <p:nvSpPr>
          <p:cNvPr id="26" name="Text 22"/>
          <p:cNvSpPr txBox="1"/>
          <p:nvPr/>
        </p:nvSpPr>
        <p:spPr>
          <a:xfrm>
            <a:off x="2935224" y="2944368"/>
            <a:ext cx="1335024" cy="5943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[首个试点/客户/场地/招聘]</a:t>
            </a:r>
            <a:endParaRPr lang="en-US" sz="1150" dirty="0"/>
          </a:p>
        </p:txBody>
      </p:sp>
      <p:sp>
        <p:nvSpPr>
          <p:cNvPr id="27" name="Shape 23"/>
          <p:cNvSpPr/>
          <p:nvPr/>
        </p:nvSpPr>
        <p:spPr>
          <a:xfrm>
            <a:off x="4434840" y="2816352"/>
            <a:ext cx="237744" cy="0"/>
          </a:xfrm>
          <a:prstGeom prst="line">
            <a:avLst/>
          </a:prstGeom>
          <a:noFill/>
          <a:ln w="19050">
            <a:solidFill>
              <a:srgbClr val="AAB6CB"/>
            </a:solidFill>
            <a:prstDash val="solid"/>
            <a:tailEnd type="triangle"/>
          </a:ln>
        </p:spPr>
      </p:sp>
      <p:sp>
        <p:nvSpPr>
          <p:cNvPr id="28" name="Shape 24"/>
          <p:cNvSpPr/>
          <p:nvPr/>
        </p:nvSpPr>
        <p:spPr>
          <a:xfrm>
            <a:off x="4672584" y="1783080"/>
            <a:ext cx="1664208" cy="2084832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10160">
            <a:solidFill>
              <a:srgbClr val="DDE4EF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919472" y="1956816"/>
            <a:ext cx="1170432" cy="310896"/>
          </a:xfrm>
          <a:prstGeom prst="roundRect">
            <a:avLst>
              <a:gd name="adj" fmla="val 35294"/>
            </a:avLst>
          </a:prstGeom>
          <a:solidFill>
            <a:srgbClr val="2FAE7B"/>
          </a:solidFill>
          <a:ln w="12700">
            <a:solidFill>
              <a:srgbClr val="2FAE7B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4965192" y="1965960"/>
            <a:ext cx="1078992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91—180天</a:t>
            </a:r>
            <a:endParaRPr lang="en-US" sz="1030" dirty="0"/>
          </a:p>
        </p:txBody>
      </p:sp>
      <p:sp>
        <p:nvSpPr>
          <p:cNvPr id="31" name="Text 27"/>
          <p:cNvSpPr txBox="1"/>
          <p:nvPr/>
        </p:nvSpPr>
        <p:spPr>
          <a:xfrm>
            <a:off x="4901184" y="2487168"/>
            <a:ext cx="1207008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927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复制</a:t>
            </a:r>
            <a:endParaRPr lang="en-US" sz="1800" dirty="0"/>
          </a:p>
        </p:txBody>
      </p:sp>
      <p:sp>
        <p:nvSpPr>
          <p:cNvPr id="32" name="Text 28"/>
          <p:cNvSpPr txBox="1"/>
          <p:nvPr/>
        </p:nvSpPr>
        <p:spPr>
          <a:xfrm>
            <a:off x="4837176" y="2944368"/>
            <a:ext cx="1335024" cy="5943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[订单/收入/扩展/长期合作]</a:t>
            </a:r>
            <a:endParaRPr lang="en-US" sz="1150" dirty="0"/>
          </a:p>
        </p:txBody>
      </p:sp>
      <p:sp>
        <p:nvSpPr>
          <p:cNvPr id="33" name="Shape 29"/>
          <p:cNvSpPr/>
          <p:nvPr/>
        </p:nvSpPr>
        <p:spPr>
          <a:xfrm>
            <a:off x="868680" y="4160520"/>
            <a:ext cx="5468112" cy="932688"/>
          </a:xfrm>
          <a:prstGeom prst="roundRect">
            <a:avLst>
              <a:gd name="adj" fmla="val 9804"/>
            </a:avLst>
          </a:prstGeom>
          <a:solidFill>
            <a:srgbClr val="FFF7E2"/>
          </a:solidFill>
          <a:ln w="10160">
            <a:solidFill>
              <a:srgbClr val="E9D8A7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1097280" y="4343400"/>
            <a:ext cx="114300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8A651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需要本地资源</a:t>
            </a:r>
            <a:endParaRPr lang="en-US" sz="1400" dirty="0"/>
          </a:p>
        </p:txBody>
      </p:sp>
      <p:sp>
        <p:nvSpPr>
          <p:cNvPr id="35" name="Text 31"/>
          <p:cNvSpPr txBox="1"/>
          <p:nvPr/>
        </p:nvSpPr>
        <p:spPr>
          <a:xfrm>
            <a:off x="2148840" y="4297680"/>
            <a:ext cx="3840480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21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[产业客户]  [场地/算力]  [政策]  [人才]  [投资/渠道]</a:t>
            </a:r>
            <a:endParaRPr lang="en-US" sz="1300" dirty="0"/>
          </a:p>
        </p:txBody>
      </p:sp>
      <p:sp>
        <p:nvSpPr>
          <p:cNvPr id="36" name="Shape 32"/>
          <p:cNvSpPr/>
          <p:nvPr/>
        </p:nvSpPr>
        <p:spPr>
          <a:xfrm>
            <a:off x="6601968" y="1234440"/>
            <a:ext cx="384048" cy="384048"/>
          </a:xfrm>
          <a:prstGeom prst="ellipse">
            <a:avLst/>
          </a:prstGeom>
          <a:solidFill>
            <a:srgbClr val="3C8EDB"/>
          </a:solidFill>
          <a:ln w="12700">
            <a:solidFill>
              <a:srgbClr val="3C8EDB"/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6601968" y="123444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400" dirty="0"/>
          </a:p>
        </p:txBody>
      </p:sp>
      <p:sp>
        <p:nvSpPr>
          <p:cNvPr id="38" name="Text 34"/>
          <p:cNvSpPr txBox="1"/>
          <p:nvPr/>
        </p:nvSpPr>
        <p:spPr>
          <a:xfrm>
            <a:off x="7114032" y="1225296"/>
            <a:ext cx="3328416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521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核心团队：为什么是我们</a:t>
            </a:r>
            <a:endParaRPr lang="en-US" sz="2000" dirty="0"/>
          </a:p>
        </p:txBody>
      </p:sp>
      <p:sp>
        <p:nvSpPr>
          <p:cNvPr id="39" name="Shape 35"/>
          <p:cNvSpPr/>
          <p:nvPr/>
        </p:nvSpPr>
        <p:spPr>
          <a:xfrm>
            <a:off x="6720840" y="1783080"/>
            <a:ext cx="658368" cy="658368"/>
          </a:xfrm>
          <a:prstGeom prst="ellipse">
            <a:avLst/>
          </a:prstGeom>
          <a:solidFill>
            <a:srgbClr val="AFCFF0"/>
          </a:solidFill>
          <a:ln w="12700">
            <a:solidFill>
              <a:srgbClr val="AFCFF0"/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6720840" y="1783080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927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</a:t>
            </a:r>
            <a:endParaRPr lang="en-US" sz="1800" dirty="0"/>
          </a:p>
        </p:txBody>
      </p:sp>
      <p:sp>
        <p:nvSpPr>
          <p:cNvPr id="41" name="Text 37"/>
          <p:cNvSpPr txBox="1"/>
          <p:nvPr/>
        </p:nvSpPr>
        <p:spPr>
          <a:xfrm>
            <a:off x="7543800" y="176479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521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[姓名]</a:t>
            </a:r>
            <a:endParaRPr lang="en-US" sz="1600" dirty="0"/>
          </a:p>
        </p:txBody>
      </p:sp>
      <p:sp>
        <p:nvSpPr>
          <p:cNvPr id="42" name="Shape 38"/>
          <p:cNvSpPr/>
          <p:nvPr/>
        </p:nvSpPr>
        <p:spPr>
          <a:xfrm>
            <a:off x="8823960" y="1783080"/>
            <a:ext cx="914400" cy="310896"/>
          </a:xfrm>
          <a:prstGeom prst="roundRect">
            <a:avLst>
              <a:gd name="adj" fmla="val 35294"/>
            </a:avLst>
          </a:prstGeom>
          <a:solidFill>
            <a:srgbClr val="3C8EDB"/>
          </a:solidFill>
          <a:ln w="12700">
            <a:solidFill>
              <a:srgbClr val="3C8EDB"/>
            </a:solidFill>
            <a:prstDash val="solid"/>
          </a:ln>
        </p:spPr>
      </p:sp>
      <p:sp>
        <p:nvSpPr>
          <p:cNvPr id="43" name="Text 39"/>
          <p:cNvSpPr txBox="1"/>
          <p:nvPr/>
        </p:nvSpPr>
        <p:spPr>
          <a:xfrm>
            <a:off x="8869680" y="1792224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CEO/业务</a:t>
            </a:r>
            <a:endParaRPr lang="en-US" sz="980" dirty="0"/>
          </a:p>
        </p:txBody>
      </p:sp>
      <p:sp>
        <p:nvSpPr>
          <p:cNvPr id="44" name="Text 40"/>
          <p:cNvSpPr txBox="1"/>
          <p:nvPr/>
        </p:nvSpPr>
        <p:spPr>
          <a:xfrm>
            <a:off x="7543800" y="2176272"/>
            <a:ext cx="338328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3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[行业经验/客户资源]</a:t>
            </a:r>
            <a:endParaRPr lang="en-US" sz="1130" dirty="0"/>
          </a:p>
        </p:txBody>
      </p:sp>
      <p:sp>
        <p:nvSpPr>
          <p:cNvPr id="45" name="Shape 41"/>
          <p:cNvSpPr/>
          <p:nvPr/>
        </p:nvSpPr>
        <p:spPr>
          <a:xfrm>
            <a:off x="6720840" y="2862072"/>
            <a:ext cx="658368" cy="658368"/>
          </a:xfrm>
          <a:prstGeom prst="ellipse">
            <a:avLst/>
          </a:prstGeom>
          <a:solidFill>
            <a:srgbClr val="F6B6C4"/>
          </a:solidFill>
          <a:ln w="12700">
            <a:solidFill>
              <a:srgbClr val="F6B6C4"/>
            </a:solidFill>
            <a:prstDash val="solid"/>
          </a:ln>
        </p:spPr>
      </p:sp>
      <p:sp>
        <p:nvSpPr>
          <p:cNvPr id="46" name="Text 42"/>
          <p:cNvSpPr txBox="1"/>
          <p:nvPr/>
        </p:nvSpPr>
        <p:spPr>
          <a:xfrm>
            <a:off x="6720840" y="2862072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927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</a:t>
            </a:r>
            <a:endParaRPr lang="en-US" sz="1800" dirty="0"/>
          </a:p>
        </p:txBody>
      </p:sp>
      <p:sp>
        <p:nvSpPr>
          <p:cNvPr id="47" name="Text 43"/>
          <p:cNvSpPr txBox="1"/>
          <p:nvPr/>
        </p:nvSpPr>
        <p:spPr>
          <a:xfrm>
            <a:off x="7543800" y="2843784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521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[姓名]</a:t>
            </a:r>
            <a:endParaRPr lang="en-US" sz="1600" dirty="0"/>
          </a:p>
        </p:txBody>
      </p:sp>
      <p:sp>
        <p:nvSpPr>
          <p:cNvPr id="48" name="Shape 44"/>
          <p:cNvSpPr/>
          <p:nvPr/>
        </p:nvSpPr>
        <p:spPr>
          <a:xfrm>
            <a:off x="8823960" y="2862072"/>
            <a:ext cx="914400" cy="310896"/>
          </a:xfrm>
          <a:prstGeom prst="roundRect">
            <a:avLst>
              <a:gd name="adj" fmla="val 35294"/>
            </a:avLst>
          </a:prstGeom>
          <a:solidFill>
            <a:srgbClr val="F46883"/>
          </a:solidFill>
          <a:ln w="12700">
            <a:solidFill>
              <a:srgbClr val="F46883"/>
            </a:solidFill>
            <a:prstDash val="solid"/>
          </a:ln>
        </p:spPr>
      </p:sp>
      <p:sp>
        <p:nvSpPr>
          <p:cNvPr id="49" name="Text 45"/>
          <p:cNvSpPr txBox="1"/>
          <p:nvPr/>
        </p:nvSpPr>
        <p:spPr>
          <a:xfrm>
            <a:off x="8869680" y="287121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CTO/技术</a:t>
            </a:r>
            <a:endParaRPr lang="en-US" sz="980" dirty="0"/>
          </a:p>
        </p:txBody>
      </p:sp>
      <p:sp>
        <p:nvSpPr>
          <p:cNvPr id="50" name="Text 46"/>
          <p:cNvSpPr txBox="1"/>
          <p:nvPr/>
        </p:nvSpPr>
        <p:spPr>
          <a:xfrm>
            <a:off x="7543800" y="3255264"/>
            <a:ext cx="338328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3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[核心技术/成果]</a:t>
            </a:r>
            <a:endParaRPr lang="en-US" sz="1130" dirty="0"/>
          </a:p>
        </p:txBody>
      </p:sp>
      <p:sp>
        <p:nvSpPr>
          <p:cNvPr id="51" name="Shape 47"/>
          <p:cNvSpPr/>
          <p:nvPr/>
        </p:nvSpPr>
        <p:spPr>
          <a:xfrm>
            <a:off x="6720840" y="3941064"/>
            <a:ext cx="658368" cy="658368"/>
          </a:xfrm>
          <a:prstGeom prst="ellipse">
            <a:avLst/>
          </a:prstGeom>
          <a:solidFill>
            <a:srgbClr val="BEE5D3"/>
          </a:solidFill>
          <a:ln w="12700">
            <a:solidFill>
              <a:srgbClr val="BEE5D3"/>
            </a:solidFill>
            <a:prstDash val="solid"/>
          </a:ln>
        </p:spPr>
      </p:sp>
      <p:sp>
        <p:nvSpPr>
          <p:cNvPr id="52" name="Text 48"/>
          <p:cNvSpPr txBox="1"/>
          <p:nvPr/>
        </p:nvSpPr>
        <p:spPr>
          <a:xfrm>
            <a:off x="6720840" y="3941064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927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</a:t>
            </a:r>
            <a:endParaRPr lang="en-US" sz="1800" dirty="0"/>
          </a:p>
        </p:txBody>
      </p:sp>
      <p:sp>
        <p:nvSpPr>
          <p:cNvPr id="53" name="Text 49"/>
          <p:cNvSpPr txBox="1"/>
          <p:nvPr/>
        </p:nvSpPr>
        <p:spPr>
          <a:xfrm>
            <a:off x="7543800" y="3922776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521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[姓名]</a:t>
            </a:r>
            <a:endParaRPr lang="en-US" sz="1600" dirty="0"/>
          </a:p>
        </p:txBody>
      </p:sp>
      <p:sp>
        <p:nvSpPr>
          <p:cNvPr id="54" name="Shape 50"/>
          <p:cNvSpPr/>
          <p:nvPr/>
        </p:nvSpPr>
        <p:spPr>
          <a:xfrm>
            <a:off x="8823960" y="3941064"/>
            <a:ext cx="914400" cy="310896"/>
          </a:xfrm>
          <a:prstGeom prst="roundRect">
            <a:avLst>
              <a:gd name="adj" fmla="val 35294"/>
            </a:avLst>
          </a:prstGeom>
          <a:solidFill>
            <a:srgbClr val="2FAE7B"/>
          </a:solidFill>
          <a:ln w="12700">
            <a:solidFill>
              <a:srgbClr val="2FAE7B"/>
            </a:solidFill>
            <a:prstDash val="solid"/>
          </a:ln>
        </p:spPr>
      </p:sp>
      <p:sp>
        <p:nvSpPr>
          <p:cNvPr id="55" name="Text 51"/>
          <p:cNvSpPr txBox="1"/>
          <p:nvPr/>
        </p:nvSpPr>
        <p:spPr>
          <a:xfrm>
            <a:off x="8869680" y="395020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产品/交付</a:t>
            </a:r>
            <a:endParaRPr lang="en-US" sz="980" dirty="0"/>
          </a:p>
        </p:txBody>
      </p:sp>
      <p:sp>
        <p:nvSpPr>
          <p:cNvPr id="56" name="Text 52"/>
          <p:cNvSpPr txBox="1"/>
          <p:nvPr/>
        </p:nvSpPr>
        <p:spPr>
          <a:xfrm>
            <a:off x="7543800" y="4334256"/>
            <a:ext cx="338328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3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[产品化/落地经验]</a:t>
            </a:r>
            <a:endParaRPr lang="en-US" sz="1130" dirty="0"/>
          </a:p>
        </p:txBody>
      </p:sp>
      <p:sp>
        <p:nvSpPr>
          <p:cNvPr id="57" name="Shape 53"/>
          <p:cNvSpPr/>
          <p:nvPr/>
        </p:nvSpPr>
        <p:spPr>
          <a:xfrm>
            <a:off x="6629400" y="5029200"/>
            <a:ext cx="4343400" cy="438912"/>
          </a:xfrm>
          <a:prstGeom prst="roundRect">
            <a:avLst>
              <a:gd name="adj" fmla="val 16667"/>
            </a:avLst>
          </a:prstGeom>
          <a:solidFill>
            <a:srgbClr val="192747"/>
          </a:solidFill>
          <a:ln w="10160">
            <a:solidFill>
              <a:srgbClr val="192747"/>
            </a:solidFill>
            <a:prstDash val="solid"/>
          </a:ln>
        </p:spPr>
      </p:sp>
      <p:sp>
        <p:nvSpPr>
          <p:cNvPr id="58" name="Text 54"/>
          <p:cNvSpPr txBox="1"/>
          <p:nvPr/>
        </p:nvSpPr>
        <p:spPr>
          <a:xfrm>
            <a:off x="6784848" y="5120640"/>
            <a:ext cx="402336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落地负责人：[姓名]  |  驻场安排：[频率]  |  决策权限：[说明]</a:t>
            </a:r>
            <a:endParaRPr lang="en-US" sz="1050" dirty="0"/>
          </a:p>
        </p:txBody>
      </p:sp>
      <p:sp>
        <p:nvSpPr>
          <p:cNvPr id="59" name="Shape 55"/>
          <p:cNvSpPr/>
          <p:nvPr/>
        </p:nvSpPr>
        <p:spPr>
          <a:xfrm>
            <a:off x="960120" y="5705856"/>
            <a:ext cx="7863840" cy="310896"/>
          </a:xfrm>
          <a:prstGeom prst="roundRect">
            <a:avLst>
              <a:gd name="adj" fmla="val 23529"/>
            </a:avLst>
          </a:prstGeom>
          <a:solidFill>
            <a:srgbClr val="FFF3E7"/>
          </a:solidFill>
          <a:ln w="10160">
            <a:solidFill>
              <a:srgbClr val="F3C39C"/>
            </a:solidFill>
            <a:prstDash val="solid"/>
          </a:ln>
        </p:spPr>
      </p:sp>
      <p:sp>
        <p:nvSpPr>
          <p:cNvPr id="60" name="Text 56"/>
          <p:cNvSpPr txBox="1"/>
          <p:nvPr/>
        </p:nvSpPr>
        <p:spPr>
          <a:xfrm>
            <a:off x="1069848" y="5724144"/>
            <a:ext cx="7644384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8A4B1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模板提示：落地意愿要有时间、主体、负责人和可验证交付物；不要只写“愿意合作”。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7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智极松_content_bg_clean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mnt/data/智极松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2880"/>
            <a:ext cx="1234440" cy="37490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874520" y="164592"/>
            <a:ext cx="6583680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总结与合作诉求</a:t>
            </a:r>
            <a:endParaRPr lang="en-US" sz="2700" dirty="0"/>
          </a:p>
        </p:txBody>
      </p:sp>
      <p:sp>
        <p:nvSpPr>
          <p:cNvPr id="5" name="Text 1"/>
          <p:cNvSpPr txBox="1"/>
          <p:nvPr/>
        </p:nvSpPr>
        <p:spPr>
          <a:xfrm>
            <a:off x="1901952" y="621792"/>
            <a:ext cx="68580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C8D3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用三句话完成收束，并明确希望评委和主办方记住什么、提供什么</a:t>
            </a:r>
            <a:endParaRPr lang="en-US" sz="1050" dirty="0"/>
          </a:p>
        </p:txBody>
      </p:sp>
      <p:sp>
        <p:nvSpPr>
          <p:cNvPr id="6" name="Shape 2"/>
          <p:cNvSpPr/>
          <p:nvPr/>
        </p:nvSpPr>
        <p:spPr>
          <a:xfrm>
            <a:off x="9281160" y="210312"/>
            <a:ext cx="1554480" cy="310896"/>
          </a:xfrm>
          <a:prstGeom prst="roundRect">
            <a:avLst>
              <a:gd name="adj" fmla="val 35294"/>
            </a:avLst>
          </a:prstGeom>
          <a:solidFill>
            <a:srgbClr val="53C6EE"/>
          </a:solidFill>
          <a:ln w="12700">
            <a:solidFill>
              <a:srgbClr val="53C6EE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9326880" y="219456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1927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全维度 · 100分</a:t>
            </a:r>
            <a:endParaRPr lang="en-US" sz="1020" dirty="0"/>
          </a:p>
        </p:txBody>
      </p:sp>
      <p:sp>
        <p:nvSpPr>
          <p:cNvPr id="8" name="Shape 4"/>
          <p:cNvSpPr/>
          <p:nvPr/>
        </p:nvSpPr>
        <p:spPr>
          <a:xfrm>
            <a:off x="10927080" y="210312"/>
            <a:ext cx="822960" cy="310896"/>
          </a:xfrm>
          <a:prstGeom prst="roundRect">
            <a:avLst>
              <a:gd name="adj" fmla="val 35294"/>
            </a:avLst>
          </a:prstGeom>
          <a:solidFill>
            <a:srgbClr val="F46883"/>
          </a:solidFill>
          <a:ln w="12700">
            <a:solidFill>
              <a:srgbClr val="F4688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10972800" y="219456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建议 40秒</a:t>
            </a:r>
            <a:endParaRPr lang="en-US" sz="1020" dirty="0"/>
          </a:p>
        </p:txBody>
      </p:sp>
      <p:sp>
        <p:nvSpPr>
          <p:cNvPr id="10" name="Shape 6"/>
          <p:cNvSpPr/>
          <p:nvPr/>
        </p:nvSpPr>
        <p:spPr>
          <a:xfrm>
            <a:off x="1874520" y="749808"/>
            <a:ext cx="9756648" cy="0"/>
          </a:xfrm>
          <a:prstGeom prst="line">
            <a:avLst/>
          </a:prstGeom>
          <a:noFill/>
          <a:ln w="13970">
            <a:solidFill>
              <a:srgbClr val="53C6EE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38912" y="941832"/>
            <a:ext cx="11311128" cy="5230368"/>
          </a:xfrm>
          <a:prstGeom prst="roundRect">
            <a:avLst>
              <a:gd name="adj" fmla="val 2448"/>
            </a:avLst>
          </a:prstGeom>
          <a:solidFill>
            <a:srgbClr val="F6F8FC"/>
          </a:solidFill>
          <a:ln w="10160">
            <a:solidFill>
              <a:srgbClr val="E1E6F0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9464040" y="6446520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C6D0E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智极松决赛路演模板  |  第 12 页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868680" y="1243584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927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为什么值得进入下一阶段</a:t>
            </a:r>
            <a:endParaRPr lang="en-US" sz="1800" dirty="0"/>
          </a:p>
        </p:txBody>
      </p:sp>
      <p:sp>
        <p:nvSpPr>
          <p:cNvPr id="14" name="Shape 10"/>
          <p:cNvSpPr/>
          <p:nvPr/>
        </p:nvSpPr>
        <p:spPr>
          <a:xfrm>
            <a:off x="868680" y="1755648"/>
            <a:ext cx="653796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0160">
            <a:solidFill>
              <a:srgbClr val="DDE4E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078992" y="1911096"/>
            <a:ext cx="475488" cy="475488"/>
          </a:xfrm>
          <a:prstGeom prst="ellipse">
            <a:avLst/>
          </a:prstGeom>
          <a:solidFill>
            <a:srgbClr val="53C6EE"/>
          </a:solidFill>
          <a:ln w="12700">
            <a:solidFill>
              <a:srgbClr val="53C6EE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1078992" y="1911096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1700784" y="1984248"/>
            <a:ext cx="658368" cy="310896"/>
          </a:xfrm>
          <a:prstGeom prst="roundRect">
            <a:avLst>
              <a:gd name="adj" fmla="val 35294"/>
            </a:avLst>
          </a:prstGeom>
          <a:solidFill>
            <a:srgbClr val="53C6EE"/>
          </a:solidFill>
          <a:ln w="12700">
            <a:solidFill>
              <a:srgbClr val="53C6EE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1746504" y="1993392"/>
            <a:ext cx="566928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价值</a:t>
            </a:r>
            <a:endParaRPr lang="en-US" sz="1030" dirty="0"/>
          </a:p>
        </p:txBody>
      </p:sp>
      <p:sp>
        <p:nvSpPr>
          <p:cNvPr id="19" name="Text 15"/>
          <p:cNvSpPr txBox="1"/>
          <p:nvPr/>
        </p:nvSpPr>
        <p:spPr>
          <a:xfrm>
            <a:off x="2542032" y="1874520"/>
            <a:ext cx="4526280" cy="5120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521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解决 [真实高价值痛点]，客户收益为 [量化结果]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868680" y="2743200"/>
            <a:ext cx="653796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0160">
            <a:solidFill>
              <a:srgbClr val="DDE4EF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1078992" y="2898648"/>
            <a:ext cx="475488" cy="475488"/>
          </a:xfrm>
          <a:prstGeom prst="ellipse">
            <a:avLst/>
          </a:prstGeom>
          <a:solidFill>
            <a:srgbClr val="F46883"/>
          </a:solidFill>
          <a:ln w="12700">
            <a:solidFill>
              <a:srgbClr val="F46883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1078992" y="2898648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1700784" y="2971800"/>
            <a:ext cx="658368" cy="310896"/>
          </a:xfrm>
          <a:prstGeom prst="roundRect">
            <a:avLst>
              <a:gd name="adj" fmla="val 35294"/>
            </a:avLst>
          </a:prstGeom>
          <a:solidFill>
            <a:srgbClr val="F46883"/>
          </a:solidFill>
          <a:ln w="12700">
            <a:solidFill>
              <a:srgbClr val="F46883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1746504" y="2980944"/>
            <a:ext cx="566928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能力</a:t>
            </a:r>
            <a:endParaRPr lang="en-US" sz="1030" dirty="0"/>
          </a:p>
        </p:txBody>
      </p:sp>
      <p:sp>
        <p:nvSpPr>
          <p:cNvPr id="25" name="Text 21"/>
          <p:cNvSpPr txBox="1"/>
          <p:nvPr/>
        </p:nvSpPr>
        <p:spPr>
          <a:xfrm>
            <a:off x="2542032" y="2862072"/>
            <a:ext cx="4526280" cy="5120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521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核心创新为 [一句话]，Demo 已证明 [最强证据]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868680" y="3730752"/>
            <a:ext cx="653796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0160">
            <a:solidFill>
              <a:srgbClr val="DDE4EF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1078992" y="3886200"/>
            <a:ext cx="475488" cy="475488"/>
          </a:xfrm>
          <a:prstGeom prst="ellipse">
            <a:avLst/>
          </a:prstGeom>
          <a:solidFill>
            <a:srgbClr val="3C8EDB"/>
          </a:solidFill>
          <a:ln w="12700">
            <a:solidFill>
              <a:srgbClr val="3C8EDB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1078992" y="3886200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1300" dirty="0"/>
          </a:p>
        </p:txBody>
      </p:sp>
      <p:sp>
        <p:nvSpPr>
          <p:cNvPr id="29" name="Shape 25"/>
          <p:cNvSpPr/>
          <p:nvPr/>
        </p:nvSpPr>
        <p:spPr>
          <a:xfrm>
            <a:off x="1700784" y="3959352"/>
            <a:ext cx="658368" cy="310896"/>
          </a:xfrm>
          <a:prstGeom prst="roundRect">
            <a:avLst>
              <a:gd name="adj" fmla="val 35294"/>
            </a:avLst>
          </a:prstGeom>
          <a:solidFill>
            <a:srgbClr val="3C8EDB"/>
          </a:solidFill>
          <a:ln w="12700">
            <a:solidFill>
              <a:srgbClr val="3C8EDB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1746504" y="3968496"/>
            <a:ext cx="566928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成长</a:t>
            </a:r>
            <a:endParaRPr lang="en-US" sz="1030" dirty="0"/>
          </a:p>
        </p:txBody>
      </p:sp>
      <p:sp>
        <p:nvSpPr>
          <p:cNvPr id="31" name="Text 27"/>
          <p:cNvSpPr txBox="1"/>
          <p:nvPr/>
        </p:nvSpPr>
        <p:spPr>
          <a:xfrm>
            <a:off x="2542032" y="3849624"/>
            <a:ext cx="4526280" cy="5120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521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已取得 [用户/试点/收入]，未来 [里程碑] 可验证</a:t>
            </a:r>
            <a:endParaRPr lang="en-US" sz="1500" dirty="0"/>
          </a:p>
        </p:txBody>
      </p:sp>
      <p:sp>
        <p:nvSpPr>
          <p:cNvPr id="32" name="Shape 28"/>
          <p:cNvSpPr/>
          <p:nvPr/>
        </p:nvSpPr>
        <p:spPr>
          <a:xfrm>
            <a:off x="7699248" y="1481328"/>
            <a:ext cx="3246120" cy="3337560"/>
          </a:xfrm>
          <a:prstGeom prst="roundRect">
            <a:avLst>
              <a:gd name="adj" fmla="val 3380"/>
            </a:avLst>
          </a:prstGeom>
          <a:solidFill>
            <a:srgbClr val="192747"/>
          </a:solidFill>
          <a:ln w="10160">
            <a:solidFill>
              <a:srgbClr val="192747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7973568" y="1755648"/>
            <a:ext cx="269748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我们的合作诉求</a:t>
            </a:r>
            <a:endParaRPr lang="en-US" sz="2100" dirty="0"/>
          </a:p>
        </p:txBody>
      </p:sp>
      <p:sp>
        <p:nvSpPr>
          <p:cNvPr id="34" name="Shape 30"/>
          <p:cNvSpPr/>
          <p:nvPr/>
        </p:nvSpPr>
        <p:spPr>
          <a:xfrm>
            <a:off x="8028432" y="2395728"/>
            <a:ext cx="347472" cy="310896"/>
          </a:xfrm>
          <a:prstGeom prst="roundRect">
            <a:avLst>
              <a:gd name="adj" fmla="val 35294"/>
            </a:avLst>
          </a:prstGeom>
          <a:solidFill>
            <a:srgbClr val="53C6EE"/>
          </a:solidFill>
          <a:ln w="12700">
            <a:solidFill>
              <a:srgbClr val="53C6EE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8074152" y="2404872"/>
            <a:ext cx="256032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020" dirty="0"/>
          </a:p>
        </p:txBody>
      </p:sp>
      <p:sp>
        <p:nvSpPr>
          <p:cNvPr id="36" name="Text 32"/>
          <p:cNvSpPr txBox="1"/>
          <p:nvPr/>
        </p:nvSpPr>
        <p:spPr>
          <a:xfrm>
            <a:off x="8522208" y="2377440"/>
            <a:ext cx="205740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EAF0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[试点客户 / 场景]</a:t>
            </a:r>
            <a:endParaRPr lang="en-US" sz="1350" dirty="0"/>
          </a:p>
        </p:txBody>
      </p:sp>
      <p:sp>
        <p:nvSpPr>
          <p:cNvPr id="37" name="Shape 33"/>
          <p:cNvSpPr/>
          <p:nvPr/>
        </p:nvSpPr>
        <p:spPr>
          <a:xfrm>
            <a:off x="8028432" y="2898648"/>
            <a:ext cx="347472" cy="310896"/>
          </a:xfrm>
          <a:prstGeom prst="roundRect">
            <a:avLst>
              <a:gd name="adj" fmla="val 35294"/>
            </a:avLst>
          </a:prstGeom>
          <a:solidFill>
            <a:srgbClr val="F46883"/>
          </a:solidFill>
          <a:ln w="12700">
            <a:solidFill>
              <a:srgbClr val="F46883"/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8074152" y="2907792"/>
            <a:ext cx="256032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020" dirty="0"/>
          </a:p>
        </p:txBody>
      </p:sp>
      <p:sp>
        <p:nvSpPr>
          <p:cNvPr id="39" name="Text 35"/>
          <p:cNvSpPr txBox="1"/>
          <p:nvPr/>
        </p:nvSpPr>
        <p:spPr>
          <a:xfrm>
            <a:off x="8522208" y="2880360"/>
            <a:ext cx="205740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EAF0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[产业伙伴 / 渠道]</a:t>
            </a:r>
            <a:endParaRPr lang="en-US" sz="1350" dirty="0"/>
          </a:p>
        </p:txBody>
      </p:sp>
      <p:sp>
        <p:nvSpPr>
          <p:cNvPr id="40" name="Shape 36"/>
          <p:cNvSpPr/>
          <p:nvPr/>
        </p:nvSpPr>
        <p:spPr>
          <a:xfrm>
            <a:off x="8028432" y="3401568"/>
            <a:ext cx="347472" cy="310896"/>
          </a:xfrm>
          <a:prstGeom prst="roundRect">
            <a:avLst>
              <a:gd name="adj" fmla="val 35294"/>
            </a:avLst>
          </a:prstGeom>
          <a:solidFill>
            <a:srgbClr val="F39A72"/>
          </a:solidFill>
          <a:ln w="12700">
            <a:solidFill>
              <a:srgbClr val="F39A72"/>
            </a:solidFill>
            <a:prstDash val="solid"/>
          </a:ln>
        </p:spPr>
      </p:sp>
      <p:sp>
        <p:nvSpPr>
          <p:cNvPr id="41" name="Text 37"/>
          <p:cNvSpPr txBox="1"/>
          <p:nvPr/>
        </p:nvSpPr>
        <p:spPr>
          <a:xfrm>
            <a:off x="8074152" y="3410712"/>
            <a:ext cx="256032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020" dirty="0"/>
          </a:p>
        </p:txBody>
      </p:sp>
      <p:sp>
        <p:nvSpPr>
          <p:cNvPr id="42" name="Text 38"/>
          <p:cNvSpPr txBox="1"/>
          <p:nvPr/>
        </p:nvSpPr>
        <p:spPr>
          <a:xfrm>
            <a:off x="8522208" y="3383280"/>
            <a:ext cx="205740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EAF0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[投资 / 融资]</a:t>
            </a:r>
            <a:endParaRPr lang="en-US" sz="1350" dirty="0"/>
          </a:p>
        </p:txBody>
      </p:sp>
      <p:sp>
        <p:nvSpPr>
          <p:cNvPr id="43" name="Shape 39"/>
          <p:cNvSpPr/>
          <p:nvPr/>
        </p:nvSpPr>
        <p:spPr>
          <a:xfrm>
            <a:off x="8028432" y="3904488"/>
            <a:ext cx="347472" cy="310896"/>
          </a:xfrm>
          <a:prstGeom prst="roundRect">
            <a:avLst>
              <a:gd name="adj" fmla="val 35294"/>
            </a:avLst>
          </a:prstGeom>
          <a:solidFill>
            <a:srgbClr val="6F58D9"/>
          </a:solidFill>
          <a:ln w="12700">
            <a:solidFill>
              <a:srgbClr val="6F58D9"/>
            </a:solidFill>
            <a:prstDash val="solid"/>
          </a:ln>
        </p:spPr>
      </p:sp>
      <p:sp>
        <p:nvSpPr>
          <p:cNvPr id="44" name="Text 40"/>
          <p:cNvSpPr txBox="1"/>
          <p:nvPr/>
        </p:nvSpPr>
        <p:spPr>
          <a:xfrm>
            <a:off x="8074152" y="3913632"/>
            <a:ext cx="256032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020" dirty="0"/>
          </a:p>
        </p:txBody>
      </p:sp>
      <p:sp>
        <p:nvSpPr>
          <p:cNvPr id="45" name="Text 41"/>
          <p:cNvSpPr txBox="1"/>
          <p:nvPr/>
        </p:nvSpPr>
        <p:spPr>
          <a:xfrm>
            <a:off x="8522208" y="3886200"/>
            <a:ext cx="205740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EAF0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[注册驻场 / 政策资源]</a:t>
            </a:r>
            <a:endParaRPr lang="en-US" sz="1350" dirty="0"/>
          </a:p>
        </p:txBody>
      </p:sp>
      <p:sp>
        <p:nvSpPr>
          <p:cNvPr id="46" name="Shape 42"/>
          <p:cNvSpPr/>
          <p:nvPr/>
        </p:nvSpPr>
        <p:spPr>
          <a:xfrm>
            <a:off x="868680" y="4983480"/>
            <a:ext cx="10085832" cy="530352"/>
          </a:xfrm>
          <a:prstGeom prst="roundRect">
            <a:avLst>
              <a:gd name="adj" fmla="val 17241"/>
            </a:avLst>
          </a:prstGeom>
          <a:solidFill>
            <a:srgbClr val="EAF4FB"/>
          </a:solidFill>
          <a:ln w="10160">
            <a:solidFill>
              <a:srgbClr val="C7DDF0"/>
            </a:solidFill>
            <a:prstDash val="solid"/>
          </a:ln>
        </p:spPr>
      </p:sp>
      <p:sp>
        <p:nvSpPr>
          <p:cNvPr id="47" name="Text 43"/>
          <p:cNvSpPr txBox="1"/>
          <p:nvPr/>
        </p:nvSpPr>
        <p:spPr>
          <a:xfrm>
            <a:off x="1097280" y="5084064"/>
            <a:ext cx="960120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927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结束语：[一句可记忆的口号/愿景]  ——  谢谢各位评委</a:t>
            </a:r>
            <a:endParaRPr lang="en-US" sz="1700" dirty="0"/>
          </a:p>
        </p:txBody>
      </p:sp>
      <p:sp>
        <p:nvSpPr>
          <p:cNvPr id="48" name="Shape 44"/>
          <p:cNvSpPr/>
          <p:nvPr/>
        </p:nvSpPr>
        <p:spPr>
          <a:xfrm>
            <a:off x="960120" y="5705856"/>
            <a:ext cx="6217920" cy="310896"/>
          </a:xfrm>
          <a:prstGeom prst="roundRect">
            <a:avLst>
              <a:gd name="adj" fmla="val 23529"/>
            </a:avLst>
          </a:prstGeom>
          <a:solidFill>
            <a:srgbClr val="FFF3E7"/>
          </a:solidFill>
          <a:ln w="10160">
            <a:solidFill>
              <a:srgbClr val="F3C39C"/>
            </a:solidFill>
            <a:prstDash val="solid"/>
          </a:ln>
        </p:spPr>
      </p:sp>
      <p:sp>
        <p:nvSpPr>
          <p:cNvPr id="49" name="Text 45"/>
          <p:cNvSpPr txBox="1"/>
          <p:nvPr/>
        </p:nvSpPr>
        <p:spPr>
          <a:xfrm>
            <a:off x="1069848" y="5724144"/>
            <a:ext cx="5998464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8A4B1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模板提示：不要在最后新增信息；只重复最强结论和明确合作诉求。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7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智极松_content_bg_clean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mnt/data/智极松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2880"/>
            <a:ext cx="1234440" cy="37490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874520" y="164592"/>
            <a:ext cx="6583680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备份 1：技术原理与系统架构</a:t>
            </a:r>
            <a:endParaRPr lang="en-US" sz="2700" dirty="0"/>
          </a:p>
        </p:txBody>
      </p:sp>
      <p:sp>
        <p:nvSpPr>
          <p:cNvPr id="5" name="Text 1"/>
          <p:cNvSpPr txBox="1"/>
          <p:nvPr/>
        </p:nvSpPr>
        <p:spPr>
          <a:xfrm>
            <a:off x="1901952" y="621792"/>
            <a:ext cx="68580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C8D3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用于回答技术路线、依赖、边界、性能与可扩展性问题</a:t>
            </a:r>
            <a:endParaRPr lang="en-US" sz="1050" dirty="0"/>
          </a:p>
        </p:txBody>
      </p:sp>
      <p:sp>
        <p:nvSpPr>
          <p:cNvPr id="6" name="Shape 2"/>
          <p:cNvSpPr/>
          <p:nvPr/>
        </p:nvSpPr>
        <p:spPr>
          <a:xfrm>
            <a:off x="9281160" y="210312"/>
            <a:ext cx="1554480" cy="310896"/>
          </a:xfrm>
          <a:prstGeom prst="roundRect">
            <a:avLst>
              <a:gd name="adj" fmla="val 35294"/>
            </a:avLst>
          </a:prstGeom>
          <a:solidFill>
            <a:srgbClr val="53C6EE"/>
          </a:solidFill>
          <a:ln w="12700">
            <a:solidFill>
              <a:srgbClr val="53C6EE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9326880" y="219456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1927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答辩备份 · —分</a:t>
            </a:r>
            <a:endParaRPr lang="en-US" sz="1020" dirty="0"/>
          </a:p>
        </p:txBody>
      </p:sp>
      <p:sp>
        <p:nvSpPr>
          <p:cNvPr id="8" name="Shape 4"/>
          <p:cNvSpPr/>
          <p:nvPr/>
        </p:nvSpPr>
        <p:spPr>
          <a:xfrm>
            <a:off x="10927080" y="210312"/>
            <a:ext cx="822960" cy="310896"/>
          </a:xfrm>
          <a:prstGeom prst="roundRect">
            <a:avLst>
              <a:gd name="adj" fmla="val 35294"/>
            </a:avLst>
          </a:prstGeom>
          <a:solidFill>
            <a:srgbClr val="F46883"/>
          </a:solidFill>
          <a:ln w="12700">
            <a:solidFill>
              <a:srgbClr val="F4688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10972800" y="219456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建议 按需</a:t>
            </a:r>
            <a:endParaRPr lang="en-US" sz="1020" dirty="0"/>
          </a:p>
        </p:txBody>
      </p:sp>
      <p:sp>
        <p:nvSpPr>
          <p:cNvPr id="10" name="Shape 6"/>
          <p:cNvSpPr/>
          <p:nvPr/>
        </p:nvSpPr>
        <p:spPr>
          <a:xfrm>
            <a:off x="1874520" y="749808"/>
            <a:ext cx="9756648" cy="0"/>
          </a:xfrm>
          <a:prstGeom prst="line">
            <a:avLst/>
          </a:prstGeom>
          <a:noFill/>
          <a:ln w="13970">
            <a:solidFill>
              <a:srgbClr val="53C6EE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38912" y="941832"/>
            <a:ext cx="11311128" cy="5230368"/>
          </a:xfrm>
          <a:prstGeom prst="roundRect">
            <a:avLst>
              <a:gd name="adj" fmla="val 2448"/>
            </a:avLst>
          </a:prstGeom>
          <a:solidFill>
            <a:srgbClr val="F6F8FC"/>
          </a:solidFill>
          <a:ln w="10160">
            <a:solidFill>
              <a:srgbClr val="E1E6F0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9464040" y="6446520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C6D0E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智极松决赛路演模板  |  第 13 页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868680" y="1207008"/>
            <a:ext cx="594360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927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建议展示：数据流、模型/Agent、业务系统、部署与安全边界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914400" y="1874520"/>
            <a:ext cx="1508760" cy="914400"/>
          </a:xfrm>
          <a:prstGeom prst="roundRect">
            <a:avLst>
              <a:gd name="adj" fmla="val 10000"/>
            </a:avLst>
          </a:prstGeom>
          <a:solidFill>
            <a:srgbClr val="EAF4FB"/>
          </a:solidFill>
          <a:ln w="10160">
            <a:solidFill>
              <a:srgbClr val="DCE4EF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1051560" y="2139696"/>
            <a:ext cx="123444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521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数据/设备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2423160" y="2331720"/>
            <a:ext cx="457200" cy="0"/>
          </a:xfrm>
          <a:prstGeom prst="line">
            <a:avLst/>
          </a:prstGeom>
          <a:noFill/>
          <a:ln w="20320">
            <a:solidFill>
              <a:srgbClr val="8FA1BF"/>
            </a:solidFill>
            <a:prstDash val="solid"/>
            <a:tailEnd type="triangle"/>
          </a:ln>
        </p:spPr>
      </p:sp>
      <p:sp>
        <p:nvSpPr>
          <p:cNvPr id="17" name="Shape 13"/>
          <p:cNvSpPr/>
          <p:nvPr/>
        </p:nvSpPr>
        <p:spPr>
          <a:xfrm>
            <a:off x="2880360" y="1874520"/>
            <a:ext cx="1508760" cy="914400"/>
          </a:xfrm>
          <a:prstGeom prst="roundRect">
            <a:avLst>
              <a:gd name="adj" fmla="val 10000"/>
            </a:avLst>
          </a:prstGeom>
          <a:solidFill>
            <a:srgbClr val="F1ECFB"/>
          </a:solidFill>
          <a:ln w="10160">
            <a:solidFill>
              <a:srgbClr val="DCE4EF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3017520" y="2139696"/>
            <a:ext cx="123444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521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模型/算法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4389120" y="2331720"/>
            <a:ext cx="457200" cy="0"/>
          </a:xfrm>
          <a:prstGeom prst="line">
            <a:avLst/>
          </a:prstGeom>
          <a:noFill/>
          <a:ln w="20320">
            <a:solidFill>
              <a:srgbClr val="8FA1BF"/>
            </a:solidFill>
            <a:prstDash val="solid"/>
            <a:tailEnd type="triangle"/>
          </a:ln>
        </p:spPr>
      </p:sp>
      <p:sp>
        <p:nvSpPr>
          <p:cNvPr id="20" name="Shape 16"/>
          <p:cNvSpPr/>
          <p:nvPr/>
        </p:nvSpPr>
        <p:spPr>
          <a:xfrm>
            <a:off x="4846320" y="1874520"/>
            <a:ext cx="1508760" cy="914400"/>
          </a:xfrm>
          <a:prstGeom prst="roundRect">
            <a:avLst>
              <a:gd name="adj" fmla="val 10000"/>
            </a:avLst>
          </a:prstGeom>
          <a:solidFill>
            <a:srgbClr val="FCEEF2"/>
          </a:solidFill>
          <a:ln w="10160">
            <a:solidFill>
              <a:srgbClr val="DCE4EF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4983480" y="2139696"/>
            <a:ext cx="123444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521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Agent/编排</a:t>
            </a:r>
            <a:endParaRPr lang="en-US" sz="1600" dirty="0"/>
          </a:p>
        </p:txBody>
      </p:sp>
      <p:sp>
        <p:nvSpPr>
          <p:cNvPr id="22" name="Shape 18"/>
          <p:cNvSpPr/>
          <p:nvPr/>
        </p:nvSpPr>
        <p:spPr>
          <a:xfrm>
            <a:off x="6355080" y="2331720"/>
            <a:ext cx="457200" cy="0"/>
          </a:xfrm>
          <a:prstGeom prst="line">
            <a:avLst/>
          </a:prstGeom>
          <a:noFill/>
          <a:ln w="20320">
            <a:solidFill>
              <a:srgbClr val="8FA1BF"/>
            </a:solidFill>
            <a:prstDash val="solid"/>
            <a:tailEnd type="triangle"/>
          </a:ln>
        </p:spPr>
      </p:sp>
      <p:sp>
        <p:nvSpPr>
          <p:cNvPr id="23" name="Shape 19"/>
          <p:cNvSpPr/>
          <p:nvPr/>
        </p:nvSpPr>
        <p:spPr>
          <a:xfrm>
            <a:off x="6812280" y="1874520"/>
            <a:ext cx="1508760" cy="914400"/>
          </a:xfrm>
          <a:prstGeom prst="roundRect">
            <a:avLst>
              <a:gd name="adj" fmla="val 10000"/>
            </a:avLst>
          </a:prstGeom>
          <a:solidFill>
            <a:srgbClr val="EAF7F0"/>
          </a:solidFill>
          <a:ln w="10160">
            <a:solidFill>
              <a:srgbClr val="DCE4EF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6949440" y="2139696"/>
            <a:ext cx="123444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521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业务系统</a:t>
            </a:r>
            <a:endParaRPr lang="en-US" sz="1600" dirty="0"/>
          </a:p>
        </p:txBody>
      </p:sp>
      <p:sp>
        <p:nvSpPr>
          <p:cNvPr id="25" name="Shape 21"/>
          <p:cNvSpPr/>
          <p:nvPr/>
        </p:nvSpPr>
        <p:spPr>
          <a:xfrm>
            <a:off x="8321040" y="2331720"/>
            <a:ext cx="457200" cy="0"/>
          </a:xfrm>
          <a:prstGeom prst="line">
            <a:avLst/>
          </a:prstGeom>
          <a:noFill/>
          <a:ln w="20320">
            <a:solidFill>
              <a:srgbClr val="8FA1BF"/>
            </a:solidFill>
            <a:prstDash val="solid"/>
            <a:tailEnd type="triangle"/>
          </a:ln>
        </p:spPr>
      </p:sp>
      <p:sp>
        <p:nvSpPr>
          <p:cNvPr id="26" name="Shape 22"/>
          <p:cNvSpPr/>
          <p:nvPr/>
        </p:nvSpPr>
        <p:spPr>
          <a:xfrm>
            <a:off x="8778240" y="1874520"/>
            <a:ext cx="1508760" cy="914400"/>
          </a:xfrm>
          <a:prstGeom prst="roundRect">
            <a:avLst>
              <a:gd name="adj" fmla="val 10000"/>
            </a:avLst>
          </a:prstGeom>
          <a:solidFill>
            <a:srgbClr val="FFF7E2"/>
          </a:solidFill>
          <a:ln w="10160">
            <a:solidFill>
              <a:srgbClr val="DCE4EF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8915400" y="2139696"/>
            <a:ext cx="123444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521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用户/决策</a:t>
            </a:r>
            <a:endParaRPr lang="en-US" sz="1600" dirty="0"/>
          </a:p>
        </p:txBody>
      </p:sp>
      <p:sp>
        <p:nvSpPr>
          <p:cNvPr id="28" name="Shape 24"/>
          <p:cNvSpPr/>
          <p:nvPr/>
        </p:nvSpPr>
        <p:spPr>
          <a:xfrm>
            <a:off x="914400" y="3246120"/>
            <a:ext cx="93726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DE4EF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1143000" y="347472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927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关键技术问题</a:t>
            </a:r>
            <a:endParaRPr lang="en-US" sz="1400" dirty="0"/>
          </a:p>
        </p:txBody>
      </p:sp>
      <p:sp>
        <p:nvSpPr>
          <p:cNvPr id="30" name="Text 26"/>
          <p:cNvSpPr txBox="1"/>
          <p:nvPr/>
        </p:nvSpPr>
        <p:spPr>
          <a:xfrm>
            <a:off x="2468880" y="3410712"/>
            <a:ext cx="745236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21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[难点与突破]  ② [性能/成本权衡]  ③ [安全/隐私/可靠性]  ④ [扩展与部署]</a:t>
            </a:r>
            <a:endParaRPr lang="en-US" sz="1400" dirty="0"/>
          </a:p>
        </p:txBody>
      </p:sp>
      <p:sp>
        <p:nvSpPr>
          <p:cNvPr id="31" name="Shape 27"/>
          <p:cNvSpPr/>
          <p:nvPr/>
        </p:nvSpPr>
        <p:spPr>
          <a:xfrm>
            <a:off x="914400" y="4709160"/>
            <a:ext cx="9372600" cy="658368"/>
          </a:xfrm>
          <a:prstGeom prst="roundRect">
            <a:avLst>
              <a:gd name="adj" fmla="val 13889"/>
            </a:avLst>
          </a:prstGeom>
          <a:solidFill>
            <a:srgbClr val="EEF3FA"/>
          </a:solidFill>
          <a:ln w="10160">
            <a:solidFill>
              <a:srgbClr val="DDE4EF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1143000" y="4864608"/>
            <a:ext cx="891540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927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技术边界与不足：[当前无法解决什么]  |  应对：[后续实验/工程/合作计划]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7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智极松_content_bg_clean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mnt/data/智极松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2880"/>
            <a:ext cx="1234440" cy="37490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874520" y="164592"/>
            <a:ext cx="6583680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备份 2：竞品与替代方案对比</a:t>
            </a:r>
            <a:endParaRPr lang="en-US" sz="2700" dirty="0"/>
          </a:p>
        </p:txBody>
      </p:sp>
      <p:sp>
        <p:nvSpPr>
          <p:cNvPr id="5" name="Text 1"/>
          <p:cNvSpPr txBox="1"/>
          <p:nvPr/>
        </p:nvSpPr>
        <p:spPr>
          <a:xfrm>
            <a:off x="1901952" y="621792"/>
            <a:ext cx="68580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C8D3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避免只与同类创业公司比较，也要覆盖人工流程、传统软件和平台方案</a:t>
            </a:r>
            <a:endParaRPr lang="en-US" sz="1050" dirty="0"/>
          </a:p>
        </p:txBody>
      </p:sp>
      <p:sp>
        <p:nvSpPr>
          <p:cNvPr id="6" name="Shape 2"/>
          <p:cNvSpPr/>
          <p:nvPr/>
        </p:nvSpPr>
        <p:spPr>
          <a:xfrm>
            <a:off x="9281160" y="210312"/>
            <a:ext cx="1554480" cy="310896"/>
          </a:xfrm>
          <a:prstGeom prst="roundRect">
            <a:avLst>
              <a:gd name="adj" fmla="val 35294"/>
            </a:avLst>
          </a:prstGeom>
          <a:solidFill>
            <a:srgbClr val="53C6EE"/>
          </a:solidFill>
          <a:ln w="12700">
            <a:solidFill>
              <a:srgbClr val="53C6EE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9326880" y="219456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1927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答辩备份 · —分</a:t>
            </a:r>
            <a:endParaRPr lang="en-US" sz="1020" dirty="0"/>
          </a:p>
        </p:txBody>
      </p:sp>
      <p:sp>
        <p:nvSpPr>
          <p:cNvPr id="8" name="Shape 4"/>
          <p:cNvSpPr/>
          <p:nvPr/>
        </p:nvSpPr>
        <p:spPr>
          <a:xfrm>
            <a:off x="10927080" y="210312"/>
            <a:ext cx="822960" cy="310896"/>
          </a:xfrm>
          <a:prstGeom prst="roundRect">
            <a:avLst>
              <a:gd name="adj" fmla="val 35294"/>
            </a:avLst>
          </a:prstGeom>
          <a:solidFill>
            <a:srgbClr val="F46883"/>
          </a:solidFill>
          <a:ln w="12700">
            <a:solidFill>
              <a:srgbClr val="F4688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10972800" y="219456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建议 按需</a:t>
            </a:r>
            <a:endParaRPr lang="en-US" sz="1020" dirty="0"/>
          </a:p>
        </p:txBody>
      </p:sp>
      <p:sp>
        <p:nvSpPr>
          <p:cNvPr id="10" name="Shape 6"/>
          <p:cNvSpPr/>
          <p:nvPr/>
        </p:nvSpPr>
        <p:spPr>
          <a:xfrm>
            <a:off x="1874520" y="749808"/>
            <a:ext cx="9756648" cy="0"/>
          </a:xfrm>
          <a:prstGeom prst="line">
            <a:avLst/>
          </a:prstGeom>
          <a:noFill/>
          <a:ln w="13970">
            <a:solidFill>
              <a:srgbClr val="53C6EE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38912" y="941832"/>
            <a:ext cx="11311128" cy="5230368"/>
          </a:xfrm>
          <a:prstGeom prst="roundRect">
            <a:avLst>
              <a:gd name="adj" fmla="val 2448"/>
            </a:avLst>
          </a:prstGeom>
          <a:solidFill>
            <a:srgbClr val="F6F8FC"/>
          </a:solidFill>
          <a:ln w="10160">
            <a:solidFill>
              <a:srgbClr val="E1E6F0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9464040" y="6446520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C6D0E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智极松决赛路演模板  |  第 14 页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868680" y="1325880"/>
            <a:ext cx="1783080" cy="530352"/>
          </a:xfrm>
          <a:prstGeom prst="roundRect">
            <a:avLst>
              <a:gd name="adj" fmla="val 8621"/>
            </a:avLst>
          </a:prstGeom>
          <a:solidFill>
            <a:srgbClr val="233566"/>
          </a:solidFill>
          <a:ln w="10160">
            <a:solidFill>
              <a:srgbClr val="233566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941832" y="1408176"/>
            <a:ext cx="163677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比较项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2743200" y="1325880"/>
            <a:ext cx="1874520" cy="530352"/>
          </a:xfrm>
          <a:prstGeom prst="roundRect">
            <a:avLst>
              <a:gd name="adj" fmla="val 8621"/>
            </a:avLst>
          </a:prstGeom>
          <a:solidFill>
            <a:srgbClr val="53C6EE"/>
          </a:solidFill>
          <a:ln w="10160">
            <a:solidFill>
              <a:srgbClr val="53C6EE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2816352" y="1408176"/>
            <a:ext cx="172821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本项目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4800600" y="1325880"/>
            <a:ext cx="1874520" cy="530352"/>
          </a:xfrm>
          <a:prstGeom prst="roundRect">
            <a:avLst>
              <a:gd name="adj" fmla="val 8621"/>
            </a:avLst>
          </a:prstGeom>
          <a:solidFill>
            <a:srgbClr val="233566"/>
          </a:solidFill>
          <a:ln w="10160">
            <a:solidFill>
              <a:srgbClr val="233566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4873752" y="1408176"/>
            <a:ext cx="172821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替代方案A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6858000" y="1325880"/>
            <a:ext cx="1874520" cy="530352"/>
          </a:xfrm>
          <a:prstGeom prst="roundRect">
            <a:avLst>
              <a:gd name="adj" fmla="val 8621"/>
            </a:avLst>
          </a:prstGeom>
          <a:solidFill>
            <a:srgbClr val="233566"/>
          </a:solidFill>
          <a:ln w="10160">
            <a:solidFill>
              <a:srgbClr val="233566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6931152" y="1408176"/>
            <a:ext cx="172821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替代方案B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8915400" y="1325880"/>
            <a:ext cx="1874520" cy="530352"/>
          </a:xfrm>
          <a:prstGeom prst="roundRect">
            <a:avLst>
              <a:gd name="adj" fmla="val 8621"/>
            </a:avLst>
          </a:prstGeom>
          <a:solidFill>
            <a:srgbClr val="233566"/>
          </a:solidFill>
          <a:ln w="10160">
            <a:solidFill>
              <a:srgbClr val="233566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8988552" y="1408176"/>
            <a:ext cx="172821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人工/传统流程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868680" y="1901952"/>
            <a:ext cx="178308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160">
            <a:solidFill>
              <a:srgbClr val="DCE3EE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941832" y="1975104"/>
            <a:ext cx="1636776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521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核心能力</a:t>
            </a:r>
            <a:endParaRPr lang="en-US" sz="1150" dirty="0"/>
          </a:p>
        </p:txBody>
      </p:sp>
      <p:sp>
        <p:nvSpPr>
          <p:cNvPr id="25" name="Shape 21"/>
          <p:cNvSpPr/>
          <p:nvPr/>
        </p:nvSpPr>
        <p:spPr>
          <a:xfrm>
            <a:off x="2743200" y="1901952"/>
            <a:ext cx="1874520" cy="530352"/>
          </a:xfrm>
          <a:prstGeom prst="roundRect">
            <a:avLst>
              <a:gd name="adj" fmla="val 6897"/>
            </a:avLst>
          </a:prstGeom>
          <a:solidFill>
            <a:srgbClr val="EAF4FB"/>
          </a:solidFill>
          <a:ln w="10160">
            <a:solidFill>
              <a:srgbClr val="DCE3EE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2816352" y="1975104"/>
            <a:ext cx="1728216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927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[强]</a:t>
            </a:r>
            <a:endParaRPr lang="en-US" sz="1150" dirty="0"/>
          </a:p>
        </p:txBody>
      </p:sp>
      <p:sp>
        <p:nvSpPr>
          <p:cNvPr id="27" name="Shape 23"/>
          <p:cNvSpPr/>
          <p:nvPr/>
        </p:nvSpPr>
        <p:spPr>
          <a:xfrm>
            <a:off x="4800600" y="1901952"/>
            <a:ext cx="187452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160">
            <a:solidFill>
              <a:srgbClr val="DCE3EE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4873752" y="1975104"/>
            <a:ext cx="1728216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521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[中]</a:t>
            </a:r>
            <a:endParaRPr lang="en-US" sz="1150" dirty="0"/>
          </a:p>
        </p:txBody>
      </p:sp>
      <p:sp>
        <p:nvSpPr>
          <p:cNvPr id="29" name="Shape 25"/>
          <p:cNvSpPr/>
          <p:nvPr/>
        </p:nvSpPr>
        <p:spPr>
          <a:xfrm>
            <a:off x="6858000" y="1901952"/>
            <a:ext cx="187452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160">
            <a:solidFill>
              <a:srgbClr val="DCE3EE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6931152" y="1975104"/>
            <a:ext cx="1728216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521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[强]</a:t>
            </a:r>
            <a:endParaRPr lang="en-US" sz="1150" dirty="0"/>
          </a:p>
        </p:txBody>
      </p:sp>
      <p:sp>
        <p:nvSpPr>
          <p:cNvPr id="31" name="Shape 27"/>
          <p:cNvSpPr/>
          <p:nvPr/>
        </p:nvSpPr>
        <p:spPr>
          <a:xfrm>
            <a:off x="8915400" y="1901952"/>
            <a:ext cx="187452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160">
            <a:solidFill>
              <a:srgbClr val="DCE3EE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8988552" y="1975104"/>
            <a:ext cx="1728216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521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[弱]</a:t>
            </a:r>
            <a:endParaRPr lang="en-US" sz="1150" dirty="0"/>
          </a:p>
        </p:txBody>
      </p:sp>
      <p:sp>
        <p:nvSpPr>
          <p:cNvPr id="33" name="Shape 29"/>
          <p:cNvSpPr/>
          <p:nvPr/>
        </p:nvSpPr>
        <p:spPr>
          <a:xfrm>
            <a:off x="868680" y="2487168"/>
            <a:ext cx="1783080" cy="530352"/>
          </a:xfrm>
          <a:prstGeom prst="roundRect">
            <a:avLst>
              <a:gd name="adj" fmla="val 6897"/>
            </a:avLst>
          </a:prstGeom>
          <a:solidFill>
            <a:srgbClr val="F6F8FC"/>
          </a:solidFill>
          <a:ln w="10160">
            <a:solidFill>
              <a:srgbClr val="DCE3EE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941832" y="2560320"/>
            <a:ext cx="1636776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521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效果指标</a:t>
            </a:r>
            <a:endParaRPr lang="en-US" sz="1150" dirty="0"/>
          </a:p>
        </p:txBody>
      </p:sp>
      <p:sp>
        <p:nvSpPr>
          <p:cNvPr id="35" name="Shape 31"/>
          <p:cNvSpPr/>
          <p:nvPr/>
        </p:nvSpPr>
        <p:spPr>
          <a:xfrm>
            <a:off x="2743200" y="2487168"/>
            <a:ext cx="1874520" cy="530352"/>
          </a:xfrm>
          <a:prstGeom prst="roundRect">
            <a:avLst>
              <a:gd name="adj" fmla="val 6897"/>
            </a:avLst>
          </a:prstGeom>
          <a:solidFill>
            <a:srgbClr val="EAF4FB"/>
          </a:solidFill>
          <a:ln w="10160">
            <a:solidFill>
              <a:srgbClr val="DCE3EE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2816352" y="2560320"/>
            <a:ext cx="1728216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927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[数值]</a:t>
            </a:r>
            <a:endParaRPr lang="en-US" sz="1150" dirty="0"/>
          </a:p>
        </p:txBody>
      </p:sp>
      <p:sp>
        <p:nvSpPr>
          <p:cNvPr id="37" name="Shape 33"/>
          <p:cNvSpPr/>
          <p:nvPr/>
        </p:nvSpPr>
        <p:spPr>
          <a:xfrm>
            <a:off x="4800600" y="2487168"/>
            <a:ext cx="1874520" cy="530352"/>
          </a:xfrm>
          <a:prstGeom prst="roundRect">
            <a:avLst>
              <a:gd name="adj" fmla="val 6897"/>
            </a:avLst>
          </a:prstGeom>
          <a:solidFill>
            <a:srgbClr val="F6F8FC"/>
          </a:solidFill>
          <a:ln w="10160">
            <a:solidFill>
              <a:srgbClr val="DCE3EE"/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4873752" y="2560320"/>
            <a:ext cx="1728216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521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[数值]</a:t>
            </a:r>
            <a:endParaRPr lang="en-US" sz="1150" dirty="0"/>
          </a:p>
        </p:txBody>
      </p:sp>
      <p:sp>
        <p:nvSpPr>
          <p:cNvPr id="39" name="Shape 35"/>
          <p:cNvSpPr/>
          <p:nvPr/>
        </p:nvSpPr>
        <p:spPr>
          <a:xfrm>
            <a:off x="6858000" y="2487168"/>
            <a:ext cx="1874520" cy="530352"/>
          </a:xfrm>
          <a:prstGeom prst="roundRect">
            <a:avLst>
              <a:gd name="adj" fmla="val 6897"/>
            </a:avLst>
          </a:prstGeom>
          <a:solidFill>
            <a:srgbClr val="F6F8FC"/>
          </a:solidFill>
          <a:ln w="10160">
            <a:solidFill>
              <a:srgbClr val="DCE3EE"/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6931152" y="2560320"/>
            <a:ext cx="1728216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521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[数值]</a:t>
            </a:r>
            <a:endParaRPr lang="en-US" sz="1150" dirty="0"/>
          </a:p>
        </p:txBody>
      </p:sp>
      <p:sp>
        <p:nvSpPr>
          <p:cNvPr id="41" name="Shape 37"/>
          <p:cNvSpPr/>
          <p:nvPr/>
        </p:nvSpPr>
        <p:spPr>
          <a:xfrm>
            <a:off x="8915400" y="2487168"/>
            <a:ext cx="1874520" cy="530352"/>
          </a:xfrm>
          <a:prstGeom prst="roundRect">
            <a:avLst>
              <a:gd name="adj" fmla="val 6897"/>
            </a:avLst>
          </a:prstGeom>
          <a:solidFill>
            <a:srgbClr val="F6F8FC"/>
          </a:solidFill>
          <a:ln w="10160">
            <a:solidFill>
              <a:srgbClr val="DCE3EE"/>
            </a:solidFill>
            <a:prstDash val="solid"/>
          </a:ln>
        </p:spPr>
      </p:sp>
      <p:sp>
        <p:nvSpPr>
          <p:cNvPr id="42" name="Text 38"/>
          <p:cNvSpPr txBox="1"/>
          <p:nvPr/>
        </p:nvSpPr>
        <p:spPr>
          <a:xfrm>
            <a:off x="8988552" y="2560320"/>
            <a:ext cx="1728216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521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[数值]</a:t>
            </a:r>
            <a:endParaRPr lang="en-US" sz="1150" dirty="0"/>
          </a:p>
        </p:txBody>
      </p:sp>
      <p:sp>
        <p:nvSpPr>
          <p:cNvPr id="43" name="Shape 39"/>
          <p:cNvSpPr/>
          <p:nvPr/>
        </p:nvSpPr>
        <p:spPr>
          <a:xfrm>
            <a:off x="868680" y="3072384"/>
            <a:ext cx="178308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160">
            <a:solidFill>
              <a:srgbClr val="DCE3EE"/>
            </a:solidFill>
            <a:prstDash val="solid"/>
          </a:ln>
        </p:spPr>
      </p:sp>
      <p:sp>
        <p:nvSpPr>
          <p:cNvPr id="44" name="Text 40"/>
          <p:cNvSpPr txBox="1"/>
          <p:nvPr/>
        </p:nvSpPr>
        <p:spPr>
          <a:xfrm>
            <a:off x="941832" y="3145536"/>
            <a:ext cx="1636776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521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交付周期</a:t>
            </a:r>
            <a:endParaRPr lang="en-US" sz="1150" dirty="0"/>
          </a:p>
        </p:txBody>
      </p:sp>
      <p:sp>
        <p:nvSpPr>
          <p:cNvPr id="45" name="Shape 41"/>
          <p:cNvSpPr/>
          <p:nvPr/>
        </p:nvSpPr>
        <p:spPr>
          <a:xfrm>
            <a:off x="2743200" y="3072384"/>
            <a:ext cx="1874520" cy="530352"/>
          </a:xfrm>
          <a:prstGeom prst="roundRect">
            <a:avLst>
              <a:gd name="adj" fmla="val 6897"/>
            </a:avLst>
          </a:prstGeom>
          <a:solidFill>
            <a:srgbClr val="EAF4FB"/>
          </a:solidFill>
          <a:ln w="10160">
            <a:solidFill>
              <a:srgbClr val="DCE3EE"/>
            </a:solidFill>
            <a:prstDash val="solid"/>
          </a:ln>
        </p:spPr>
      </p:sp>
      <p:sp>
        <p:nvSpPr>
          <p:cNvPr id="46" name="Text 42"/>
          <p:cNvSpPr txBox="1"/>
          <p:nvPr/>
        </p:nvSpPr>
        <p:spPr>
          <a:xfrm>
            <a:off x="2816352" y="3145536"/>
            <a:ext cx="1728216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927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[数值]</a:t>
            </a:r>
            <a:endParaRPr lang="en-US" sz="1150" dirty="0"/>
          </a:p>
        </p:txBody>
      </p:sp>
      <p:sp>
        <p:nvSpPr>
          <p:cNvPr id="47" name="Shape 43"/>
          <p:cNvSpPr/>
          <p:nvPr/>
        </p:nvSpPr>
        <p:spPr>
          <a:xfrm>
            <a:off x="4800600" y="3072384"/>
            <a:ext cx="187452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160">
            <a:solidFill>
              <a:srgbClr val="DCE3EE"/>
            </a:solidFill>
            <a:prstDash val="solid"/>
          </a:ln>
        </p:spPr>
      </p:sp>
      <p:sp>
        <p:nvSpPr>
          <p:cNvPr id="48" name="Text 44"/>
          <p:cNvSpPr txBox="1"/>
          <p:nvPr/>
        </p:nvSpPr>
        <p:spPr>
          <a:xfrm>
            <a:off x="4873752" y="3145536"/>
            <a:ext cx="1728216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521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[数值]</a:t>
            </a:r>
            <a:endParaRPr lang="en-US" sz="1150" dirty="0"/>
          </a:p>
        </p:txBody>
      </p:sp>
      <p:sp>
        <p:nvSpPr>
          <p:cNvPr id="49" name="Shape 45"/>
          <p:cNvSpPr/>
          <p:nvPr/>
        </p:nvSpPr>
        <p:spPr>
          <a:xfrm>
            <a:off x="6858000" y="3072384"/>
            <a:ext cx="187452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160">
            <a:solidFill>
              <a:srgbClr val="DCE3EE"/>
            </a:solidFill>
            <a:prstDash val="solid"/>
          </a:ln>
        </p:spPr>
      </p:sp>
      <p:sp>
        <p:nvSpPr>
          <p:cNvPr id="50" name="Text 46"/>
          <p:cNvSpPr txBox="1"/>
          <p:nvPr/>
        </p:nvSpPr>
        <p:spPr>
          <a:xfrm>
            <a:off x="6931152" y="3145536"/>
            <a:ext cx="1728216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521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[数值]</a:t>
            </a:r>
            <a:endParaRPr lang="en-US" sz="1150" dirty="0"/>
          </a:p>
        </p:txBody>
      </p:sp>
      <p:sp>
        <p:nvSpPr>
          <p:cNvPr id="51" name="Shape 47"/>
          <p:cNvSpPr/>
          <p:nvPr/>
        </p:nvSpPr>
        <p:spPr>
          <a:xfrm>
            <a:off x="8915400" y="3072384"/>
            <a:ext cx="187452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160">
            <a:solidFill>
              <a:srgbClr val="DCE3EE"/>
            </a:solidFill>
            <a:prstDash val="solid"/>
          </a:ln>
        </p:spPr>
      </p:sp>
      <p:sp>
        <p:nvSpPr>
          <p:cNvPr id="52" name="Text 48"/>
          <p:cNvSpPr txBox="1"/>
          <p:nvPr/>
        </p:nvSpPr>
        <p:spPr>
          <a:xfrm>
            <a:off x="8988552" y="3145536"/>
            <a:ext cx="1728216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521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[数值]</a:t>
            </a:r>
            <a:endParaRPr lang="en-US" sz="1150" dirty="0"/>
          </a:p>
        </p:txBody>
      </p:sp>
      <p:sp>
        <p:nvSpPr>
          <p:cNvPr id="53" name="Shape 49"/>
          <p:cNvSpPr/>
          <p:nvPr/>
        </p:nvSpPr>
        <p:spPr>
          <a:xfrm>
            <a:off x="868680" y="3657600"/>
            <a:ext cx="1783080" cy="530352"/>
          </a:xfrm>
          <a:prstGeom prst="roundRect">
            <a:avLst>
              <a:gd name="adj" fmla="val 6897"/>
            </a:avLst>
          </a:prstGeom>
          <a:solidFill>
            <a:srgbClr val="F6F8FC"/>
          </a:solidFill>
          <a:ln w="10160">
            <a:solidFill>
              <a:srgbClr val="DCE3EE"/>
            </a:solidFill>
            <a:prstDash val="solid"/>
          </a:ln>
        </p:spPr>
      </p:sp>
      <p:sp>
        <p:nvSpPr>
          <p:cNvPr id="54" name="Text 50"/>
          <p:cNvSpPr txBox="1"/>
          <p:nvPr/>
        </p:nvSpPr>
        <p:spPr>
          <a:xfrm>
            <a:off x="941832" y="3730752"/>
            <a:ext cx="1636776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521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使用成本</a:t>
            </a:r>
            <a:endParaRPr lang="en-US" sz="1150" dirty="0"/>
          </a:p>
        </p:txBody>
      </p:sp>
      <p:sp>
        <p:nvSpPr>
          <p:cNvPr id="55" name="Shape 51"/>
          <p:cNvSpPr/>
          <p:nvPr/>
        </p:nvSpPr>
        <p:spPr>
          <a:xfrm>
            <a:off x="2743200" y="3657600"/>
            <a:ext cx="1874520" cy="530352"/>
          </a:xfrm>
          <a:prstGeom prst="roundRect">
            <a:avLst>
              <a:gd name="adj" fmla="val 6897"/>
            </a:avLst>
          </a:prstGeom>
          <a:solidFill>
            <a:srgbClr val="EAF4FB"/>
          </a:solidFill>
          <a:ln w="10160">
            <a:solidFill>
              <a:srgbClr val="DCE3EE"/>
            </a:solidFill>
            <a:prstDash val="solid"/>
          </a:ln>
        </p:spPr>
      </p:sp>
      <p:sp>
        <p:nvSpPr>
          <p:cNvPr id="56" name="Text 52"/>
          <p:cNvSpPr txBox="1"/>
          <p:nvPr/>
        </p:nvSpPr>
        <p:spPr>
          <a:xfrm>
            <a:off x="2816352" y="3730752"/>
            <a:ext cx="1728216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927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[数值]</a:t>
            </a:r>
            <a:endParaRPr lang="en-US" sz="1150" dirty="0"/>
          </a:p>
        </p:txBody>
      </p:sp>
      <p:sp>
        <p:nvSpPr>
          <p:cNvPr id="57" name="Shape 53"/>
          <p:cNvSpPr/>
          <p:nvPr/>
        </p:nvSpPr>
        <p:spPr>
          <a:xfrm>
            <a:off x="4800600" y="3657600"/>
            <a:ext cx="1874520" cy="530352"/>
          </a:xfrm>
          <a:prstGeom prst="roundRect">
            <a:avLst>
              <a:gd name="adj" fmla="val 6897"/>
            </a:avLst>
          </a:prstGeom>
          <a:solidFill>
            <a:srgbClr val="F6F8FC"/>
          </a:solidFill>
          <a:ln w="10160">
            <a:solidFill>
              <a:srgbClr val="DCE3EE"/>
            </a:solidFill>
            <a:prstDash val="solid"/>
          </a:ln>
        </p:spPr>
      </p:sp>
      <p:sp>
        <p:nvSpPr>
          <p:cNvPr id="58" name="Text 54"/>
          <p:cNvSpPr txBox="1"/>
          <p:nvPr/>
        </p:nvSpPr>
        <p:spPr>
          <a:xfrm>
            <a:off x="4873752" y="3730752"/>
            <a:ext cx="1728216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521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[数值]</a:t>
            </a:r>
            <a:endParaRPr lang="en-US" sz="1150" dirty="0"/>
          </a:p>
        </p:txBody>
      </p:sp>
      <p:sp>
        <p:nvSpPr>
          <p:cNvPr id="59" name="Shape 55"/>
          <p:cNvSpPr/>
          <p:nvPr/>
        </p:nvSpPr>
        <p:spPr>
          <a:xfrm>
            <a:off x="6858000" y="3657600"/>
            <a:ext cx="1874520" cy="530352"/>
          </a:xfrm>
          <a:prstGeom prst="roundRect">
            <a:avLst>
              <a:gd name="adj" fmla="val 6897"/>
            </a:avLst>
          </a:prstGeom>
          <a:solidFill>
            <a:srgbClr val="F6F8FC"/>
          </a:solidFill>
          <a:ln w="10160">
            <a:solidFill>
              <a:srgbClr val="DCE3EE"/>
            </a:solidFill>
            <a:prstDash val="solid"/>
          </a:ln>
        </p:spPr>
      </p:sp>
      <p:sp>
        <p:nvSpPr>
          <p:cNvPr id="60" name="Text 56"/>
          <p:cNvSpPr txBox="1"/>
          <p:nvPr/>
        </p:nvSpPr>
        <p:spPr>
          <a:xfrm>
            <a:off x="6931152" y="3730752"/>
            <a:ext cx="1728216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521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[数值]</a:t>
            </a:r>
            <a:endParaRPr lang="en-US" sz="1150" dirty="0"/>
          </a:p>
        </p:txBody>
      </p:sp>
      <p:sp>
        <p:nvSpPr>
          <p:cNvPr id="61" name="Shape 57"/>
          <p:cNvSpPr/>
          <p:nvPr/>
        </p:nvSpPr>
        <p:spPr>
          <a:xfrm>
            <a:off x="8915400" y="3657600"/>
            <a:ext cx="1874520" cy="530352"/>
          </a:xfrm>
          <a:prstGeom prst="roundRect">
            <a:avLst>
              <a:gd name="adj" fmla="val 6897"/>
            </a:avLst>
          </a:prstGeom>
          <a:solidFill>
            <a:srgbClr val="F6F8FC"/>
          </a:solidFill>
          <a:ln w="10160">
            <a:solidFill>
              <a:srgbClr val="DCE3EE"/>
            </a:solidFill>
            <a:prstDash val="solid"/>
          </a:ln>
        </p:spPr>
      </p:sp>
      <p:sp>
        <p:nvSpPr>
          <p:cNvPr id="62" name="Text 58"/>
          <p:cNvSpPr txBox="1"/>
          <p:nvPr/>
        </p:nvSpPr>
        <p:spPr>
          <a:xfrm>
            <a:off x="8988552" y="3730752"/>
            <a:ext cx="1728216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521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[数值]</a:t>
            </a:r>
            <a:endParaRPr lang="en-US" sz="1150" dirty="0"/>
          </a:p>
        </p:txBody>
      </p:sp>
      <p:sp>
        <p:nvSpPr>
          <p:cNvPr id="63" name="Shape 59"/>
          <p:cNvSpPr/>
          <p:nvPr/>
        </p:nvSpPr>
        <p:spPr>
          <a:xfrm>
            <a:off x="868680" y="4242816"/>
            <a:ext cx="178308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160">
            <a:solidFill>
              <a:srgbClr val="DCE3EE"/>
            </a:solidFill>
            <a:prstDash val="solid"/>
          </a:ln>
        </p:spPr>
      </p:sp>
      <p:sp>
        <p:nvSpPr>
          <p:cNvPr id="64" name="Text 60"/>
          <p:cNvSpPr txBox="1"/>
          <p:nvPr/>
        </p:nvSpPr>
        <p:spPr>
          <a:xfrm>
            <a:off x="941832" y="4315968"/>
            <a:ext cx="1636776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521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主要优势</a:t>
            </a:r>
            <a:endParaRPr lang="en-US" sz="1150" dirty="0"/>
          </a:p>
        </p:txBody>
      </p:sp>
      <p:sp>
        <p:nvSpPr>
          <p:cNvPr id="65" name="Shape 61"/>
          <p:cNvSpPr/>
          <p:nvPr/>
        </p:nvSpPr>
        <p:spPr>
          <a:xfrm>
            <a:off x="2743200" y="4242816"/>
            <a:ext cx="1874520" cy="530352"/>
          </a:xfrm>
          <a:prstGeom prst="roundRect">
            <a:avLst>
              <a:gd name="adj" fmla="val 6897"/>
            </a:avLst>
          </a:prstGeom>
          <a:solidFill>
            <a:srgbClr val="EAF4FB"/>
          </a:solidFill>
          <a:ln w="10160">
            <a:solidFill>
              <a:srgbClr val="DCE3EE"/>
            </a:solidFill>
            <a:prstDash val="solid"/>
          </a:ln>
        </p:spPr>
      </p:sp>
      <p:sp>
        <p:nvSpPr>
          <p:cNvPr id="66" name="Text 62"/>
          <p:cNvSpPr txBox="1"/>
          <p:nvPr/>
        </p:nvSpPr>
        <p:spPr>
          <a:xfrm>
            <a:off x="2816352" y="4315968"/>
            <a:ext cx="1728216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927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[一句话]</a:t>
            </a:r>
            <a:endParaRPr lang="en-US" sz="1150" dirty="0"/>
          </a:p>
        </p:txBody>
      </p:sp>
      <p:sp>
        <p:nvSpPr>
          <p:cNvPr id="67" name="Shape 63"/>
          <p:cNvSpPr/>
          <p:nvPr/>
        </p:nvSpPr>
        <p:spPr>
          <a:xfrm>
            <a:off x="4800600" y="4242816"/>
            <a:ext cx="187452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160">
            <a:solidFill>
              <a:srgbClr val="DCE3EE"/>
            </a:solidFill>
            <a:prstDash val="solid"/>
          </a:ln>
        </p:spPr>
      </p:sp>
      <p:sp>
        <p:nvSpPr>
          <p:cNvPr id="68" name="Text 64"/>
          <p:cNvSpPr txBox="1"/>
          <p:nvPr/>
        </p:nvSpPr>
        <p:spPr>
          <a:xfrm>
            <a:off x="4873752" y="4315968"/>
            <a:ext cx="1728216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521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[一句话]</a:t>
            </a:r>
            <a:endParaRPr lang="en-US" sz="1150" dirty="0"/>
          </a:p>
        </p:txBody>
      </p:sp>
      <p:sp>
        <p:nvSpPr>
          <p:cNvPr id="69" name="Shape 65"/>
          <p:cNvSpPr/>
          <p:nvPr/>
        </p:nvSpPr>
        <p:spPr>
          <a:xfrm>
            <a:off x="6858000" y="4242816"/>
            <a:ext cx="187452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160">
            <a:solidFill>
              <a:srgbClr val="DCE3EE"/>
            </a:solidFill>
            <a:prstDash val="solid"/>
          </a:ln>
        </p:spPr>
      </p:sp>
      <p:sp>
        <p:nvSpPr>
          <p:cNvPr id="70" name="Text 66"/>
          <p:cNvSpPr txBox="1"/>
          <p:nvPr/>
        </p:nvSpPr>
        <p:spPr>
          <a:xfrm>
            <a:off x="6931152" y="4315968"/>
            <a:ext cx="1728216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521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[一句话]</a:t>
            </a:r>
            <a:endParaRPr lang="en-US" sz="1150" dirty="0"/>
          </a:p>
        </p:txBody>
      </p:sp>
      <p:sp>
        <p:nvSpPr>
          <p:cNvPr id="71" name="Shape 67"/>
          <p:cNvSpPr/>
          <p:nvPr/>
        </p:nvSpPr>
        <p:spPr>
          <a:xfrm>
            <a:off x="8915400" y="4242816"/>
            <a:ext cx="187452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160">
            <a:solidFill>
              <a:srgbClr val="DCE3EE"/>
            </a:solidFill>
            <a:prstDash val="solid"/>
          </a:ln>
        </p:spPr>
      </p:sp>
      <p:sp>
        <p:nvSpPr>
          <p:cNvPr id="72" name="Text 68"/>
          <p:cNvSpPr txBox="1"/>
          <p:nvPr/>
        </p:nvSpPr>
        <p:spPr>
          <a:xfrm>
            <a:off x="8988552" y="4315968"/>
            <a:ext cx="1728216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521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[一句话]</a:t>
            </a:r>
            <a:endParaRPr lang="en-US" sz="1150" dirty="0"/>
          </a:p>
        </p:txBody>
      </p:sp>
      <p:sp>
        <p:nvSpPr>
          <p:cNvPr id="73" name="Shape 69"/>
          <p:cNvSpPr/>
          <p:nvPr/>
        </p:nvSpPr>
        <p:spPr>
          <a:xfrm>
            <a:off x="868680" y="4828032"/>
            <a:ext cx="1783080" cy="530352"/>
          </a:xfrm>
          <a:prstGeom prst="roundRect">
            <a:avLst>
              <a:gd name="adj" fmla="val 6897"/>
            </a:avLst>
          </a:prstGeom>
          <a:solidFill>
            <a:srgbClr val="F6F8FC"/>
          </a:solidFill>
          <a:ln w="10160">
            <a:solidFill>
              <a:srgbClr val="DCE3EE"/>
            </a:solidFill>
            <a:prstDash val="solid"/>
          </a:ln>
        </p:spPr>
      </p:sp>
      <p:sp>
        <p:nvSpPr>
          <p:cNvPr id="74" name="Text 70"/>
          <p:cNvSpPr txBox="1"/>
          <p:nvPr/>
        </p:nvSpPr>
        <p:spPr>
          <a:xfrm>
            <a:off x="941832" y="4901184"/>
            <a:ext cx="1636776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521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主要劣势</a:t>
            </a:r>
            <a:endParaRPr lang="en-US" sz="1150" dirty="0"/>
          </a:p>
        </p:txBody>
      </p:sp>
      <p:sp>
        <p:nvSpPr>
          <p:cNvPr id="75" name="Shape 71"/>
          <p:cNvSpPr/>
          <p:nvPr/>
        </p:nvSpPr>
        <p:spPr>
          <a:xfrm>
            <a:off x="2743200" y="4828032"/>
            <a:ext cx="1874520" cy="530352"/>
          </a:xfrm>
          <a:prstGeom prst="roundRect">
            <a:avLst>
              <a:gd name="adj" fmla="val 6897"/>
            </a:avLst>
          </a:prstGeom>
          <a:solidFill>
            <a:srgbClr val="EAF4FB"/>
          </a:solidFill>
          <a:ln w="10160">
            <a:solidFill>
              <a:srgbClr val="DCE3EE"/>
            </a:solidFill>
            <a:prstDash val="solid"/>
          </a:ln>
        </p:spPr>
      </p:sp>
      <p:sp>
        <p:nvSpPr>
          <p:cNvPr id="76" name="Text 72"/>
          <p:cNvSpPr txBox="1"/>
          <p:nvPr/>
        </p:nvSpPr>
        <p:spPr>
          <a:xfrm>
            <a:off x="2816352" y="4901184"/>
            <a:ext cx="1728216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927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[一句话]</a:t>
            </a:r>
            <a:endParaRPr lang="en-US" sz="1150" dirty="0"/>
          </a:p>
        </p:txBody>
      </p:sp>
      <p:sp>
        <p:nvSpPr>
          <p:cNvPr id="77" name="Shape 73"/>
          <p:cNvSpPr/>
          <p:nvPr/>
        </p:nvSpPr>
        <p:spPr>
          <a:xfrm>
            <a:off x="4800600" y="4828032"/>
            <a:ext cx="1874520" cy="530352"/>
          </a:xfrm>
          <a:prstGeom prst="roundRect">
            <a:avLst>
              <a:gd name="adj" fmla="val 6897"/>
            </a:avLst>
          </a:prstGeom>
          <a:solidFill>
            <a:srgbClr val="F6F8FC"/>
          </a:solidFill>
          <a:ln w="10160">
            <a:solidFill>
              <a:srgbClr val="DCE3EE"/>
            </a:solidFill>
            <a:prstDash val="solid"/>
          </a:ln>
        </p:spPr>
      </p:sp>
      <p:sp>
        <p:nvSpPr>
          <p:cNvPr id="78" name="Text 74"/>
          <p:cNvSpPr txBox="1"/>
          <p:nvPr/>
        </p:nvSpPr>
        <p:spPr>
          <a:xfrm>
            <a:off x="4873752" y="4901184"/>
            <a:ext cx="1728216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521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[一句话]</a:t>
            </a:r>
            <a:endParaRPr lang="en-US" sz="1150" dirty="0"/>
          </a:p>
        </p:txBody>
      </p:sp>
      <p:sp>
        <p:nvSpPr>
          <p:cNvPr id="79" name="Shape 75"/>
          <p:cNvSpPr/>
          <p:nvPr/>
        </p:nvSpPr>
        <p:spPr>
          <a:xfrm>
            <a:off x="6858000" y="4828032"/>
            <a:ext cx="1874520" cy="530352"/>
          </a:xfrm>
          <a:prstGeom prst="roundRect">
            <a:avLst>
              <a:gd name="adj" fmla="val 6897"/>
            </a:avLst>
          </a:prstGeom>
          <a:solidFill>
            <a:srgbClr val="F6F8FC"/>
          </a:solidFill>
          <a:ln w="10160">
            <a:solidFill>
              <a:srgbClr val="DCE3EE"/>
            </a:solidFill>
            <a:prstDash val="solid"/>
          </a:ln>
        </p:spPr>
      </p:sp>
      <p:sp>
        <p:nvSpPr>
          <p:cNvPr id="80" name="Text 76"/>
          <p:cNvSpPr txBox="1"/>
          <p:nvPr/>
        </p:nvSpPr>
        <p:spPr>
          <a:xfrm>
            <a:off x="6931152" y="4901184"/>
            <a:ext cx="1728216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521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[一句话]</a:t>
            </a:r>
            <a:endParaRPr lang="en-US" sz="1150" dirty="0"/>
          </a:p>
        </p:txBody>
      </p:sp>
      <p:sp>
        <p:nvSpPr>
          <p:cNvPr id="81" name="Shape 77"/>
          <p:cNvSpPr/>
          <p:nvPr/>
        </p:nvSpPr>
        <p:spPr>
          <a:xfrm>
            <a:off x="8915400" y="4828032"/>
            <a:ext cx="1874520" cy="530352"/>
          </a:xfrm>
          <a:prstGeom prst="roundRect">
            <a:avLst>
              <a:gd name="adj" fmla="val 6897"/>
            </a:avLst>
          </a:prstGeom>
          <a:solidFill>
            <a:srgbClr val="F6F8FC"/>
          </a:solidFill>
          <a:ln w="10160">
            <a:solidFill>
              <a:srgbClr val="DCE3EE"/>
            </a:solidFill>
            <a:prstDash val="solid"/>
          </a:ln>
        </p:spPr>
      </p:sp>
      <p:sp>
        <p:nvSpPr>
          <p:cNvPr id="82" name="Text 78"/>
          <p:cNvSpPr txBox="1"/>
          <p:nvPr/>
        </p:nvSpPr>
        <p:spPr>
          <a:xfrm>
            <a:off x="8988552" y="4901184"/>
            <a:ext cx="1728216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521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[一句话]</a:t>
            </a:r>
            <a:endParaRPr lang="en-US" sz="1150" dirty="0"/>
          </a:p>
        </p:txBody>
      </p:sp>
      <p:sp>
        <p:nvSpPr>
          <p:cNvPr id="83" name="Shape 79"/>
          <p:cNvSpPr/>
          <p:nvPr/>
        </p:nvSpPr>
        <p:spPr>
          <a:xfrm>
            <a:off x="960120" y="5705856"/>
            <a:ext cx="6949440" cy="310896"/>
          </a:xfrm>
          <a:prstGeom prst="roundRect">
            <a:avLst>
              <a:gd name="adj" fmla="val 23529"/>
            </a:avLst>
          </a:prstGeom>
          <a:solidFill>
            <a:srgbClr val="FFF3E7"/>
          </a:solidFill>
          <a:ln w="10160">
            <a:solidFill>
              <a:srgbClr val="F3C39C"/>
            </a:solidFill>
            <a:prstDash val="solid"/>
          </a:ln>
        </p:spPr>
      </p:sp>
      <p:sp>
        <p:nvSpPr>
          <p:cNvPr id="84" name="Text 80"/>
          <p:cNvSpPr txBox="1"/>
          <p:nvPr/>
        </p:nvSpPr>
        <p:spPr>
          <a:xfrm>
            <a:off x="1069848" y="5724144"/>
            <a:ext cx="6729984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8A4B1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模板提示：比较口径要一致；标注数据来源和测试环境，主动说明本项目劣势。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7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智极松_content_bg_clean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mnt/data/智极松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2880"/>
            <a:ext cx="1234440" cy="37490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874520" y="164592"/>
            <a:ext cx="6583680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备份 3：知识产权、合规与风险</a:t>
            </a:r>
            <a:endParaRPr lang="en-US" sz="2700" dirty="0"/>
          </a:p>
        </p:txBody>
      </p:sp>
      <p:sp>
        <p:nvSpPr>
          <p:cNvPr id="5" name="Text 1"/>
          <p:cNvSpPr txBox="1"/>
          <p:nvPr/>
        </p:nvSpPr>
        <p:spPr>
          <a:xfrm>
            <a:off x="1901952" y="621792"/>
            <a:ext cx="68580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C8D3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说明权属、授权、数据与模型合规，以及关键风险和缓释措施</a:t>
            </a:r>
            <a:endParaRPr lang="en-US" sz="1050" dirty="0"/>
          </a:p>
        </p:txBody>
      </p:sp>
      <p:sp>
        <p:nvSpPr>
          <p:cNvPr id="6" name="Shape 2"/>
          <p:cNvSpPr/>
          <p:nvPr/>
        </p:nvSpPr>
        <p:spPr>
          <a:xfrm>
            <a:off x="9281160" y="210312"/>
            <a:ext cx="1554480" cy="310896"/>
          </a:xfrm>
          <a:prstGeom prst="roundRect">
            <a:avLst>
              <a:gd name="adj" fmla="val 35294"/>
            </a:avLst>
          </a:prstGeom>
          <a:solidFill>
            <a:srgbClr val="53C6EE"/>
          </a:solidFill>
          <a:ln w="12700">
            <a:solidFill>
              <a:srgbClr val="53C6EE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9326880" y="219456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1927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答辩备份 · —分</a:t>
            </a:r>
            <a:endParaRPr lang="en-US" sz="1020" dirty="0"/>
          </a:p>
        </p:txBody>
      </p:sp>
      <p:sp>
        <p:nvSpPr>
          <p:cNvPr id="8" name="Shape 4"/>
          <p:cNvSpPr/>
          <p:nvPr/>
        </p:nvSpPr>
        <p:spPr>
          <a:xfrm>
            <a:off x="10927080" y="210312"/>
            <a:ext cx="822960" cy="310896"/>
          </a:xfrm>
          <a:prstGeom prst="roundRect">
            <a:avLst>
              <a:gd name="adj" fmla="val 35294"/>
            </a:avLst>
          </a:prstGeom>
          <a:solidFill>
            <a:srgbClr val="F46883"/>
          </a:solidFill>
          <a:ln w="12700">
            <a:solidFill>
              <a:srgbClr val="F4688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10972800" y="219456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建议 按需</a:t>
            </a:r>
            <a:endParaRPr lang="en-US" sz="1020" dirty="0"/>
          </a:p>
        </p:txBody>
      </p:sp>
      <p:sp>
        <p:nvSpPr>
          <p:cNvPr id="10" name="Shape 6"/>
          <p:cNvSpPr/>
          <p:nvPr/>
        </p:nvSpPr>
        <p:spPr>
          <a:xfrm>
            <a:off x="1874520" y="749808"/>
            <a:ext cx="9756648" cy="0"/>
          </a:xfrm>
          <a:prstGeom prst="line">
            <a:avLst/>
          </a:prstGeom>
          <a:noFill/>
          <a:ln w="13970">
            <a:solidFill>
              <a:srgbClr val="53C6EE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38912" y="941832"/>
            <a:ext cx="11311128" cy="5230368"/>
          </a:xfrm>
          <a:prstGeom prst="roundRect">
            <a:avLst>
              <a:gd name="adj" fmla="val 2448"/>
            </a:avLst>
          </a:prstGeom>
          <a:solidFill>
            <a:srgbClr val="F6F8FC"/>
          </a:solidFill>
          <a:ln w="10160">
            <a:solidFill>
              <a:srgbClr val="E1E6F0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9464040" y="6446520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C6D0E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智极松决赛路演模板  |  第 15 页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822960" y="1234440"/>
            <a:ext cx="384048" cy="384048"/>
          </a:xfrm>
          <a:prstGeom prst="ellipse">
            <a:avLst/>
          </a:prstGeom>
          <a:solidFill>
            <a:srgbClr val="3C8EDB"/>
          </a:solidFill>
          <a:ln w="12700">
            <a:solidFill>
              <a:srgbClr val="3C8EDB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822960" y="123444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1335024" y="1225296"/>
            <a:ext cx="2048256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521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知识产权与合规</a:t>
            </a: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896112" y="1856232"/>
            <a:ext cx="1115568" cy="310896"/>
          </a:xfrm>
          <a:prstGeom prst="roundRect">
            <a:avLst>
              <a:gd name="adj" fmla="val 35294"/>
            </a:avLst>
          </a:prstGeom>
          <a:solidFill>
            <a:srgbClr val="53C6EE"/>
          </a:solidFill>
          <a:ln w="12700">
            <a:solidFill>
              <a:srgbClr val="53C6EE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941832" y="1865376"/>
            <a:ext cx="1024128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核心代码/模型</a:t>
            </a:r>
            <a:endParaRPr lang="en-US" sz="960" dirty="0"/>
          </a:p>
        </p:txBody>
      </p:sp>
      <p:sp>
        <p:nvSpPr>
          <p:cNvPr id="18" name="Shape 14"/>
          <p:cNvSpPr/>
          <p:nvPr/>
        </p:nvSpPr>
        <p:spPr>
          <a:xfrm>
            <a:off x="2148840" y="1783080"/>
            <a:ext cx="34290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0160">
            <a:solidFill>
              <a:srgbClr val="DCE3EE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2331720" y="1856232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521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[自研/授权/开源许可]</a:t>
            </a:r>
            <a:endParaRPr lang="en-US" sz="1350" dirty="0"/>
          </a:p>
        </p:txBody>
      </p:sp>
      <p:sp>
        <p:nvSpPr>
          <p:cNvPr id="20" name="Shape 16"/>
          <p:cNvSpPr/>
          <p:nvPr/>
        </p:nvSpPr>
        <p:spPr>
          <a:xfrm>
            <a:off x="896112" y="2542032"/>
            <a:ext cx="1115568" cy="310896"/>
          </a:xfrm>
          <a:prstGeom prst="roundRect">
            <a:avLst>
              <a:gd name="adj" fmla="val 35294"/>
            </a:avLst>
          </a:prstGeom>
          <a:solidFill>
            <a:srgbClr val="F46883"/>
          </a:solidFill>
          <a:ln w="12700">
            <a:solidFill>
              <a:srgbClr val="F46883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941832" y="2551176"/>
            <a:ext cx="1024128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数据来源</a:t>
            </a:r>
            <a:endParaRPr lang="en-US" sz="960" dirty="0"/>
          </a:p>
        </p:txBody>
      </p:sp>
      <p:sp>
        <p:nvSpPr>
          <p:cNvPr id="22" name="Shape 18"/>
          <p:cNvSpPr/>
          <p:nvPr/>
        </p:nvSpPr>
        <p:spPr>
          <a:xfrm>
            <a:off x="2148840" y="2468880"/>
            <a:ext cx="34290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0160">
            <a:solidFill>
              <a:srgbClr val="DCE3EE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2331720" y="2542032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521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[采集/授权/脱敏/跨境]</a:t>
            </a:r>
            <a:endParaRPr lang="en-US" sz="1350" dirty="0"/>
          </a:p>
        </p:txBody>
      </p:sp>
      <p:sp>
        <p:nvSpPr>
          <p:cNvPr id="24" name="Shape 20"/>
          <p:cNvSpPr/>
          <p:nvPr/>
        </p:nvSpPr>
        <p:spPr>
          <a:xfrm>
            <a:off x="896112" y="3227832"/>
            <a:ext cx="1115568" cy="310896"/>
          </a:xfrm>
          <a:prstGeom prst="roundRect">
            <a:avLst>
              <a:gd name="adj" fmla="val 35294"/>
            </a:avLst>
          </a:prstGeom>
          <a:solidFill>
            <a:srgbClr val="6F58D9"/>
          </a:solidFill>
          <a:ln w="12700">
            <a:solidFill>
              <a:srgbClr val="6F58D9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941832" y="3236976"/>
            <a:ext cx="1024128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专利/软著</a:t>
            </a:r>
            <a:endParaRPr lang="en-US" sz="960" dirty="0"/>
          </a:p>
        </p:txBody>
      </p:sp>
      <p:sp>
        <p:nvSpPr>
          <p:cNvPr id="26" name="Shape 22"/>
          <p:cNvSpPr/>
          <p:nvPr/>
        </p:nvSpPr>
        <p:spPr>
          <a:xfrm>
            <a:off x="2148840" y="3154680"/>
            <a:ext cx="34290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0160">
            <a:solidFill>
              <a:srgbClr val="DCE3EE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2331720" y="3227832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521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[数量/状态/权利人]</a:t>
            </a:r>
            <a:endParaRPr lang="en-US" sz="1350" dirty="0"/>
          </a:p>
        </p:txBody>
      </p:sp>
      <p:sp>
        <p:nvSpPr>
          <p:cNvPr id="28" name="Shape 24"/>
          <p:cNvSpPr/>
          <p:nvPr/>
        </p:nvSpPr>
        <p:spPr>
          <a:xfrm>
            <a:off x="896112" y="3913632"/>
            <a:ext cx="1115568" cy="310896"/>
          </a:xfrm>
          <a:prstGeom prst="roundRect">
            <a:avLst>
              <a:gd name="adj" fmla="val 35294"/>
            </a:avLst>
          </a:prstGeom>
          <a:solidFill>
            <a:srgbClr val="F39A72"/>
          </a:solidFill>
          <a:ln w="12700">
            <a:solidFill>
              <a:srgbClr val="F39A72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941832" y="3922776"/>
            <a:ext cx="1024128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行业合规</a:t>
            </a:r>
            <a:endParaRPr lang="en-US" sz="960" dirty="0"/>
          </a:p>
        </p:txBody>
      </p:sp>
      <p:sp>
        <p:nvSpPr>
          <p:cNvPr id="30" name="Shape 26"/>
          <p:cNvSpPr/>
          <p:nvPr/>
        </p:nvSpPr>
        <p:spPr>
          <a:xfrm>
            <a:off x="2148840" y="3840480"/>
            <a:ext cx="34290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0160">
            <a:solidFill>
              <a:srgbClr val="DCE3EE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2331720" y="3913632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521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[安全/医疗/金融/内容等]</a:t>
            </a:r>
            <a:endParaRPr lang="en-US" sz="1350" dirty="0"/>
          </a:p>
        </p:txBody>
      </p:sp>
      <p:sp>
        <p:nvSpPr>
          <p:cNvPr id="32" name="Shape 28"/>
          <p:cNvSpPr/>
          <p:nvPr/>
        </p:nvSpPr>
        <p:spPr>
          <a:xfrm>
            <a:off x="5989320" y="1234440"/>
            <a:ext cx="384048" cy="384048"/>
          </a:xfrm>
          <a:prstGeom prst="ellipse">
            <a:avLst/>
          </a:prstGeom>
          <a:solidFill>
            <a:srgbClr val="D94E5D"/>
          </a:solidFill>
          <a:ln w="12700">
            <a:solidFill>
              <a:srgbClr val="D94E5D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5989320" y="123444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400" dirty="0"/>
          </a:p>
        </p:txBody>
      </p:sp>
      <p:sp>
        <p:nvSpPr>
          <p:cNvPr id="34" name="Text 30"/>
          <p:cNvSpPr txBox="1"/>
          <p:nvPr/>
        </p:nvSpPr>
        <p:spPr>
          <a:xfrm>
            <a:off x="6501384" y="1225296"/>
            <a:ext cx="2048256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521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主要风险与应对</a:t>
            </a:r>
            <a:endParaRPr lang="en-US" sz="2000" dirty="0"/>
          </a:p>
        </p:txBody>
      </p:sp>
      <p:sp>
        <p:nvSpPr>
          <p:cNvPr id="35" name="Shape 31"/>
          <p:cNvSpPr/>
          <p:nvPr/>
        </p:nvSpPr>
        <p:spPr>
          <a:xfrm>
            <a:off x="6080760" y="1783080"/>
            <a:ext cx="4663440" cy="566928"/>
          </a:xfrm>
          <a:prstGeom prst="roundRect">
            <a:avLst>
              <a:gd name="adj" fmla="val 9677"/>
            </a:avLst>
          </a:prstGeom>
          <a:solidFill>
            <a:srgbClr val="F8FAFD"/>
          </a:solidFill>
          <a:ln w="10160">
            <a:solidFill>
              <a:srgbClr val="DCE3EE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6199632" y="1892808"/>
            <a:ext cx="502920" cy="310896"/>
          </a:xfrm>
          <a:prstGeom prst="roundRect">
            <a:avLst>
              <a:gd name="adj" fmla="val 35294"/>
            </a:avLst>
          </a:prstGeom>
          <a:solidFill>
            <a:srgbClr val="D94E5D"/>
          </a:solidFill>
          <a:ln w="12700">
            <a:solidFill>
              <a:srgbClr val="D94E5D"/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6245352" y="1901952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</a:t>
            </a:r>
            <a:endParaRPr lang="en-US" sz="960" dirty="0"/>
          </a:p>
        </p:txBody>
      </p:sp>
      <p:sp>
        <p:nvSpPr>
          <p:cNvPr id="38" name="Text 34"/>
          <p:cNvSpPr txBox="1"/>
          <p:nvPr/>
        </p:nvSpPr>
        <p:spPr>
          <a:xfrm>
            <a:off x="6839712" y="1865376"/>
            <a:ext cx="1664208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1521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[性能/依赖/可靠性]</a:t>
            </a:r>
            <a:endParaRPr lang="en-US" sz="1120" dirty="0"/>
          </a:p>
        </p:txBody>
      </p:sp>
      <p:sp>
        <p:nvSpPr>
          <p:cNvPr id="39" name="Shape 35"/>
          <p:cNvSpPr/>
          <p:nvPr/>
        </p:nvSpPr>
        <p:spPr>
          <a:xfrm>
            <a:off x="8577072" y="2066544"/>
            <a:ext cx="310896" cy="0"/>
          </a:xfrm>
          <a:prstGeom prst="line">
            <a:avLst/>
          </a:prstGeom>
          <a:noFill/>
          <a:ln w="15240">
            <a:solidFill>
              <a:srgbClr val="AAB6CB"/>
            </a:solidFill>
            <a:prstDash val="solid"/>
            <a:tailEnd type="triangle"/>
          </a:ln>
        </p:spPr>
      </p:sp>
      <p:sp>
        <p:nvSpPr>
          <p:cNvPr id="40" name="Text 36"/>
          <p:cNvSpPr txBox="1"/>
          <p:nvPr/>
        </p:nvSpPr>
        <p:spPr>
          <a:xfrm>
            <a:off x="8979408" y="1865376"/>
            <a:ext cx="155448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[测试/冗余/替代]</a:t>
            </a:r>
            <a:endParaRPr lang="en-US" sz="1120" dirty="0"/>
          </a:p>
        </p:txBody>
      </p:sp>
      <p:sp>
        <p:nvSpPr>
          <p:cNvPr id="41" name="Shape 37"/>
          <p:cNvSpPr/>
          <p:nvPr/>
        </p:nvSpPr>
        <p:spPr>
          <a:xfrm>
            <a:off x="6080760" y="2496312"/>
            <a:ext cx="46634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0160">
            <a:solidFill>
              <a:srgbClr val="DCE3EE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6199632" y="2606040"/>
            <a:ext cx="502920" cy="310896"/>
          </a:xfrm>
          <a:prstGeom prst="roundRect">
            <a:avLst>
              <a:gd name="adj" fmla="val 35294"/>
            </a:avLst>
          </a:prstGeom>
          <a:solidFill>
            <a:srgbClr val="F39A72"/>
          </a:solidFill>
          <a:ln w="12700">
            <a:solidFill>
              <a:srgbClr val="F39A72"/>
            </a:solidFill>
            <a:prstDash val="solid"/>
          </a:ln>
        </p:spPr>
      </p:sp>
      <p:sp>
        <p:nvSpPr>
          <p:cNvPr id="43" name="Text 39"/>
          <p:cNvSpPr txBox="1"/>
          <p:nvPr/>
        </p:nvSpPr>
        <p:spPr>
          <a:xfrm>
            <a:off x="6245352" y="2615184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市场</a:t>
            </a:r>
            <a:endParaRPr lang="en-US" sz="960" dirty="0"/>
          </a:p>
        </p:txBody>
      </p:sp>
      <p:sp>
        <p:nvSpPr>
          <p:cNvPr id="44" name="Text 40"/>
          <p:cNvSpPr txBox="1"/>
          <p:nvPr/>
        </p:nvSpPr>
        <p:spPr>
          <a:xfrm>
            <a:off x="6839712" y="2578608"/>
            <a:ext cx="1664208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1521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[付费/周期/竞争]</a:t>
            </a:r>
            <a:endParaRPr lang="en-US" sz="1120" dirty="0"/>
          </a:p>
        </p:txBody>
      </p:sp>
      <p:sp>
        <p:nvSpPr>
          <p:cNvPr id="45" name="Shape 41"/>
          <p:cNvSpPr/>
          <p:nvPr/>
        </p:nvSpPr>
        <p:spPr>
          <a:xfrm>
            <a:off x="8577072" y="2779776"/>
            <a:ext cx="310896" cy="0"/>
          </a:xfrm>
          <a:prstGeom prst="line">
            <a:avLst/>
          </a:prstGeom>
          <a:noFill/>
          <a:ln w="15240">
            <a:solidFill>
              <a:srgbClr val="AAB6CB"/>
            </a:solidFill>
            <a:prstDash val="solid"/>
            <a:tailEnd type="triangle"/>
          </a:ln>
        </p:spPr>
      </p:sp>
      <p:sp>
        <p:nvSpPr>
          <p:cNvPr id="46" name="Text 42"/>
          <p:cNvSpPr txBox="1"/>
          <p:nvPr/>
        </p:nvSpPr>
        <p:spPr>
          <a:xfrm>
            <a:off x="8979408" y="2578608"/>
            <a:ext cx="155448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[标杆/渠道/定价]</a:t>
            </a:r>
            <a:endParaRPr lang="en-US" sz="1120" dirty="0"/>
          </a:p>
        </p:txBody>
      </p:sp>
      <p:sp>
        <p:nvSpPr>
          <p:cNvPr id="47" name="Shape 43"/>
          <p:cNvSpPr/>
          <p:nvPr/>
        </p:nvSpPr>
        <p:spPr>
          <a:xfrm>
            <a:off x="6080760" y="3209544"/>
            <a:ext cx="4663440" cy="566928"/>
          </a:xfrm>
          <a:prstGeom prst="roundRect">
            <a:avLst>
              <a:gd name="adj" fmla="val 9677"/>
            </a:avLst>
          </a:prstGeom>
          <a:solidFill>
            <a:srgbClr val="F8FAFD"/>
          </a:solidFill>
          <a:ln w="10160">
            <a:solidFill>
              <a:srgbClr val="DCE3EE"/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6199632" y="3319272"/>
            <a:ext cx="502920" cy="310896"/>
          </a:xfrm>
          <a:prstGeom prst="roundRect">
            <a:avLst>
              <a:gd name="adj" fmla="val 35294"/>
            </a:avLst>
          </a:prstGeom>
          <a:solidFill>
            <a:srgbClr val="6F58D9"/>
          </a:solidFill>
          <a:ln w="12700">
            <a:solidFill>
              <a:srgbClr val="6F58D9"/>
            </a:solidFill>
            <a:prstDash val="solid"/>
          </a:ln>
        </p:spPr>
      </p:sp>
      <p:sp>
        <p:nvSpPr>
          <p:cNvPr id="49" name="Text 45"/>
          <p:cNvSpPr txBox="1"/>
          <p:nvPr/>
        </p:nvSpPr>
        <p:spPr>
          <a:xfrm>
            <a:off x="6245352" y="3328416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团队</a:t>
            </a:r>
            <a:endParaRPr lang="en-US" sz="960" dirty="0"/>
          </a:p>
        </p:txBody>
      </p:sp>
      <p:sp>
        <p:nvSpPr>
          <p:cNvPr id="50" name="Text 46"/>
          <p:cNvSpPr txBox="1"/>
          <p:nvPr/>
        </p:nvSpPr>
        <p:spPr>
          <a:xfrm>
            <a:off x="6839712" y="3291840"/>
            <a:ext cx="1664208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1521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[关键岗位/兼职]</a:t>
            </a:r>
            <a:endParaRPr lang="en-US" sz="1120" dirty="0"/>
          </a:p>
        </p:txBody>
      </p:sp>
      <p:sp>
        <p:nvSpPr>
          <p:cNvPr id="51" name="Shape 47"/>
          <p:cNvSpPr/>
          <p:nvPr/>
        </p:nvSpPr>
        <p:spPr>
          <a:xfrm>
            <a:off x="8577072" y="3493008"/>
            <a:ext cx="310896" cy="0"/>
          </a:xfrm>
          <a:prstGeom prst="line">
            <a:avLst/>
          </a:prstGeom>
          <a:noFill/>
          <a:ln w="15240">
            <a:solidFill>
              <a:srgbClr val="AAB6CB"/>
            </a:solidFill>
            <a:prstDash val="solid"/>
            <a:tailEnd type="triangle"/>
          </a:ln>
        </p:spPr>
      </p:sp>
      <p:sp>
        <p:nvSpPr>
          <p:cNvPr id="52" name="Text 48"/>
          <p:cNvSpPr txBox="1"/>
          <p:nvPr/>
        </p:nvSpPr>
        <p:spPr>
          <a:xfrm>
            <a:off x="8979408" y="3291840"/>
            <a:ext cx="155448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[全职/激励/招聘]</a:t>
            </a:r>
            <a:endParaRPr lang="en-US" sz="1120" dirty="0"/>
          </a:p>
        </p:txBody>
      </p:sp>
      <p:sp>
        <p:nvSpPr>
          <p:cNvPr id="53" name="Shape 49"/>
          <p:cNvSpPr/>
          <p:nvPr/>
        </p:nvSpPr>
        <p:spPr>
          <a:xfrm>
            <a:off x="6080760" y="3922776"/>
            <a:ext cx="46634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0160">
            <a:solidFill>
              <a:srgbClr val="DCE3EE"/>
            </a:solidFill>
            <a:prstDash val="solid"/>
          </a:ln>
        </p:spPr>
      </p:sp>
      <p:sp>
        <p:nvSpPr>
          <p:cNvPr id="54" name="Shape 50"/>
          <p:cNvSpPr/>
          <p:nvPr/>
        </p:nvSpPr>
        <p:spPr>
          <a:xfrm>
            <a:off x="6199632" y="4032504"/>
            <a:ext cx="502920" cy="310896"/>
          </a:xfrm>
          <a:prstGeom prst="roundRect">
            <a:avLst>
              <a:gd name="adj" fmla="val 35294"/>
            </a:avLst>
          </a:prstGeom>
          <a:solidFill>
            <a:srgbClr val="3C8EDB"/>
          </a:solidFill>
          <a:ln w="12700">
            <a:solidFill>
              <a:srgbClr val="3C8EDB"/>
            </a:solidFill>
            <a:prstDash val="solid"/>
          </a:ln>
        </p:spPr>
      </p:sp>
      <p:sp>
        <p:nvSpPr>
          <p:cNvPr id="55" name="Text 51"/>
          <p:cNvSpPr txBox="1"/>
          <p:nvPr/>
        </p:nvSpPr>
        <p:spPr>
          <a:xfrm>
            <a:off x="6245352" y="4041648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合规</a:t>
            </a:r>
            <a:endParaRPr lang="en-US" sz="960" dirty="0"/>
          </a:p>
        </p:txBody>
      </p:sp>
      <p:sp>
        <p:nvSpPr>
          <p:cNvPr id="56" name="Text 52"/>
          <p:cNvSpPr txBox="1"/>
          <p:nvPr/>
        </p:nvSpPr>
        <p:spPr>
          <a:xfrm>
            <a:off x="6839712" y="4005072"/>
            <a:ext cx="1664208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1521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[许可/隐私/安全]</a:t>
            </a:r>
            <a:endParaRPr lang="en-US" sz="1120" dirty="0"/>
          </a:p>
        </p:txBody>
      </p:sp>
      <p:sp>
        <p:nvSpPr>
          <p:cNvPr id="57" name="Shape 53"/>
          <p:cNvSpPr/>
          <p:nvPr/>
        </p:nvSpPr>
        <p:spPr>
          <a:xfrm>
            <a:off x="8577072" y="4206240"/>
            <a:ext cx="310896" cy="0"/>
          </a:xfrm>
          <a:prstGeom prst="line">
            <a:avLst/>
          </a:prstGeom>
          <a:noFill/>
          <a:ln w="15240">
            <a:solidFill>
              <a:srgbClr val="AAB6CB"/>
            </a:solidFill>
            <a:prstDash val="solid"/>
            <a:tailEnd type="triangle"/>
          </a:ln>
        </p:spPr>
      </p:sp>
      <p:sp>
        <p:nvSpPr>
          <p:cNvPr id="58" name="Text 54"/>
          <p:cNvSpPr txBox="1"/>
          <p:nvPr/>
        </p:nvSpPr>
        <p:spPr>
          <a:xfrm>
            <a:off x="8979408" y="4005072"/>
            <a:ext cx="155448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[流程/审查/认证]</a:t>
            </a:r>
            <a:endParaRPr lang="en-US" sz="1120" dirty="0"/>
          </a:p>
        </p:txBody>
      </p:sp>
      <p:sp>
        <p:nvSpPr>
          <p:cNvPr id="59" name="Shape 55"/>
          <p:cNvSpPr/>
          <p:nvPr/>
        </p:nvSpPr>
        <p:spPr>
          <a:xfrm>
            <a:off x="896112" y="4919472"/>
            <a:ext cx="9857232" cy="530352"/>
          </a:xfrm>
          <a:prstGeom prst="roundRect">
            <a:avLst>
              <a:gd name="adj" fmla="val 13793"/>
            </a:avLst>
          </a:prstGeom>
          <a:solidFill>
            <a:srgbClr val="FFF3E7"/>
          </a:solidFill>
          <a:ln w="10160">
            <a:solidFill>
              <a:srgbClr val="F1C69E"/>
            </a:solidFill>
            <a:prstDash val="solid"/>
          </a:ln>
        </p:spPr>
      </p:sp>
      <p:sp>
        <p:nvSpPr>
          <p:cNvPr id="60" name="Text 56"/>
          <p:cNvSpPr txBox="1"/>
          <p:nvPr/>
        </p:nvSpPr>
        <p:spPr>
          <a:xfrm>
            <a:off x="1097280" y="5038344"/>
            <a:ext cx="94640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A4B1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原则：主动说明不足不扣分；回避、隐瞒或无法解释重大风险会显著影响可信度。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7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智极松_content_bg_clean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mnt/data/智极松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2880"/>
            <a:ext cx="1234440" cy="37490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874520" y="164592"/>
            <a:ext cx="6583680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备份 4：财务预测与融资用途</a:t>
            </a:r>
            <a:endParaRPr lang="en-US" sz="2700" dirty="0"/>
          </a:p>
        </p:txBody>
      </p:sp>
      <p:sp>
        <p:nvSpPr>
          <p:cNvPr id="5" name="Text 1"/>
          <p:cNvSpPr txBox="1"/>
          <p:nvPr/>
        </p:nvSpPr>
        <p:spPr>
          <a:xfrm>
            <a:off x="1901952" y="621792"/>
            <a:ext cx="68580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C8D3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保持假设透明，重点说明收入来源、毛利、现金流和里程碑</a:t>
            </a:r>
            <a:endParaRPr lang="en-US" sz="1050" dirty="0"/>
          </a:p>
        </p:txBody>
      </p:sp>
      <p:sp>
        <p:nvSpPr>
          <p:cNvPr id="6" name="Shape 2"/>
          <p:cNvSpPr/>
          <p:nvPr/>
        </p:nvSpPr>
        <p:spPr>
          <a:xfrm>
            <a:off x="9281160" y="210312"/>
            <a:ext cx="1554480" cy="310896"/>
          </a:xfrm>
          <a:prstGeom prst="roundRect">
            <a:avLst>
              <a:gd name="adj" fmla="val 35294"/>
            </a:avLst>
          </a:prstGeom>
          <a:solidFill>
            <a:srgbClr val="53C6EE"/>
          </a:solidFill>
          <a:ln w="12700">
            <a:solidFill>
              <a:srgbClr val="53C6EE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9326880" y="219456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1927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答辩备份 · —分</a:t>
            </a:r>
            <a:endParaRPr lang="en-US" sz="1020" dirty="0"/>
          </a:p>
        </p:txBody>
      </p:sp>
      <p:sp>
        <p:nvSpPr>
          <p:cNvPr id="8" name="Shape 4"/>
          <p:cNvSpPr/>
          <p:nvPr/>
        </p:nvSpPr>
        <p:spPr>
          <a:xfrm>
            <a:off x="10927080" y="210312"/>
            <a:ext cx="822960" cy="310896"/>
          </a:xfrm>
          <a:prstGeom prst="roundRect">
            <a:avLst>
              <a:gd name="adj" fmla="val 35294"/>
            </a:avLst>
          </a:prstGeom>
          <a:solidFill>
            <a:srgbClr val="F46883"/>
          </a:solidFill>
          <a:ln w="12700">
            <a:solidFill>
              <a:srgbClr val="F4688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10972800" y="219456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建议 按需</a:t>
            </a:r>
            <a:endParaRPr lang="en-US" sz="1020" dirty="0"/>
          </a:p>
        </p:txBody>
      </p:sp>
      <p:sp>
        <p:nvSpPr>
          <p:cNvPr id="10" name="Shape 6"/>
          <p:cNvSpPr/>
          <p:nvPr/>
        </p:nvSpPr>
        <p:spPr>
          <a:xfrm>
            <a:off x="1874520" y="749808"/>
            <a:ext cx="9756648" cy="0"/>
          </a:xfrm>
          <a:prstGeom prst="line">
            <a:avLst/>
          </a:prstGeom>
          <a:noFill/>
          <a:ln w="13970">
            <a:solidFill>
              <a:srgbClr val="53C6EE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38912" y="941832"/>
            <a:ext cx="11311128" cy="5230368"/>
          </a:xfrm>
          <a:prstGeom prst="roundRect">
            <a:avLst>
              <a:gd name="adj" fmla="val 2448"/>
            </a:avLst>
          </a:prstGeom>
          <a:solidFill>
            <a:srgbClr val="F6F8FC"/>
          </a:solidFill>
          <a:ln w="10160">
            <a:solidFill>
              <a:srgbClr val="E1E6F0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9464040" y="6446520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C6D0E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智极松决赛路演模板  |  第 16 页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822960" y="1234440"/>
            <a:ext cx="384048" cy="384048"/>
          </a:xfrm>
          <a:prstGeom prst="ellipse">
            <a:avLst/>
          </a:prstGeom>
          <a:solidFill>
            <a:srgbClr val="3C8EDB"/>
          </a:solidFill>
          <a:ln w="12700">
            <a:solidFill>
              <a:srgbClr val="3C8EDB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822960" y="123444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1334770" y="1225550"/>
            <a:ext cx="2903855" cy="40259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521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三年关键预测（示例结构）</a:t>
            </a: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868680" y="1691640"/>
            <a:ext cx="1874520" cy="502920"/>
          </a:xfrm>
          <a:prstGeom prst="roundRect">
            <a:avLst>
              <a:gd name="adj" fmla="val 9091"/>
            </a:avLst>
          </a:prstGeom>
          <a:solidFill>
            <a:srgbClr val="233566"/>
          </a:solidFill>
          <a:ln w="10160">
            <a:solidFill>
              <a:srgbClr val="233566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941832" y="1783080"/>
            <a:ext cx="1728216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指标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2926080" y="1691640"/>
            <a:ext cx="1691640" cy="502920"/>
          </a:xfrm>
          <a:prstGeom prst="roundRect">
            <a:avLst>
              <a:gd name="adj" fmla="val 9091"/>
            </a:avLst>
          </a:prstGeom>
          <a:solidFill>
            <a:srgbClr val="3C8EDB"/>
          </a:solidFill>
          <a:ln w="10160">
            <a:solidFill>
              <a:srgbClr val="3C8EDB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2999232" y="1783080"/>
            <a:ext cx="1545336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第1年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4800600" y="1691640"/>
            <a:ext cx="1691640" cy="502920"/>
          </a:xfrm>
          <a:prstGeom prst="roundRect">
            <a:avLst>
              <a:gd name="adj" fmla="val 9091"/>
            </a:avLst>
          </a:prstGeom>
          <a:solidFill>
            <a:srgbClr val="3C8EDB"/>
          </a:solidFill>
          <a:ln w="10160">
            <a:solidFill>
              <a:srgbClr val="3C8EDB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4873752" y="1783080"/>
            <a:ext cx="1545336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第2年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6675120" y="1691640"/>
            <a:ext cx="1691640" cy="502920"/>
          </a:xfrm>
          <a:prstGeom prst="roundRect">
            <a:avLst>
              <a:gd name="adj" fmla="val 9091"/>
            </a:avLst>
          </a:prstGeom>
          <a:solidFill>
            <a:srgbClr val="3C8EDB"/>
          </a:solidFill>
          <a:ln w="10160">
            <a:solidFill>
              <a:srgbClr val="3C8EDB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6748272" y="1783080"/>
            <a:ext cx="1545336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第3年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868680" y="2249424"/>
            <a:ext cx="187452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160">
            <a:solidFill>
              <a:srgbClr val="DCE3EE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941832" y="2322576"/>
            <a:ext cx="172821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521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客户数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2926080" y="2249424"/>
            <a:ext cx="169164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160">
            <a:solidFill>
              <a:srgbClr val="DCE3EE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2999232" y="2322576"/>
            <a:ext cx="154533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521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[N]</a:t>
            </a:r>
            <a:endParaRPr lang="en-US" sz="1150" dirty="0"/>
          </a:p>
        </p:txBody>
      </p:sp>
      <p:sp>
        <p:nvSpPr>
          <p:cNvPr id="28" name="Shape 24"/>
          <p:cNvSpPr/>
          <p:nvPr/>
        </p:nvSpPr>
        <p:spPr>
          <a:xfrm>
            <a:off x="4800600" y="2249424"/>
            <a:ext cx="169164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160">
            <a:solidFill>
              <a:srgbClr val="DCE3EE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4873752" y="2322576"/>
            <a:ext cx="154533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521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[N]</a:t>
            </a:r>
            <a:endParaRPr lang="en-US" sz="1150" dirty="0"/>
          </a:p>
        </p:txBody>
      </p:sp>
      <p:sp>
        <p:nvSpPr>
          <p:cNvPr id="30" name="Shape 26"/>
          <p:cNvSpPr/>
          <p:nvPr/>
        </p:nvSpPr>
        <p:spPr>
          <a:xfrm>
            <a:off x="6675120" y="2249424"/>
            <a:ext cx="169164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160">
            <a:solidFill>
              <a:srgbClr val="DCE3EE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6748272" y="2322576"/>
            <a:ext cx="154533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521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[N]</a:t>
            </a:r>
            <a:endParaRPr lang="en-US" sz="1150" dirty="0"/>
          </a:p>
        </p:txBody>
      </p:sp>
      <p:sp>
        <p:nvSpPr>
          <p:cNvPr id="32" name="Shape 28"/>
          <p:cNvSpPr/>
          <p:nvPr/>
        </p:nvSpPr>
        <p:spPr>
          <a:xfrm>
            <a:off x="868680" y="2807208"/>
            <a:ext cx="1874520" cy="502920"/>
          </a:xfrm>
          <a:prstGeom prst="roundRect">
            <a:avLst>
              <a:gd name="adj" fmla="val 7273"/>
            </a:avLst>
          </a:prstGeom>
          <a:solidFill>
            <a:srgbClr val="F6F8FC"/>
          </a:solidFill>
          <a:ln w="10160">
            <a:solidFill>
              <a:srgbClr val="DCE3EE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941832" y="2880360"/>
            <a:ext cx="172821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521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营业收入</a:t>
            </a:r>
            <a:endParaRPr lang="en-US" sz="1150" dirty="0"/>
          </a:p>
        </p:txBody>
      </p:sp>
      <p:sp>
        <p:nvSpPr>
          <p:cNvPr id="34" name="Shape 30"/>
          <p:cNvSpPr/>
          <p:nvPr/>
        </p:nvSpPr>
        <p:spPr>
          <a:xfrm>
            <a:off x="2926080" y="2807208"/>
            <a:ext cx="1691640" cy="502920"/>
          </a:xfrm>
          <a:prstGeom prst="roundRect">
            <a:avLst>
              <a:gd name="adj" fmla="val 7273"/>
            </a:avLst>
          </a:prstGeom>
          <a:solidFill>
            <a:srgbClr val="F6F8FC"/>
          </a:solidFill>
          <a:ln w="10160">
            <a:solidFill>
              <a:srgbClr val="DCE3EE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2999232" y="2880360"/>
            <a:ext cx="154533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521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[万元]</a:t>
            </a:r>
            <a:endParaRPr lang="en-US" sz="1150" dirty="0"/>
          </a:p>
        </p:txBody>
      </p:sp>
      <p:sp>
        <p:nvSpPr>
          <p:cNvPr id="36" name="Shape 32"/>
          <p:cNvSpPr/>
          <p:nvPr/>
        </p:nvSpPr>
        <p:spPr>
          <a:xfrm>
            <a:off x="4800600" y="2807208"/>
            <a:ext cx="1691640" cy="502920"/>
          </a:xfrm>
          <a:prstGeom prst="roundRect">
            <a:avLst>
              <a:gd name="adj" fmla="val 7273"/>
            </a:avLst>
          </a:prstGeom>
          <a:solidFill>
            <a:srgbClr val="F6F8FC"/>
          </a:solidFill>
          <a:ln w="10160">
            <a:solidFill>
              <a:srgbClr val="DCE3EE"/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4873752" y="2880360"/>
            <a:ext cx="154533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521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[万元]</a:t>
            </a:r>
            <a:endParaRPr lang="en-US" sz="1150" dirty="0"/>
          </a:p>
        </p:txBody>
      </p:sp>
      <p:sp>
        <p:nvSpPr>
          <p:cNvPr id="38" name="Shape 34"/>
          <p:cNvSpPr/>
          <p:nvPr/>
        </p:nvSpPr>
        <p:spPr>
          <a:xfrm>
            <a:off x="6675120" y="2807208"/>
            <a:ext cx="1691640" cy="502920"/>
          </a:xfrm>
          <a:prstGeom prst="roundRect">
            <a:avLst>
              <a:gd name="adj" fmla="val 7273"/>
            </a:avLst>
          </a:prstGeom>
          <a:solidFill>
            <a:srgbClr val="F6F8FC"/>
          </a:solidFill>
          <a:ln w="10160">
            <a:solidFill>
              <a:srgbClr val="DCE3EE"/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6748272" y="2880360"/>
            <a:ext cx="154533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521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[万元]</a:t>
            </a:r>
            <a:endParaRPr lang="en-US" sz="1150" dirty="0"/>
          </a:p>
        </p:txBody>
      </p:sp>
      <p:sp>
        <p:nvSpPr>
          <p:cNvPr id="40" name="Shape 36"/>
          <p:cNvSpPr/>
          <p:nvPr/>
        </p:nvSpPr>
        <p:spPr>
          <a:xfrm>
            <a:off x="868680" y="3364992"/>
            <a:ext cx="187452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160">
            <a:solidFill>
              <a:srgbClr val="DCE3EE"/>
            </a:solidFill>
            <a:prstDash val="solid"/>
          </a:ln>
        </p:spPr>
      </p:sp>
      <p:sp>
        <p:nvSpPr>
          <p:cNvPr id="41" name="Text 37"/>
          <p:cNvSpPr txBox="1"/>
          <p:nvPr/>
        </p:nvSpPr>
        <p:spPr>
          <a:xfrm>
            <a:off x="941832" y="3438144"/>
            <a:ext cx="172821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521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毛利率</a:t>
            </a:r>
            <a:endParaRPr lang="en-US" sz="1150" dirty="0"/>
          </a:p>
        </p:txBody>
      </p:sp>
      <p:sp>
        <p:nvSpPr>
          <p:cNvPr id="42" name="Shape 38"/>
          <p:cNvSpPr/>
          <p:nvPr/>
        </p:nvSpPr>
        <p:spPr>
          <a:xfrm>
            <a:off x="2926080" y="3364992"/>
            <a:ext cx="169164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160">
            <a:solidFill>
              <a:srgbClr val="DCE3EE"/>
            </a:solidFill>
            <a:prstDash val="solid"/>
          </a:ln>
        </p:spPr>
      </p:sp>
      <p:sp>
        <p:nvSpPr>
          <p:cNvPr id="43" name="Text 39"/>
          <p:cNvSpPr txBox="1"/>
          <p:nvPr/>
        </p:nvSpPr>
        <p:spPr>
          <a:xfrm>
            <a:off x="2999232" y="3438144"/>
            <a:ext cx="154533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521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[%]</a:t>
            </a:r>
            <a:endParaRPr lang="en-US" sz="1150" dirty="0"/>
          </a:p>
        </p:txBody>
      </p:sp>
      <p:sp>
        <p:nvSpPr>
          <p:cNvPr id="44" name="Shape 40"/>
          <p:cNvSpPr/>
          <p:nvPr/>
        </p:nvSpPr>
        <p:spPr>
          <a:xfrm>
            <a:off x="4800600" y="3364992"/>
            <a:ext cx="169164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160">
            <a:solidFill>
              <a:srgbClr val="DCE3EE"/>
            </a:solidFill>
            <a:prstDash val="solid"/>
          </a:ln>
        </p:spPr>
      </p:sp>
      <p:sp>
        <p:nvSpPr>
          <p:cNvPr id="45" name="Text 41"/>
          <p:cNvSpPr txBox="1"/>
          <p:nvPr/>
        </p:nvSpPr>
        <p:spPr>
          <a:xfrm>
            <a:off x="4873752" y="3438144"/>
            <a:ext cx="154533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521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[%]</a:t>
            </a:r>
            <a:endParaRPr lang="en-US" sz="1150" dirty="0"/>
          </a:p>
        </p:txBody>
      </p:sp>
      <p:sp>
        <p:nvSpPr>
          <p:cNvPr id="46" name="Shape 42"/>
          <p:cNvSpPr/>
          <p:nvPr/>
        </p:nvSpPr>
        <p:spPr>
          <a:xfrm>
            <a:off x="6675120" y="3364992"/>
            <a:ext cx="169164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160">
            <a:solidFill>
              <a:srgbClr val="DCE3EE"/>
            </a:solidFill>
            <a:prstDash val="solid"/>
          </a:ln>
        </p:spPr>
      </p:sp>
      <p:sp>
        <p:nvSpPr>
          <p:cNvPr id="47" name="Text 43"/>
          <p:cNvSpPr txBox="1"/>
          <p:nvPr/>
        </p:nvSpPr>
        <p:spPr>
          <a:xfrm>
            <a:off x="6748272" y="3438144"/>
            <a:ext cx="154533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521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[%]</a:t>
            </a:r>
            <a:endParaRPr lang="en-US" sz="1150" dirty="0"/>
          </a:p>
        </p:txBody>
      </p:sp>
      <p:sp>
        <p:nvSpPr>
          <p:cNvPr id="48" name="Shape 44"/>
          <p:cNvSpPr/>
          <p:nvPr/>
        </p:nvSpPr>
        <p:spPr>
          <a:xfrm>
            <a:off x="868680" y="3922776"/>
            <a:ext cx="1874520" cy="502920"/>
          </a:xfrm>
          <a:prstGeom prst="roundRect">
            <a:avLst>
              <a:gd name="adj" fmla="val 7273"/>
            </a:avLst>
          </a:prstGeom>
          <a:solidFill>
            <a:srgbClr val="F6F8FC"/>
          </a:solidFill>
          <a:ln w="10160">
            <a:solidFill>
              <a:srgbClr val="DCE3EE"/>
            </a:solidFill>
            <a:prstDash val="solid"/>
          </a:ln>
        </p:spPr>
      </p:sp>
      <p:sp>
        <p:nvSpPr>
          <p:cNvPr id="49" name="Text 45"/>
          <p:cNvSpPr txBox="1"/>
          <p:nvPr/>
        </p:nvSpPr>
        <p:spPr>
          <a:xfrm>
            <a:off x="941832" y="3995928"/>
            <a:ext cx="172821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521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研发/销售投入</a:t>
            </a:r>
            <a:endParaRPr lang="en-US" sz="1150" dirty="0"/>
          </a:p>
        </p:txBody>
      </p:sp>
      <p:sp>
        <p:nvSpPr>
          <p:cNvPr id="50" name="Shape 46"/>
          <p:cNvSpPr/>
          <p:nvPr/>
        </p:nvSpPr>
        <p:spPr>
          <a:xfrm>
            <a:off x="2926080" y="3922776"/>
            <a:ext cx="1691640" cy="502920"/>
          </a:xfrm>
          <a:prstGeom prst="roundRect">
            <a:avLst>
              <a:gd name="adj" fmla="val 7273"/>
            </a:avLst>
          </a:prstGeom>
          <a:solidFill>
            <a:srgbClr val="F6F8FC"/>
          </a:solidFill>
          <a:ln w="10160">
            <a:solidFill>
              <a:srgbClr val="DCE3EE"/>
            </a:solidFill>
            <a:prstDash val="solid"/>
          </a:ln>
        </p:spPr>
      </p:sp>
      <p:sp>
        <p:nvSpPr>
          <p:cNvPr id="51" name="Text 47"/>
          <p:cNvSpPr txBox="1"/>
          <p:nvPr/>
        </p:nvSpPr>
        <p:spPr>
          <a:xfrm>
            <a:off x="2999232" y="3995928"/>
            <a:ext cx="154533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521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[万元]</a:t>
            </a:r>
            <a:endParaRPr lang="en-US" sz="1150" dirty="0"/>
          </a:p>
        </p:txBody>
      </p:sp>
      <p:sp>
        <p:nvSpPr>
          <p:cNvPr id="52" name="Shape 48"/>
          <p:cNvSpPr/>
          <p:nvPr/>
        </p:nvSpPr>
        <p:spPr>
          <a:xfrm>
            <a:off x="4800600" y="3922776"/>
            <a:ext cx="1691640" cy="502920"/>
          </a:xfrm>
          <a:prstGeom prst="roundRect">
            <a:avLst>
              <a:gd name="adj" fmla="val 7273"/>
            </a:avLst>
          </a:prstGeom>
          <a:solidFill>
            <a:srgbClr val="F6F8FC"/>
          </a:solidFill>
          <a:ln w="10160">
            <a:solidFill>
              <a:srgbClr val="DCE3EE"/>
            </a:solidFill>
            <a:prstDash val="solid"/>
          </a:ln>
        </p:spPr>
      </p:sp>
      <p:sp>
        <p:nvSpPr>
          <p:cNvPr id="53" name="Text 49"/>
          <p:cNvSpPr txBox="1"/>
          <p:nvPr/>
        </p:nvSpPr>
        <p:spPr>
          <a:xfrm>
            <a:off x="4873752" y="3995928"/>
            <a:ext cx="154533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521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[万元]</a:t>
            </a:r>
            <a:endParaRPr lang="en-US" sz="1150" dirty="0"/>
          </a:p>
        </p:txBody>
      </p:sp>
      <p:sp>
        <p:nvSpPr>
          <p:cNvPr id="54" name="Shape 50"/>
          <p:cNvSpPr/>
          <p:nvPr/>
        </p:nvSpPr>
        <p:spPr>
          <a:xfrm>
            <a:off x="6675120" y="3922776"/>
            <a:ext cx="1691640" cy="502920"/>
          </a:xfrm>
          <a:prstGeom prst="roundRect">
            <a:avLst>
              <a:gd name="adj" fmla="val 7273"/>
            </a:avLst>
          </a:prstGeom>
          <a:solidFill>
            <a:srgbClr val="F6F8FC"/>
          </a:solidFill>
          <a:ln w="10160">
            <a:solidFill>
              <a:srgbClr val="DCE3EE"/>
            </a:solidFill>
            <a:prstDash val="solid"/>
          </a:ln>
        </p:spPr>
      </p:sp>
      <p:sp>
        <p:nvSpPr>
          <p:cNvPr id="55" name="Text 51"/>
          <p:cNvSpPr txBox="1"/>
          <p:nvPr/>
        </p:nvSpPr>
        <p:spPr>
          <a:xfrm>
            <a:off x="6748272" y="3995928"/>
            <a:ext cx="154533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521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[万元]</a:t>
            </a:r>
            <a:endParaRPr lang="en-US" sz="1150" dirty="0"/>
          </a:p>
        </p:txBody>
      </p:sp>
      <p:sp>
        <p:nvSpPr>
          <p:cNvPr id="56" name="Shape 52"/>
          <p:cNvSpPr/>
          <p:nvPr/>
        </p:nvSpPr>
        <p:spPr>
          <a:xfrm>
            <a:off x="868680" y="4480560"/>
            <a:ext cx="187452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160">
            <a:solidFill>
              <a:srgbClr val="DCE3EE"/>
            </a:solidFill>
            <a:prstDash val="solid"/>
          </a:ln>
        </p:spPr>
      </p:sp>
      <p:sp>
        <p:nvSpPr>
          <p:cNvPr id="57" name="Text 53"/>
          <p:cNvSpPr txBox="1"/>
          <p:nvPr/>
        </p:nvSpPr>
        <p:spPr>
          <a:xfrm>
            <a:off x="941832" y="4553712"/>
            <a:ext cx="172821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521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经营现金流</a:t>
            </a:r>
            <a:endParaRPr lang="en-US" sz="1150" dirty="0"/>
          </a:p>
        </p:txBody>
      </p:sp>
      <p:sp>
        <p:nvSpPr>
          <p:cNvPr id="58" name="Shape 54"/>
          <p:cNvSpPr/>
          <p:nvPr/>
        </p:nvSpPr>
        <p:spPr>
          <a:xfrm>
            <a:off x="2926080" y="4480560"/>
            <a:ext cx="169164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160">
            <a:solidFill>
              <a:srgbClr val="DCE3EE"/>
            </a:solidFill>
            <a:prstDash val="solid"/>
          </a:ln>
        </p:spPr>
      </p:sp>
      <p:sp>
        <p:nvSpPr>
          <p:cNvPr id="59" name="Text 55"/>
          <p:cNvSpPr txBox="1"/>
          <p:nvPr/>
        </p:nvSpPr>
        <p:spPr>
          <a:xfrm>
            <a:off x="2999232" y="4553712"/>
            <a:ext cx="154533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521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[万元]</a:t>
            </a:r>
            <a:endParaRPr lang="en-US" sz="1150" dirty="0"/>
          </a:p>
        </p:txBody>
      </p:sp>
      <p:sp>
        <p:nvSpPr>
          <p:cNvPr id="60" name="Shape 56"/>
          <p:cNvSpPr/>
          <p:nvPr/>
        </p:nvSpPr>
        <p:spPr>
          <a:xfrm>
            <a:off x="4800600" y="4480560"/>
            <a:ext cx="169164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160">
            <a:solidFill>
              <a:srgbClr val="DCE3EE"/>
            </a:solidFill>
            <a:prstDash val="solid"/>
          </a:ln>
        </p:spPr>
      </p:sp>
      <p:sp>
        <p:nvSpPr>
          <p:cNvPr id="61" name="Text 57"/>
          <p:cNvSpPr txBox="1"/>
          <p:nvPr/>
        </p:nvSpPr>
        <p:spPr>
          <a:xfrm>
            <a:off x="4873752" y="4553712"/>
            <a:ext cx="154533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521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[万元]</a:t>
            </a:r>
            <a:endParaRPr lang="en-US" sz="1150" dirty="0"/>
          </a:p>
        </p:txBody>
      </p:sp>
      <p:sp>
        <p:nvSpPr>
          <p:cNvPr id="62" name="Shape 58"/>
          <p:cNvSpPr/>
          <p:nvPr/>
        </p:nvSpPr>
        <p:spPr>
          <a:xfrm>
            <a:off x="6675120" y="4480560"/>
            <a:ext cx="169164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160">
            <a:solidFill>
              <a:srgbClr val="DCE3EE"/>
            </a:solidFill>
            <a:prstDash val="solid"/>
          </a:ln>
        </p:spPr>
      </p:sp>
      <p:sp>
        <p:nvSpPr>
          <p:cNvPr id="63" name="Text 59"/>
          <p:cNvSpPr txBox="1"/>
          <p:nvPr/>
        </p:nvSpPr>
        <p:spPr>
          <a:xfrm>
            <a:off x="6748272" y="4553712"/>
            <a:ext cx="154533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521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[万元]</a:t>
            </a:r>
            <a:endParaRPr lang="en-US" sz="1150" dirty="0"/>
          </a:p>
        </p:txBody>
      </p:sp>
      <p:sp>
        <p:nvSpPr>
          <p:cNvPr id="64" name="Shape 60"/>
          <p:cNvSpPr/>
          <p:nvPr/>
        </p:nvSpPr>
        <p:spPr>
          <a:xfrm>
            <a:off x="8732520" y="1234440"/>
            <a:ext cx="384048" cy="384048"/>
          </a:xfrm>
          <a:prstGeom prst="ellipse">
            <a:avLst/>
          </a:prstGeom>
          <a:solidFill>
            <a:srgbClr val="F46883"/>
          </a:solidFill>
          <a:ln w="12700">
            <a:solidFill>
              <a:srgbClr val="F46883"/>
            </a:solidFill>
            <a:prstDash val="solid"/>
          </a:ln>
        </p:spPr>
      </p:sp>
      <p:sp>
        <p:nvSpPr>
          <p:cNvPr id="65" name="Text 61"/>
          <p:cNvSpPr txBox="1"/>
          <p:nvPr/>
        </p:nvSpPr>
        <p:spPr>
          <a:xfrm>
            <a:off x="8732520" y="123444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400" dirty="0"/>
          </a:p>
        </p:txBody>
      </p:sp>
      <p:sp>
        <p:nvSpPr>
          <p:cNvPr id="66" name="Text 62"/>
          <p:cNvSpPr txBox="1"/>
          <p:nvPr/>
        </p:nvSpPr>
        <p:spPr>
          <a:xfrm>
            <a:off x="9244584" y="1225296"/>
            <a:ext cx="1773936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521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融资用途与里程碑</a:t>
            </a:r>
            <a:endParaRPr lang="en-US" sz="2000" dirty="0"/>
          </a:p>
        </p:txBody>
      </p:sp>
      <p:sp>
        <p:nvSpPr>
          <p:cNvPr id="67" name="Text 63"/>
          <p:cNvSpPr txBox="1"/>
          <p:nvPr/>
        </p:nvSpPr>
        <p:spPr>
          <a:xfrm>
            <a:off x="8823960" y="1847088"/>
            <a:ext cx="114300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521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产品/研发</a:t>
            </a:r>
            <a:endParaRPr lang="en-US" sz="1250" dirty="0"/>
          </a:p>
        </p:txBody>
      </p:sp>
      <p:sp>
        <p:nvSpPr>
          <p:cNvPr id="68" name="Shape 64"/>
          <p:cNvSpPr/>
          <p:nvPr/>
        </p:nvSpPr>
        <p:spPr>
          <a:xfrm>
            <a:off x="8823960" y="2167128"/>
            <a:ext cx="2331720" cy="219456"/>
          </a:xfrm>
          <a:prstGeom prst="roundRect">
            <a:avLst>
              <a:gd name="adj" fmla="val 25000"/>
            </a:avLst>
          </a:prstGeom>
          <a:solidFill>
            <a:srgbClr val="E9EDF4"/>
          </a:solidFill>
          <a:ln w="12700">
            <a:solidFill>
              <a:srgbClr val="E9EDF4"/>
            </a:solidFill>
            <a:prstDash val="solid"/>
          </a:ln>
        </p:spPr>
      </p:sp>
      <p:sp>
        <p:nvSpPr>
          <p:cNvPr id="69" name="Shape 65"/>
          <p:cNvSpPr/>
          <p:nvPr/>
        </p:nvSpPr>
        <p:spPr>
          <a:xfrm>
            <a:off x="8823960" y="2167128"/>
            <a:ext cx="932688" cy="219456"/>
          </a:xfrm>
          <a:prstGeom prst="roundRect">
            <a:avLst>
              <a:gd name="adj" fmla="val 25000"/>
            </a:avLst>
          </a:prstGeom>
          <a:solidFill>
            <a:srgbClr val="53C6EE"/>
          </a:solidFill>
          <a:ln w="12700">
            <a:solidFill>
              <a:srgbClr val="53C6EE"/>
            </a:solidFill>
            <a:prstDash val="solid"/>
          </a:ln>
        </p:spPr>
      </p:sp>
      <p:sp>
        <p:nvSpPr>
          <p:cNvPr id="70" name="Text 66"/>
          <p:cNvSpPr txBox="1"/>
          <p:nvPr/>
        </p:nvSpPr>
        <p:spPr>
          <a:xfrm>
            <a:off x="10625328" y="1847088"/>
            <a:ext cx="47548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53C6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40%</a:t>
            </a:r>
            <a:endParaRPr lang="en-US" sz="1250" dirty="0"/>
          </a:p>
        </p:txBody>
      </p:sp>
      <p:sp>
        <p:nvSpPr>
          <p:cNvPr id="71" name="Text 67"/>
          <p:cNvSpPr txBox="1"/>
          <p:nvPr/>
        </p:nvSpPr>
        <p:spPr>
          <a:xfrm>
            <a:off x="8823960" y="2670048"/>
            <a:ext cx="114300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521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市场/交付</a:t>
            </a:r>
            <a:endParaRPr lang="en-US" sz="1250" dirty="0"/>
          </a:p>
        </p:txBody>
      </p:sp>
      <p:sp>
        <p:nvSpPr>
          <p:cNvPr id="72" name="Shape 68"/>
          <p:cNvSpPr/>
          <p:nvPr/>
        </p:nvSpPr>
        <p:spPr>
          <a:xfrm>
            <a:off x="8823960" y="2990088"/>
            <a:ext cx="2331720" cy="219456"/>
          </a:xfrm>
          <a:prstGeom prst="roundRect">
            <a:avLst>
              <a:gd name="adj" fmla="val 25000"/>
            </a:avLst>
          </a:prstGeom>
          <a:solidFill>
            <a:srgbClr val="E9EDF4"/>
          </a:solidFill>
          <a:ln w="12700">
            <a:solidFill>
              <a:srgbClr val="E9EDF4"/>
            </a:solidFill>
            <a:prstDash val="solid"/>
          </a:ln>
        </p:spPr>
      </p:sp>
      <p:sp>
        <p:nvSpPr>
          <p:cNvPr id="73" name="Shape 69"/>
          <p:cNvSpPr/>
          <p:nvPr/>
        </p:nvSpPr>
        <p:spPr>
          <a:xfrm>
            <a:off x="8823960" y="2990088"/>
            <a:ext cx="816102" cy="219456"/>
          </a:xfrm>
          <a:prstGeom prst="roundRect">
            <a:avLst>
              <a:gd name="adj" fmla="val 25000"/>
            </a:avLst>
          </a:prstGeom>
          <a:solidFill>
            <a:srgbClr val="F46883"/>
          </a:solidFill>
          <a:ln w="12700">
            <a:solidFill>
              <a:srgbClr val="F46883"/>
            </a:solidFill>
            <a:prstDash val="solid"/>
          </a:ln>
        </p:spPr>
      </p:sp>
      <p:sp>
        <p:nvSpPr>
          <p:cNvPr id="74" name="Text 70"/>
          <p:cNvSpPr txBox="1"/>
          <p:nvPr/>
        </p:nvSpPr>
        <p:spPr>
          <a:xfrm>
            <a:off x="10625328" y="2670048"/>
            <a:ext cx="47548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4688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35%</a:t>
            </a:r>
            <a:endParaRPr lang="en-US" sz="1250" dirty="0"/>
          </a:p>
        </p:txBody>
      </p:sp>
      <p:sp>
        <p:nvSpPr>
          <p:cNvPr id="75" name="Text 71"/>
          <p:cNvSpPr txBox="1"/>
          <p:nvPr/>
        </p:nvSpPr>
        <p:spPr>
          <a:xfrm>
            <a:off x="8823960" y="3493008"/>
            <a:ext cx="114300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521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团队/合规</a:t>
            </a:r>
            <a:endParaRPr lang="en-US" sz="1250" dirty="0"/>
          </a:p>
        </p:txBody>
      </p:sp>
      <p:sp>
        <p:nvSpPr>
          <p:cNvPr id="76" name="Shape 72"/>
          <p:cNvSpPr/>
          <p:nvPr/>
        </p:nvSpPr>
        <p:spPr>
          <a:xfrm>
            <a:off x="8823960" y="3813048"/>
            <a:ext cx="2331720" cy="219456"/>
          </a:xfrm>
          <a:prstGeom prst="roundRect">
            <a:avLst>
              <a:gd name="adj" fmla="val 25000"/>
            </a:avLst>
          </a:prstGeom>
          <a:solidFill>
            <a:srgbClr val="E9EDF4"/>
          </a:solidFill>
          <a:ln w="12700">
            <a:solidFill>
              <a:srgbClr val="E9EDF4"/>
            </a:solidFill>
            <a:prstDash val="solid"/>
          </a:ln>
        </p:spPr>
      </p:sp>
      <p:sp>
        <p:nvSpPr>
          <p:cNvPr id="77" name="Shape 73"/>
          <p:cNvSpPr/>
          <p:nvPr/>
        </p:nvSpPr>
        <p:spPr>
          <a:xfrm>
            <a:off x="8823960" y="3813048"/>
            <a:ext cx="582930" cy="219456"/>
          </a:xfrm>
          <a:prstGeom prst="roundRect">
            <a:avLst>
              <a:gd name="adj" fmla="val 25000"/>
            </a:avLst>
          </a:prstGeom>
          <a:solidFill>
            <a:srgbClr val="F39A72"/>
          </a:solidFill>
          <a:ln w="12700">
            <a:solidFill>
              <a:srgbClr val="F39A72"/>
            </a:solidFill>
            <a:prstDash val="solid"/>
          </a:ln>
        </p:spPr>
      </p:sp>
      <p:sp>
        <p:nvSpPr>
          <p:cNvPr id="78" name="Text 74"/>
          <p:cNvSpPr txBox="1"/>
          <p:nvPr/>
        </p:nvSpPr>
        <p:spPr>
          <a:xfrm>
            <a:off x="10625328" y="3493008"/>
            <a:ext cx="47548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39A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25%</a:t>
            </a:r>
            <a:endParaRPr lang="en-US" sz="1250" dirty="0"/>
          </a:p>
        </p:txBody>
      </p:sp>
      <p:sp>
        <p:nvSpPr>
          <p:cNvPr id="79" name="Shape 75"/>
          <p:cNvSpPr/>
          <p:nvPr/>
        </p:nvSpPr>
        <p:spPr>
          <a:xfrm>
            <a:off x="8732520" y="4498848"/>
            <a:ext cx="2514600" cy="841248"/>
          </a:xfrm>
          <a:prstGeom prst="roundRect">
            <a:avLst>
              <a:gd name="adj" fmla="val 10870"/>
            </a:avLst>
          </a:prstGeom>
          <a:solidFill>
            <a:srgbClr val="192747"/>
          </a:solidFill>
          <a:ln w="10160">
            <a:solidFill>
              <a:srgbClr val="192747"/>
            </a:solidFill>
            <a:prstDash val="solid"/>
          </a:ln>
        </p:spPr>
      </p:sp>
      <p:sp>
        <p:nvSpPr>
          <p:cNvPr id="80" name="Text 76"/>
          <p:cNvSpPr txBox="1"/>
          <p:nvPr/>
        </p:nvSpPr>
        <p:spPr>
          <a:xfrm>
            <a:off x="8942832" y="4617720"/>
            <a:ext cx="210312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下一里程碑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[客户/收入/认证/版本]</a:t>
            </a:r>
            <a:endParaRPr lang="en-US" sz="1400" dirty="0"/>
          </a:p>
        </p:txBody>
      </p:sp>
      <p:sp>
        <p:nvSpPr>
          <p:cNvPr id="81" name="Shape 77"/>
          <p:cNvSpPr/>
          <p:nvPr/>
        </p:nvSpPr>
        <p:spPr>
          <a:xfrm>
            <a:off x="960120" y="5705856"/>
            <a:ext cx="7772400" cy="310896"/>
          </a:xfrm>
          <a:prstGeom prst="roundRect">
            <a:avLst>
              <a:gd name="adj" fmla="val 23529"/>
            </a:avLst>
          </a:prstGeom>
          <a:solidFill>
            <a:srgbClr val="FFF3E7"/>
          </a:solidFill>
          <a:ln w="10160">
            <a:solidFill>
              <a:srgbClr val="F3C39C"/>
            </a:solidFill>
            <a:prstDash val="solid"/>
          </a:ln>
        </p:spPr>
      </p:sp>
      <p:sp>
        <p:nvSpPr>
          <p:cNvPr id="82" name="Text 78"/>
          <p:cNvSpPr txBox="1"/>
          <p:nvPr/>
        </p:nvSpPr>
        <p:spPr>
          <a:xfrm>
            <a:off x="1069848" y="5724144"/>
            <a:ext cx="7552944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8A4B1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模板提示：所有预测列出关键假设；不能用“市场份额×行业规模”直接代替收入计划。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4737</Words>
  <Application>WPS 文字</Application>
  <PresentationFormat>On-screen Show (16:9)</PresentationFormat>
  <Paragraphs>973</Paragraphs>
  <Slides>17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0" baseType="lpstr">
      <vt:lpstr>Arial</vt:lpstr>
      <vt:lpstr>宋体</vt:lpstr>
      <vt:lpstr>Wingdings</vt:lpstr>
      <vt:lpstr>微软雅黑</vt:lpstr>
      <vt:lpstr>方正雅意黑 GB18030L2</vt:lpstr>
      <vt:lpstr>微软雅黑</vt:lpstr>
      <vt:lpstr>微软雅黑</vt:lpstr>
      <vt:lpstr>宋体</vt:lpstr>
      <vt:lpstr>Arial Unicode MS</vt:lpstr>
      <vt:lpstr>Calibri</vt:lpstr>
      <vt:lpstr>Helvetica Neue</vt:lpstr>
      <vt:lpstr>汉仪书宋二KW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智极松 AI SKILLATHON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智极松决赛10分钟路演模板</dc:title>
  <dc:creator>OpenAI</dc:creator>
  <dc:subject>智极松决赛10分钟路演模板</dc:subject>
  <cp:lastModifiedBy>微信用户</cp:lastModifiedBy>
  <cp:revision>8</cp:revision>
  <dcterms:created xsi:type="dcterms:W3CDTF">2026-08-15T07:40:01Z</dcterms:created>
  <dcterms:modified xsi:type="dcterms:W3CDTF">2026-08-15T07:40:01Z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3DF894976452B3F24617806A63A53308_42</vt:lpwstr>
  </property>
  <property fmtid="{D5CDD505-2E9C-101B-9397-08002B2CF9AE}" pid="3" name="KSOProductBuildVer">
    <vt:lpwstr>2052-12.1.26046.26046</vt:lpwstr>
  </property>
</Properties>
</file>