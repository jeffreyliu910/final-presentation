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截止 0:12。Medical Skill Hub 面向消化系统住院主诊断，把病例、相似病例、PubMed 和本地指南/共识类 Skill 汇入同一条受约束流程，输出结构化 Top-5 与证据。当前为科研与辅助分析，不替代医生。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截止 0:26。医疗诊断不是关键词匹配。指南提供带适用人群、决策顺序、证据等级、例外条件和版本边界的权威约束；系统必须把这些条件与当前患者事实匹配起来。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截止 0:40。RAG 擅长找相关原文，却可能把推荐条件、强度和例外切散；知识图谱能表达关系，但完整建模复杂指南需要高成本本体设计与维护。系统最终走向结构化、流程化、可执行的指南 Skill。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截止 0:50。每部指南被编译成独立 Skill：统一对外接口，内部保留不同指南结构；返回完整推荐单元，在验证患者条件后按流程执行，并支持按需路由和独立版本更新。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截止 1:00。目标场景是消化系统住院病例的主诊断候选排序、ICD-10-CM 编码与循证说明。系统把医生需要分散完成的信息处理放进一条工作流。当前没有医生对照数据，所以只说潜在价值。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截止 1:35。先讲 01–03：隔离预处理、相似病例与封闭候选集；再讲 04：PubMed 与本地 Skill 并行取证；最后讲 05：只在闭集内输出固定 Top-5，最多两轮纠偏。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截止 2:05。每张卡只讲一句“模型做什么，程序继续限制什么”。创新定位为系统工程与约束优化，不包装成新的基础算法。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截止 2:12。接下来进入静态产品流程展示：从病例输入、阶段进度，到结构化 Top-5 与可追溯证据。此版本不依赖实时服务。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截止 3:15。本页为离线静态产品流程展示，不进行实时 Demo。依次讲病例输入、可观察阶段流、结构化 Top-5 和患者级证据；明确页面中的候选名称是界面结构示意，不是现场生成结果。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截止 4:00。在同一批 75 个病例上，纯 LLM 的 4-digit Recall@1/3/5 为 30.7%、37.3%、41.3%，完整流水线提升至 44.0%、61.3%、70.7%。这是内部回顾性技术指标，不代表临床准确率。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截止 4:25。核心团队由技术工程与产品能力构成，并与湘雅三医院消化内科开展合作。这里表达的是合作推进方向，不延伸为医院背书、临床有效性结论或已完成院内部署。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截止 5:00。医疗 AI 的落地必须同时回答材料证据、数据隐私、知识来源和临床责任。先定义临床问题和合规前置，再进行回顾性与专家评价，最后才考虑小范围试用。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答辩备用。用于解释候选集构建、双路并行循证、最多两轮纠偏以及固定 Top-5 输出。该页全部由 PowerPoint 原生形状组成。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8056" y="292608"/>
            <a:ext cx="91440" cy="9144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292608"/>
            <a:ext cx="91440" cy="91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03504" y="228600"/>
            <a:ext cx="1920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00" b="1">
                <a:solidFill>
                  <a:srgbClr val="102A43"/>
                </a:solidFill>
                <a:latin typeface="Noto Sans CJK SC"/>
              </a:defRPr>
            </a:pPr>
            <a:r>
              <a:t>MEDICAL SKILL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210312"/>
            <a:ext cx="2057400" cy="256032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E9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210312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08766D"/>
                </a:solidFill>
                <a:latin typeface="Noto Sans CJK SC"/>
              </a:defRPr>
            </a:pPr>
            <a:r>
              <a:t>AI+健康与生命科学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10160">
            <a:solidFill>
              <a:srgbClr val="D9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800" b="0">
                <a:solidFill>
                  <a:srgbClr val="7B8DA0"/>
                </a:solidFill>
                <a:latin typeface="Noto Sans CJK SC"/>
              </a:defRPr>
            </a:pPr>
            <a:r>
              <a:t>01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731520"/>
            <a:ext cx="50292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159A8C"/>
                </a:solidFill>
                <a:latin typeface="Noto Sans CJK SC"/>
              </a:defRPr>
            </a:pPr>
            <a:r>
              <a:t>DIGESTIVE DIAGNOSIS · EVIDENCE-CONSTRAINED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005840"/>
            <a:ext cx="5669280" cy="22402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100" b="1">
                <a:solidFill>
                  <a:srgbClr val="102A43"/>
                </a:solidFill>
                <a:latin typeface="Noto Sans CJK SC"/>
              </a:rPr>
              <a:t>不是一次问答，
而是一条</a:t>
            </a:r>
            <a:r>
              <a:rPr sz="3100" b="1">
                <a:solidFill>
                  <a:srgbClr val="4463E6"/>
                </a:solidFill>
                <a:latin typeface="Noto Sans CJK SC"/>
              </a:rPr>
              <a:t>受约束</a:t>
            </a:r>
            <a:r>
              <a:rPr sz="3100" b="1">
                <a:solidFill>
                  <a:srgbClr val="102A43"/>
                </a:solidFill>
                <a:latin typeface="Noto Sans CJK SC"/>
              </a:rPr>
              <a:t>的
辅助诊断流水线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46120"/>
            <a:ext cx="53949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600" b="0">
                <a:solidFill>
                  <a:srgbClr val="52667A"/>
                </a:solidFill>
                <a:latin typeface="Noto Sans CJK SC"/>
              </a:defRPr>
            </a:pPr>
            <a:r>
              <a:t>基于医疗指南 Skill 的消化内科辅助诊断系统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56832" y="1097280"/>
            <a:ext cx="4846320" cy="804672"/>
          </a:xfrm>
          <a:prstGeom prst="roundRect">
            <a:avLst/>
          </a:prstGeom>
          <a:solidFill>
            <a:srgbClr val="EDF1FF"/>
          </a:solidFill>
          <a:ln w="15240"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85432" y="1280160"/>
            <a:ext cx="347472" cy="347472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5432" y="1280160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1197864"/>
            <a:ext cx="1920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500" b="1">
                <a:solidFill>
                  <a:srgbClr val="102A43"/>
                </a:solidFill>
                <a:latin typeface="Noto Sans CJK SC"/>
              </a:defRPr>
            </a:pPr>
            <a:r>
              <a:t>候选闭集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1508760"/>
            <a:ext cx="3749039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00" b="0">
                <a:solidFill>
                  <a:srgbClr val="52667A"/>
                </a:solidFill>
                <a:latin typeface="Noto Sans CJK SC"/>
              </a:defRPr>
            </a:pPr>
            <a:r>
              <a:t>先构建，再重排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56832" y="2148839"/>
            <a:ext cx="4846320" cy="804672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85432" y="2331720"/>
            <a:ext cx="347472" cy="347472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5432" y="2331720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2249423"/>
            <a:ext cx="1920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500" b="1">
                <a:solidFill>
                  <a:srgbClr val="102A43"/>
                </a:solidFill>
                <a:latin typeface="Noto Sans CJK SC"/>
              </a:defRPr>
            </a:pPr>
            <a:r>
              <a:t>多源证据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352" y="2560320"/>
            <a:ext cx="3749039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00" b="0">
                <a:solidFill>
                  <a:srgbClr val="52667A"/>
                </a:solidFill>
                <a:latin typeface="Noto Sans CJK SC"/>
              </a:defRPr>
            </a:pPr>
            <a:r>
              <a:t>相似病例 · PubMed · 指南 Skill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56832" y="3200400"/>
            <a:ext cx="4846320" cy="804672"/>
          </a:xfrm>
          <a:prstGeom prst="roundRect">
            <a:avLst/>
          </a:prstGeom>
          <a:solidFill>
            <a:srgbClr val="FFF5E7"/>
          </a:solidFill>
          <a:ln w="15240">
            <a:solidFill>
              <a:srgbClr val="D9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85432" y="3383280"/>
            <a:ext cx="347472" cy="347472"/>
          </a:xfrm>
          <a:prstGeom prst="ellipse">
            <a:avLst/>
          </a:prstGeom>
          <a:solidFill>
            <a:srgbClr val="D98B16"/>
          </a:solidFill>
          <a:ln>
            <a:solidFill>
              <a:srgbClr val="D9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5432" y="3383280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8352" y="3300984"/>
            <a:ext cx="1920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500" b="1">
                <a:solidFill>
                  <a:srgbClr val="102A43"/>
                </a:solidFill>
                <a:latin typeface="Noto Sans CJK SC"/>
              </a:defRPr>
            </a:pPr>
            <a:r>
              <a:t>最多两轮纠偏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352" y="3611880"/>
            <a:ext cx="3749039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00" b="0">
                <a:solidFill>
                  <a:srgbClr val="52667A"/>
                </a:solidFill>
                <a:latin typeface="Noto Sans CJK SC"/>
              </a:defRPr>
            </a:pPr>
            <a:r>
              <a:t>更新检索，不扩候选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0936224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892040"/>
            <a:ext cx="31089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00" b="1">
                <a:solidFill>
                  <a:srgbClr val="7B8DA0"/>
                </a:solidFill>
                <a:latin typeface="Noto Sans CJK SC"/>
              </a:defRPr>
            </a:pPr>
            <a:r>
              <a:t>COMPANY · 公司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166360"/>
            <a:ext cx="324612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50" b="1">
                <a:solidFill>
                  <a:srgbClr val="102A43"/>
                </a:solidFill>
                <a:latin typeface="Noto Sans CJK SC"/>
              </a:defRPr>
            </a:pPr>
            <a:r>
              <a:t>上海垂域模盾智能科技有限公司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33088" y="4892040"/>
            <a:ext cx="0" cy="649224"/>
          </a:xfrm>
          <a:prstGeom prst="line">
            <a:avLst/>
          </a:prstGeom>
          <a:ln w="12700">
            <a:solidFill>
              <a:srgbClr val="D9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480560" y="4892040"/>
            <a:ext cx="31089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00" b="1">
                <a:solidFill>
                  <a:srgbClr val="7B8DA0"/>
                </a:solidFill>
                <a:latin typeface="Noto Sans CJK SC"/>
              </a:defRPr>
            </a:pPr>
            <a:r>
              <a:t>MEMBERS · 参赛人员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166360"/>
            <a:ext cx="324612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50" b="1">
                <a:solidFill>
                  <a:srgbClr val="102A43"/>
                </a:solidFill>
                <a:latin typeface="Noto Sans CJK SC"/>
              </a:defRPr>
            </a:pPr>
            <a:r>
              <a:t>赵文韬 · 刘臻睿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90688" y="4892040"/>
            <a:ext cx="0" cy="649224"/>
          </a:xfrm>
          <a:prstGeom prst="line">
            <a:avLst/>
          </a:prstGeom>
          <a:ln w="12700">
            <a:solidFill>
              <a:srgbClr val="D9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38160" y="4892040"/>
            <a:ext cx="31089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00" b="1">
                <a:solidFill>
                  <a:srgbClr val="7B8DA0"/>
                </a:solidFill>
                <a:latin typeface="Noto Sans CJK SC"/>
              </a:defRPr>
            </a:pPr>
            <a:r>
              <a:t>EVENT · 赛事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5166360"/>
            <a:ext cx="324612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50" b="1">
                <a:solidFill>
                  <a:srgbClr val="102A43"/>
                </a:solidFill>
                <a:latin typeface="Noto Sans CJK SC"/>
              </a:defRPr>
            </a:pPr>
            <a:r>
              <a:t>智极松 AI Skillathon 大赛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8056" y="292608"/>
            <a:ext cx="91440" cy="9144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292608"/>
            <a:ext cx="91440" cy="91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03504" y="228600"/>
            <a:ext cx="1920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00" b="1">
                <a:solidFill>
                  <a:srgbClr val="102A43"/>
                </a:solidFill>
                <a:latin typeface="Noto Sans CJK SC"/>
              </a:defRPr>
            </a:pPr>
            <a:r>
              <a:t>MEDICAL SKILL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210312"/>
            <a:ext cx="2057400" cy="256032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E9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210312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08766D"/>
                </a:solidFill>
                <a:latin typeface="Noto Sans CJK SC"/>
              </a:defRPr>
            </a:pPr>
            <a:r>
              <a:t>WHY GUIDELINES MATTER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10160">
            <a:solidFill>
              <a:srgbClr val="D9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800" b="0">
                <a:solidFill>
                  <a:srgbClr val="7B8DA0"/>
                </a:solidFill>
                <a:latin typeface="Noto Sans CJK SC"/>
              </a:defRPr>
            </a:pPr>
            <a:r>
              <a:t>02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76072"/>
            <a:ext cx="475488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159A8C"/>
                </a:solidFill>
                <a:latin typeface="Noto Sans CJK SC"/>
              </a:defRPr>
            </a:pPr>
            <a:r>
              <a:t>EVIDENCE BEFORE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95528"/>
            <a:ext cx="110642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2500" b="1">
                <a:solidFill>
                  <a:srgbClr val="102A43"/>
                </a:solidFill>
                <a:latin typeface="Noto Sans CJK SC"/>
              </a:defRPr>
            </a:pPr>
            <a:r>
              <a:t>医疗诊断需要的不只是答案，更是适用于当前患者的权威依据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481328"/>
            <a:ext cx="2834640" cy="2084831"/>
          </a:xfrm>
          <a:prstGeom prst="roundRect">
            <a:avLst/>
          </a:prstGeom>
          <a:solidFill>
            <a:srgbClr val="EDF1FF"/>
          </a:solidFill>
          <a:ln w="15240"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91640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00" b="1">
                <a:solidFill>
                  <a:srgbClr val="4463E6"/>
                </a:solidFill>
                <a:latin typeface="Noto Sans CJK SC"/>
              </a:defRPr>
            </a:pPr>
            <a:r>
              <a:t>PATIENT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75104"/>
            <a:ext cx="237744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900" b="1">
                <a:solidFill>
                  <a:srgbClr val="102A43"/>
                </a:solidFill>
                <a:latin typeface="Noto Sans CJK SC"/>
              </a:defRPr>
            </a:pPr>
            <a:r>
              <a:t>患者事实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2503512"/>
            <a:ext cx="68580" cy="6858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503512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987552" y="2423160"/>
            <a:ext cx="2194560" cy="21717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00" b="0">
                <a:solidFill>
                  <a:srgbClr val="52667A"/>
                </a:solidFill>
                <a:latin typeface="Noto Sans CJK SC"/>
              </a:defRPr>
            </a:pPr>
            <a:r>
              <a:t>症状 · 体征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2720682"/>
            <a:ext cx="68580" cy="6858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720682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87552" y="2640330"/>
            <a:ext cx="2194560" cy="21717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00" b="0">
                <a:solidFill>
                  <a:srgbClr val="52667A"/>
                </a:solidFill>
                <a:latin typeface="Noto Sans CJK SC"/>
              </a:defRPr>
            </a:pPr>
            <a:r>
              <a:t>实验室检查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2937852"/>
            <a:ext cx="68580" cy="6858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937852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987552" y="2857500"/>
            <a:ext cx="2194560" cy="21717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00" b="0">
                <a:solidFill>
                  <a:srgbClr val="52667A"/>
                </a:solidFill>
                <a:latin typeface="Noto Sans CJK SC"/>
              </a:defRPr>
            </a:pPr>
            <a:r>
              <a:t>影像 · 内镜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3155022"/>
            <a:ext cx="68580" cy="6858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155022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987552" y="3074670"/>
            <a:ext cx="2194560" cy="21717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00" b="0">
                <a:solidFill>
                  <a:srgbClr val="52667A"/>
                </a:solidFill>
                <a:latin typeface="Noto Sans CJK SC"/>
              </a:defRPr>
            </a:pPr>
            <a:r>
              <a:t>病理结果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81728" y="1481328"/>
            <a:ext cx="2834640" cy="2084831"/>
          </a:xfrm>
          <a:prstGeom prst="roundRect">
            <a:avLst/>
          </a:prstGeom>
          <a:solidFill>
            <a:srgbClr val="F1EDFF"/>
          </a:solidFill>
          <a:ln w="15240"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0328" y="1691640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00" b="1">
                <a:solidFill>
                  <a:srgbClr val="7358DC"/>
                </a:solidFill>
                <a:latin typeface="Noto Sans CJK SC"/>
              </a:defRPr>
            </a:pPr>
            <a:r>
              <a:t>CLINICAL GUIDELINES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0328" y="1975104"/>
            <a:ext cx="237744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900" b="1">
                <a:solidFill>
                  <a:srgbClr val="102A43"/>
                </a:solidFill>
                <a:latin typeface="Noto Sans CJK SC"/>
              </a:defRPr>
            </a:pPr>
            <a:r>
              <a:t>临床诊疗指南</a:t>
            </a:r>
          </a:p>
        </p:txBody>
      </p:sp>
      <p:sp>
        <p:nvSpPr>
          <p:cNvPr id="29" name="Oval 28"/>
          <p:cNvSpPr/>
          <p:nvPr/>
        </p:nvSpPr>
        <p:spPr>
          <a:xfrm>
            <a:off x="4928616" y="2530297"/>
            <a:ext cx="68580" cy="68580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28616" y="2530297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5074920" y="2423160"/>
            <a:ext cx="2194560" cy="2895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00" b="0">
                <a:solidFill>
                  <a:srgbClr val="52667A"/>
                </a:solidFill>
                <a:latin typeface="Noto Sans CJK SC"/>
              </a:defRPr>
            </a:pPr>
            <a:r>
              <a:t>系统证据评价</a:t>
            </a:r>
          </a:p>
        </p:txBody>
      </p:sp>
      <p:sp>
        <p:nvSpPr>
          <p:cNvPr id="32" name="Oval 31"/>
          <p:cNvSpPr/>
          <p:nvPr/>
        </p:nvSpPr>
        <p:spPr>
          <a:xfrm>
            <a:off x="4928616" y="2819857"/>
            <a:ext cx="68580" cy="68580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28616" y="2819857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5074920" y="2712720"/>
            <a:ext cx="2194560" cy="2895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00" b="0">
                <a:solidFill>
                  <a:srgbClr val="52667A"/>
                </a:solidFill>
                <a:latin typeface="Noto Sans CJK SC"/>
              </a:defRPr>
            </a:pPr>
            <a:r>
              <a:t>多学科专家共识</a:t>
            </a:r>
          </a:p>
        </p:txBody>
      </p:sp>
      <p:sp>
        <p:nvSpPr>
          <p:cNvPr id="35" name="Oval 34"/>
          <p:cNvSpPr/>
          <p:nvPr/>
        </p:nvSpPr>
        <p:spPr>
          <a:xfrm>
            <a:off x="4928616" y="3109417"/>
            <a:ext cx="68580" cy="68580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28616" y="3109417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5074920" y="3002280"/>
            <a:ext cx="2194560" cy="2895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00" b="0">
                <a:solidFill>
                  <a:srgbClr val="52667A"/>
                </a:solidFill>
                <a:latin typeface="Noto Sans CJK SC"/>
              </a:defRPr>
            </a:pPr>
            <a:r>
              <a:t>适用条件与证据等级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69096" y="1481328"/>
            <a:ext cx="2834640" cy="2084831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97696" y="1691640"/>
            <a:ext cx="237744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00" b="1">
                <a:solidFill>
                  <a:srgbClr val="159A8C"/>
                </a:solidFill>
                <a:latin typeface="Noto Sans CJK SC"/>
              </a:defRPr>
            </a:pPr>
            <a:r>
              <a:t>CLINICAL DECISIONS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97696" y="1975104"/>
            <a:ext cx="237744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900" b="1">
                <a:solidFill>
                  <a:srgbClr val="102A43"/>
                </a:solidFill>
                <a:latin typeface="Noto Sans CJK SC"/>
              </a:defRPr>
            </a:pPr>
            <a:r>
              <a:t>可信医疗决策</a:t>
            </a:r>
          </a:p>
        </p:txBody>
      </p:sp>
      <p:sp>
        <p:nvSpPr>
          <p:cNvPr id="41" name="Oval 40"/>
          <p:cNvSpPr/>
          <p:nvPr/>
        </p:nvSpPr>
        <p:spPr>
          <a:xfrm>
            <a:off x="9015984" y="2530297"/>
            <a:ext cx="68580" cy="6858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15984" y="2530297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9162288" y="2423160"/>
            <a:ext cx="2194560" cy="2895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00" b="0">
                <a:solidFill>
                  <a:srgbClr val="52667A"/>
                </a:solidFill>
                <a:latin typeface="Noto Sans CJK SC"/>
              </a:defRPr>
            </a:pPr>
            <a:r>
              <a:t>筛查 · 诊断 · 鉴别</a:t>
            </a:r>
          </a:p>
        </p:txBody>
      </p:sp>
      <p:sp>
        <p:nvSpPr>
          <p:cNvPr id="44" name="Oval 43"/>
          <p:cNvSpPr/>
          <p:nvPr/>
        </p:nvSpPr>
        <p:spPr>
          <a:xfrm>
            <a:off x="9015984" y="2819857"/>
            <a:ext cx="68580" cy="6858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15984" y="2819857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9162288" y="2712720"/>
            <a:ext cx="2194560" cy="2895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00" b="0">
                <a:solidFill>
                  <a:srgbClr val="52667A"/>
                </a:solidFill>
                <a:latin typeface="Noto Sans CJK SC"/>
              </a:defRPr>
            </a:pPr>
            <a:r>
              <a:t>风险分层 · 检查选择</a:t>
            </a:r>
          </a:p>
        </p:txBody>
      </p:sp>
      <p:sp>
        <p:nvSpPr>
          <p:cNvPr id="47" name="Oval 46"/>
          <p:cNvSpPr/>
          <p:nvPr/>
        </p:nvSpPr>
        <p:spPr>
          <a:xfrm>
            <a:off x="9015984" y="3109417"/>
            <a:ext cx="68580" cy="6858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15984" y="3109417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9162288" y="3002280"/>
            <a:ext cx="2194560" cy="2895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00" b="0">
                <a:solidFill>
                  <a:srgbClr val="52667A"/>
                </a:solidFill>
                <a:latin typeface="Noto Sans CJK SC"/>
              </a:defRPr>
            </a:pPr>
            <a:r>
              <a:t>治疗决策 · 后续管理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2057400"/>
            <a:ext cx="77724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7B8DA0"/>
                </a:solidFill>
                <a:latin typeface="Noto Sans CJK SC"/>
              </a:defRPr>
            </a:pPr>
            <a:r>
              <a:t>匹配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566160" y="2395728"/>
            <a:ext cx="777240" cy="0"/>
          </a:xfrm>
          <a:prstGeom prst="line">
            <a:avLst/>
          </a:prstGeom>
          <a:ln w="27940">
            <a:solidFill>
              <a:srgbClr val="446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/>
          <p:cNvSpPr/>
          <p:nvPr/>
        </p:nvSpPr>
        <p:spPr>
          <a:xfrm rot="5400000">
            <a:off x="4293108" y="2345436"/>
            <a:ext cx="100584" cy="100584"/>
          </a:xfrm>
          <a:prstGeom prst="triangl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53527" y="2057400"/>
            <a:ext cx="77724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7B8DA0"/>
                </a:solidFill>
                <a:latin typeface="Noto Sans CJK SC"/>
              </a:defRPr>
            </a:pPr>
            <a:r>
              <a:t>约束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653527" y="2395728"/>
            <a:ext cx="777240" cy="0"/>
          </a:xfrm>
          <a:prstGeom prst="line">
            <a:avLst/>
          </a:prstGeom>
          <a:ln w="27940">
            <a:solidFill>
              <a:srgbClr val="446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54"/>
          <p:cNvSpPr/>
          <p:nvPr/>
        </p:nvSpPr>
        <p:spPr>
          <a:xfrm rot="5400000">
            <a:off x="8380475" y="2345436"/>
            <a:ext cx="100584" cy="100584"/>
          </a:xfrm>
          <a:prstGeom prst="triangl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94360" y="3886200"/>
            <a:ext cx="1993392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3232" y="4041648"/>
            <a:ext cx="30175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4463E6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9848" y="3959352"/>
            <a:ext cx="1298448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00" b="1">
                <a:solidFill>
                  <a:srgbClr val="102A43"/>
                </a:solidFill>
                <a:latin typeface="Noto Sans CJK SC"/>
              </a:defRPr>
            </a:pPr>
            <a:r>
              <a:t>条件性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9848" y="4242816"/>
            <a:ext cx="1298448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52667A"/>
                </a:solidFill>
                <a:latin typeface="Noto Sans CJK SC"/>
              </a:defRPr>
            </a:pPr>
            <a:r>
              <a:t>适用人群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807208" y="3886200"/>
            <a:ext cx="1993392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26079" y="4041648"/>
            <a:ext cx="30175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4463E6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82696" y="3959352"/>
            <a:ext cx="1298448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00" b="1">
                <a:solidFill>
                  <a:srgbClr val="102A43"/>
                </a:solidFill>
                <a:latin typeface="Noto Sans CJK SC"/>
              </a:defRPr>
            </a:pPr>
            <a:r>
              <a:t>流程性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82696" y="4242816"/>
            <a:ext cx="1298448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52667A"/>
                </a:solidFill>
                <a:latin typeface="Noto Sans CJK SC"/>
              </a:defRPr>
            </a:pPr>
            <a:r>
              <a:t>执行顺序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20056" y="3886200"/>
            <a:ext cx="1993392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38928" y="4041648"/>
            <a:ext cx="30175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4463E6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95544" y="3959352"/>
            <a:ext cx="1298448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00" b="1">
                <a:solidFill>
                  <a:srgbClr val="102A43"/>
                </a:solidFill>
                <a:latin typeface="Noto Sans CJK SC"/>
              </a:defRPr>
            </a:pPr>
            <a:r>
              <a:t>层级性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95544" y="4242816"/>
            <a:ext cx="1298448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52667A"/>
                </a:solidFill>
                <a:latin typeface="Noto Sans CJK SC"/>
              </a:defRPr>
            </a:pPr>
            <a:r>
              <a:t>证据强度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232904" y="3886200"/>
            <a:ext cx="1993392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51776" y="4041648"/>
            <a:ext cx="30175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4463E6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08392" y="3959352"/>
            <a:ext cx="1298448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00" b="1">
                <a:solidFill>
                  <a:srgbClr val="102A43"/>
                </a:solidFill>
                <a:latin typeface="Noto Sans CJK SC"/>
              </a:defRPr>
            </a:pPr>
            <a:r>
              <a:t>例外性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08392" y="4242816"/>
            <a:ext cx="1298448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52667A"/>
                </a:solidFill>
                <a:latin typeface="Noto Sans CJK SC"/>
              </a:defRPr>
            </a:pPr>
            <a:r>
              <a:t>禁忌替代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445752" y="3886200"/>
            <a:ext cx="1993392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64624" y="4041648"/>
            <a:ext cx="30175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4463E6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21240" y="3959352"/>
            <a:ext cx="1298448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00" b="1">
                <a:solidFill>
                  <a:srgbClr val="102A43"/>
                </a:solidFill>
                <a:latin typeface="Noto Sans CJK SC"/>
              </a:defRPr>
            </a:pPr>
            <a:r>
              <a:t>时效性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21240" y="4242816"/>
            <a:ext cx="1298448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52667A"/>
                </a:solidFill>
                <a:latin typeface="Noto Sans CJK SC"/>
              </a:defRPr>
            </a:pPr>
            <a:r>
              <a:t>版本更新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60120" y="5074920"/>
            <a:ext cx="10222992" cy="640080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234440" y="5248656"/>
            <a:ext cx="292608" cy="292608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34440" y="5248656"/>
            <a:ext cx="29260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91640" y="5193792"/>
            <a:ext cx="90982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102A43"/>
                </a:solidFill>
                <a:latin typeface="Noto Sans CJK SC"/>
              </a:rPr>
              <a:t>医疗 AI 的关键，不是“引用过指南”，而是</a:t>
            </a:r>
            <a:r>
              <a:rPr sz="1500" b="1">
                <a:solidFill>
                  <a:srgbClr val="08766D"/>
                </a:solidFill>
                <a:latin typeface="Noto Sans CJK SC"/>
              </a:rPr>
              <a:t>用对指南中的适用条件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8056" y="292608"/>
            <a:ext cx="91440" cy="9144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292608"/>
            <a:ext cx="91440" cy="91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03504" y="228600"/>
            <a:ext cx="1920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00" b="1">
                <a:solidFill>
                  <a:srgbClr val="102A43"/>
                </a:solidFill>
                <a:latin typeface="Noto Sans CJK SC"/>
              </a:defRPr>
            </a:pPr>
            <a:r>
              <a:t>MEDICAL SKILL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210312"/>
            <a:ext cx="2057400" cy="256032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E9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210312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08766D"/>
                </a:solidFill>
                <a:latin typeface="Noto Sans CJK SC"/>
              </a:defRPr>
            </a:pPr>
            <a:r>
              <a:t>RAG VS KNOWLEDGE GRAPH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10160">
            <a:solidFill>
              <a:srgbClr val="D9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800" b="0">
                <a:solidFill>
                  <a:srgbClr val="7B8DA0"/>
                </a:solidFill>
                <a:latin typeface="Noto Sans CJK SC"/>
              </a:defRPr>
            </a:pPr>
            <a:r>
              <a:t>03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76072"/>
            <a:ext cx="475488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159A8C"/>
                </a:solidFill>
                <a:latin typeface="Noto Sans CJK SC"/>
              </a:defRPr>
            </a:pPr>
            <a:r>
              <a:t>WHY A GUIDELINE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95528"/>
            <a:ext cx="110642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2500" b="1">
                <a:solidFill>
                  <a:srgbClr val="102A43"/>
                </a:solidFill>
                <a:latin typeface="Noto Sans CJK SC"/>
              </a:defRPr>
            </a:pPr>
            <a:r>
              <a:t>常规知识库能“找到内容”，却难以稳定保留完整诊疗逻辑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389888"/>
            <a:ext cx="5330952" cy="3456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8" y="1609344"/>
            <a:ext cx="2286000" cy="256032"/>
          </a:xfrm>
          <a:prstGeom prst="roundRect">
            <a:avLst/>
          </a:prstGeom>
          <a:solidFill>
            <a:srgbClr val="EDF1FF"/>
          </a:solidFill>
          <a:ln w="15240">
            <a:solidFill>
              <a:srgbClr val="ED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1609344"/>
            <a:ext cx="22860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4463E6"/>
                </a:solidFill>
                <a:latin typeface="Noto Sans CJK SC"/>
              </a:defRPr>
            </a:pPr>
            <a:r>
              <a:t>RAG · TEXT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956816"/>
            <a:ext cx="48463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700" b="1">
                <a:solidFill>
                  <a:srgbClr val="102A43"/>
                </a:solidFill>
                <a:latin typeface="Noto Sans CJK SC"/>
              </a:defRPr>
            </a:pPr>
            <a:r>
              <a:t>高效检索，但可能切碎一条推荐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2523744"/>
            <a:ext cx="4828032" cy="256032"/>
          </a:xfrm>
          <a:prstGeom prst="roundRect">
            <a:avLst/>
          </a:prstGeom>
          <a:solidFill>
            <a:srgbClr val="EDF1FF"/>
          </a:solidFill>
          <a:ln w="15240">
            <a:solidFill>
              <a:srgbClr val="ED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523744"/>
            <a:ext cx="4828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52667A"/>
                </a:solidFill>
                <a:latin typeface="Noto Sans CJK SC"/>
              </a:defRPr>
            </a:pPr>
            <a:r>
              <a:t>实现成本低 · 知识更新快 · 原文可追溯</a:t>
            </a:r>
          </a:p>
        </p:txBody>
      </p:sp>
      <p:sp>
        <p:nvSpPr>
          <p:cNvPr id="17" name="Oval 16"/>
          <p:cNvSpPr/>
          <p:nvPr/>
        </p:nvSpPr>
        <p:spPr>
          <a:xfrm>
            <a:off x="841247" y="2988972"/>
            <a:ext cx="68580" cy="6858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988972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87551" y="2889504"/>
            <a:ext cx="4590288" cy="26883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19" b="0">
                <a:solidFill>
                  <a:srgbClr val="52667A"/>
                </a:solidFill>
                <a:latin typeface="Noto Sans CJK SC"/>
              </a:defRPr>
            </a:pPr>
            <a:r>
              <a:t>推荐意见与适用人群分离</a:t>
            </a:r>
          </a:p>
        </p:txBody>
      </p:sp>
      <p:sp>
        <p:nvSpPr>
          <p:cNvPr id="20" name="Oval 19"/>
          <p:cNvSpPr/>
          <p:nvPr/>
        </p:nvSpPr>
        <p:spPr>
          <a:xfrm>
            <a:off x="841247" y="3257806"/>
            <a:ext cx="68580" cy="6858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257806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987551" y="3158337"/>
            <a:ext cx="4590288" cy="26883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19" b="0">
                <a:solidFill>
                  <a:srgbClr val="52667A"/>
                </a:solidFill>
                <a:latin typeface="Noto Sans CJK SC"/>
              </a:defRPr>
            </a:pPr>
            <a:r>
              <a:t>诊断步骤与前置结果分离</a:t>
            </a:r>
          </a:p>
        </p:txBody>
      </p:sp>
      <p:sp>
        <p:nvSpPr>
          <p:cNvPr id="23" name="Oval 22"/>
          <p:cNvSpPr/>
          <p:nvPr/>
        </p:nvSpPr>
        <p:spPr>
          <a:xfrm>
            <a:off x="841247" y="3526639"/>
            <a:ext cx="68580" cy="6858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3526639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987551" y="3427171"/>
            <a:ext cx="4590288" cy="26883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19" b="0">
                <a:solidFill>
                  <a:srgbClr val="52667A"/>
                </a:solidFill>
                <a:latin typeface="Noto Sans CJK SC"/>
              </a:defRPr>
            </a:pPr>
            <a:r>
              <a:t>措施与禁忌、例外条件分离</a:t>
            </a:r>
          </a:p>
        </p:txBody>
      </p:sp>
      <p:sp>
        <p:nvSpPr>
          <p:cNvPr id="26" name="Oval 25"/>
          <p:cNvSpPr/>
          <p:nvPr/>
        </p:nvSpPr>
        <p:spPr>
          <a:xfrm>
            <a:off x="841247" y="3795473"/>
            <a:ext cx="68580" cy="6858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3795473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987551" y="3696004"/>
            <a:ext cx="4590288" cy="26883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19" b="0">
                <a:solidFill>
                  <a:srgbClr val="52667A"/>
                </a:solidFill>
                <a:latin typeface="Noto Sans CJK SC"/>
              </a:defRPr>
            </a:pPr>
            <a:r>
              <a:t>证据等级与推荐强度分离</a:t>
            </a:r>
          </a:p>
        </p:txBody>
      </p:sp>
      <p:sp>
        <p:nvSpPr>
          <p:cNvPr id="29" name="Oval 28"/>
          <p:cNvSpPr/>
          <p:nvPr/>
        </p:nvSpPr>
        <p:spPr>
          <a:xfrm>
            <a:off x="841247" y="4064306"/>
            <a:ext cx="68580" cy="6858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4064306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987551" y="3964838"/>
            <a:ext cx="4590288" cy="26883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19" b="0">
                <a:solidFill>
                  <a:srgbClr val="52667A"/>
                </a:solidFill>
                <a:latin typeface="Noto Sans CJK SC"/>
              </a:defRPr>
            </a:pPr>
            <a:r>
              <a:t>多步骤流程失去执行顺序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7" y="4297680"/>
            <a:ext cx="4736592" cy="329184"/>
          </a:xfrm>
          <a:prstGeom prst="roundRect">
            <a:avLst/>
          </a:prstGeom>
          <a:solidFill>
            <a:srgbClr val="EDF1FF"/>
          </a:solidFill>
          <a:ln w="15240">
            <a:solidFill>
              <a:srgbClr val="ED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" y="4297680"/>
            <a:ext cx="473659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50" b="1">
                <a:solidFill>
                  <a:srgbClr val="4463E6"/>
                </a:solidFill>
                <a:latin typeface="Noto Sans CJK SC"/>
              </a:defRPr>
            </a:pPr>
            <a:r>
              <a:t>相关文本被召回 ≠ 推荐逻辑完整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1928" y="1389888"/>
            <a:ext cx="5330952" cy="3456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10528" y="1609344"/>
            <a:ext cx="2286000" cy="256032"/>
          </a:xfrm>
          <a:prstGeom prst="roundRect">
            <a:avLst/>
          </a:prstGeom>
          <a:solidFill>
            <a:srgbClr val="F1EDFF"/>
          </a:solidFill>
          <a:ln w="15240">
            <a:solidFill>
              <a:srgbClr val="F1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1609344"/>
            <a:ext cx="22860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7358DC"/>
                </a:solidFill>
                <a:latin typeface="Noto Sans CJK SC"/>
              </a:defRPr>
            </a:pPr>
            <a:r>
              <a:t>知识图谱 · KNOWLEDGE GRAPH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9672" y="1956816"/>
            <a:ext cx="48463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700" b="1">
                <a:solidFill>
                  <a:srgbClr val="102A43"/>
                </a:solidFill>
                <a:latin typeface="Noto Sans CJK SC"/>
              </a:defRPr>
            </a:pPr>
            <a:r>
              <a:t>完整表达逻辑，建模维护成本陡增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19672" y="2523744"/>
            <a:ext cx="4828032" cy="256032"/>
          </a:xfrm>
          <a:prstGeom prst="roundRect">
            <a:avLst/>
          </a:prstGeom>
          <a:solidFill>
            <a:srgbClr val="F1EDFF"/>
          </a:solidFill>
          <a:ln w="15240">
            <a:solidFill>
              <a:srgbClr val="F1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9672" y="2523744"/>
            <a:ext cx="48280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52667A"/>
                </a:solidFill>
                <a:latin typeface="Noto Sans CJK SC"/>
              </a:defRPr>
            </a:pPr>
            <a:r>
              <a:t>关系可解释 · 多跳查询 · 术语标准化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2988972"/>
            <a:ext cx="68580" cy="68580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2988972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6702552" y="2889504"/>
            <a:ext cx="4590288" cy="26883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19" b="0">
                <a:solidFill>
                  <a:srgbClr val="52667A"/>
                </a:solidFill>
                <a:latin typeface="Noto Sans CJK SC"/>
              </a:defRPr>
            </a:pPr>
            <a:r>
              <a:t>需预定义实体、关系与本体</a:t>
            </a:r>
          </a:p>
        </p:txBody>
      </p:sp>
      <p:sp>
        <p:nvSpPr>
          <p:cNvPr id="43" name="Oval 42"/>
          <p:cNvSpPr/>
          <p:nvPr/>
        </p:nvSpPr>
        <p:spPr>
          <a:xfrm>
            <a:off x="6556248" y="3257806"/>
            <a:ext cx="68580" cy="68580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56248" y="3257806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6702552" y="3158337"/>
            <a:ext cx="4590288" cy="26883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19" b="0">
                <a:solidFill>
                  <a:srgbClr val="52667A"/>
                </a:solidFill>
                <a:latin typeface="Noto Sans CJK SC"/>
              </a:defRPr>
            </a:pPr>
            <a:r>
              <a:t>异构指南需分别设计抽取规则</a:t>
            </a:r>
          </a:p>
        </p:txBody>
      </p:sp>
      <p:sp>
        <p:nvSpPr>
          <p:cNvPr id="46" name="Oval 45"/>
          <p:cNvSpPr/>
          <p:nvPr/>
        </p:nvSpPr>
        <p:spPr>
          <a:xfrm>
            <a:off x="6556248" y="3526639"/>
            <a:ext cx="68580" cy="68580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56248" y="3526639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6702552" y="3427171"/>
            <a:ext cx="4590288" cy="26883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19" b="0">
                <a:solidFill>
                  <a:srgbClr val="52667A"/>
                </a:solidFill>
                <a:latin typeface="Noto Sans CJK SC"/>
              </a:defRPr>
            </a:pPr>
            <a:r>
              <a:t>条件、否定与例外难用三元组表达</a:t>
            </a:r>
          </a:p>
        </p:txBody>
      </p:sp>
      <p:sp>
        <p:nvSpPr>
          <p:cNvPr id="49" name="Oval 48"/>
          <p:cNvSpPr/>
          <p:nvPr/>
        </p:nvSpPr>
        <p:spPr>
          <a:xfrm>
            <a:off x="6556248" y="3795473"/>
            <a:ext cx="68580" cy="68580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56248" y="3795473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51" name="TextBox 50"/>
          <p:cNvSpPr txBox="1"/>
          <p:nvPr/>
        </p:nvSpPr>
        <p:spPr>
          <a:xfrm>
            <a:off x="6702552" y="3696004"/>
            <a:ext cx="4590288" cy="26883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19" b="0">
                <a:solidFill>
                  <a:srgbClr val="52667A"/>
                </a:solidFill>
                <a:latin typeface="Noto Sans CJK SC"/>
              </a:defRPr>
            </a:pPr>
            <a:r>
              <a:t>依赖对齐融合与人工验证</a:t>
            </a:r>
          </a:p>
        </p:txBody>
      </p:sp>
      <p:sp>
        <p:nvSpPr>
          <p:cNvPr id="52" name="Oval 51"/>
          <p:cNvSpPr/>
          <p:nvPr/>
        </p:nvSpPr>
        <p:spPr>
          <a:xfrm>
            <a:off x="6556248" y="4064306"/>
            <a:ext cx="68580" cy="68580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56248" y="4064306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54" name="TextBox 53"/>
          <p:cNvSpPr txBox="1"/>
          <p:nvPr/>
        </p:nvSpPr>
        <p:spPr>
          <a:xfrm>
            <a:off x="6702552" y="3964838"/>
            <a:ext cx="4590288" cy="26883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19" b="0">
                <a:solidFill>
                  <a:srgbClr val="52667A"/>
                </a:solidFill>
                <a:latin typeface="Noto Sans CJK SC"/>
              </a:defRPr>
            </a:pPr>
            <a:r>
              <a:t>指南更新需同步维护逻辑规则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56248" y="4297680"/>
            <a:ext cx="4736592" cy="329184"/>
          </a:xfrm>
          <a:prstGeom prst="roundRect">
            <a:avLst/>
          </a:prstGeom>
          <a:solidFill>
            <a:srgbClr val="F1EDFF"/>
          </a:solidFill>
          <a:ln w="15240">
            <a:solidFill>
              <a:srgbClr val="F1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56248" y="4297680"/>
            <a:ext cx="473659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50" b="1">
                <a:solidFill>
                  <a:srgbClr val="7358DC"/>
                </a:solidFill>
                <a:latin typeface="Noto Sans CJK SC"/>
              </a:defRPr>
            </a:pPr>
            <a:r>
              <a:t>复杂逻辑可表达 ≠ 低成本可维护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0120" y="5102352"/>
            <a:ext cx="4297680" cy="512064"/>
          </a:xfrm>
          <a:prstGeom prst="roundRect">
            <a:avLst/>
          </a:prstGeom>
          <a:solidFill>
            <a:srgbClr val="FFF0EE"/>
          </a:solidFill>
          <a:ln w="15240">
            <a:solidFill>
              <a:srgbClr val="C8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120" y="5102352"/>
            <a:ext cx="429768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50" b="1">
                <a:solidFill>
                  <a:srgbClr val="C85C55"/>
                </a:solidFill>
                <a:latin typeface="Noto Sans CJK SC"/>
              </a:defRPr>
            </a:pPr>
            <a:r>
              <a:t>找到相关内容  ≠  完整执行指南逻辑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394960" y="5358384"/>
            <a:ext cx="1234440" cy="0"/>
          </a:xfrm>
          <a:prstGeom prst="line">
            <a:avLst/>
          </a:prstGeom>
          <a:ln w="27940">
            <a:solidFill>
              <a:srgbClr val="159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/>
          <p:cNvSpPr/>
          <p:nvPr/>
        </p:nvSpPr>
        <p:spPr>
          <a:xfrm rot="5400000">
            <a:off x="6579108" y="5308092"/>
            <a:ext cx="100584" cy="100584"/>
          </a:xfrm>
          <a:prstGeom prst="triangl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812280" y="5102352"/>
            <a:ext cx="4425696" cy="512064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12280" y="5102352"/>
            <a:ext cx="4425696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150" b="1">
                <a:solidFill>
                  <a:srgbClr val="08766D"/>
                </a:solidFill>
                <a:latin typeface="Noto Sans CJK SC"/>
              </a:defRPr>
            </a:pPr>
            <a:r>
              <a:t>最终方案 · 结构化 · 流程化 · 可执行 · 指南 Skill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8056" y="292608"/>
            <a:ext cx="91440" cy="9144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292608"/>
            <a:ext cx="91440" cy="91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03504" y="228600"/>
            <a:ext cx="1920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00" b="1">
                <a:solidFill>
                  <a:srgbClr val="102A43"/>
                </a:solidFill>
                <a:latin typeface="Noto Sans CJK SC"/>
              </a:defRPr>
            </a:pPr>
            <a:r>
              <a:t>MEDICAL SKILL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210312"/>
            <a:ext cx="2057400" cy="256032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E9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210312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08766D"/>
                </a:solidFill>
                <a:latin typeface="Noto Sans CJK SC"/>
              </a:defRPr>
            </a:pPr>
            <a:r>
              <a:t>GUIDELINE AS SKILL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10160">
            <a:solidFill>
              <a:srgbClr val="D9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800" b="0">
                <a:solidFill>
                  <a:srgbClr val="7B8DA0"/>
                </a:solidFill>
                <a:latin typeface="Noto Sans CJK SC"/>
              </a:defRPr>
            </a:pPr>
            <a:r>
              <a:t>04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76072"/>
            <a:ext cx="475488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159A8C"/>
                </a:solidFill>
                <a:latin typeface="Noto Sans CJK SC"/>
              </a:defRPr>
            </a:pPr>
            <a:r>
              <a:t>FROM KNOWLEDGE TO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95528"/>
            <a:ext cx="110642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2300" b="1">
                <a:solidFill>
                  <a:srgbClr val="102A43"/>
                </a:solidFill>
                <a:latin typeface="Noto Sans CJK SC"/>
              </a:defRPr>
            </a:pPr>
            <a:r>
              <a:t>Guideline Skill 不是一份 PDF，而是可调用、可执行、可更新的指南能力单元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1444752"/>
            <a:ext cx="2852928" cy="2176272"/>
          </a:xfrm>
          <a:prstGeom prst="roundRect">
            <a:avLst/>
          </a:prstGeom>
          <a:solidFill>
            <a:srgbClr val="EDF1FF"/>
          </a:solidFill>
          <a:ln w="15240"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1673352"/>
            <a:ext cx="239572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700" b="1">
                <a:solidFill>
                  <a:srgbClr val="102A43"/>
                </a:solidFill>
                <a:latin typeface="Noto Sans CJK SC"/>
              </a:defRPr>
            </a:pPr>
            <a:r>
              <a:t>异构指南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2281915"/>
            <a:ext cx="68580" cy="6858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281915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987552" y="2148840"/>
            <a:ext cx="2194560" cy="3596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50" b="0">
                <a:solidFill>
                  <a:srgbClr val="52667A"/>
                </a:solidFill>
                <a:latin typeface="Noto Sans CJK SC"/>
              </a:defRPr>
            </a:pPr>
            <a:r>
              <a:t>结构化推荐型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2641579"/>
            <a:ext cx="68580" cy="6858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2641579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87552" y="2508504"/>
            <a:ext cx="2194560" cy="3596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50" b="0">
                <a:solidFill>
                  <a:srgbClr val="52667A"/>
                </a:solidFill>
                <a:latin typeface="Noto Sans CJK SC"/>
              </a:defRPr>
            </a:pPr>
            <a:r>
              <a:t>连续叙述型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3001243"/>
            <a:ext cx="68580" cy="6858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001243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987552" y="2868168"/>
            <a:ext cx="2194560" cy="3596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50" b="0">
                <a:solidFill>
                  <a:srgbClr val="52667A"/>
                </a:solidFill>
                <a:latin typeface="Noto Sans CJK SC"/>
              </a:defRPr>
            </a:pPr>
            <a:r>
              <a:t>诊疗流程型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1444752"/>
            <a:ext cx="2834640" cy="2176272"/>
          </a:xfrm>
          <a:prstGeom prst="roundRect">
            <a:avLst/>
          </a:prstGeom>
          <a:solidFill>
            <a:srgbClr val="F1EDFF"/>
          </a:solidFill>
          <a:ln w="15240"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1673352"/>
            <a:ext cx="237744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700" b="1">
                <a:solidFill>
                  <a:srgbClr val="102A43"/>
                </a:solidFill>
                <a:latin typeface="Noto Sans CJK SC"/>
              </a:defRPr>
            </a:pPr>
            <a:r>
              <a:t>指南能力编译器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0" y="2248646"/>
            <a:ext cx="68580" cy="68580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248646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4718304" y="2148840"/>
            <a:ext cx="2176272" cy="2697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50" b="0">
                <a:solidFill>
                  <a:srgbClr val="52667A"/>
                </a:solidFill>
                <a:latin typeface="Noto Sans CJK SC"/>
              </a:defRPr>
            </a:pPr>
            <a:r>
              <a:t>PDF 解析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0" y="2518394"/>
            <a:ext cx="68580" cy="68580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2518394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718304" y="2418588"/>
            <a:ext cx="2176272" cy="2697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50" b="0">
                <a:solidFill>
                  <a:srgbClr val="52667A"/>
                </a:solidFill>
                <a:latin typeface="Noto Sans CJK SC"/>
              </a:defRPr>
            </a:pPr>
            <a:r>
              <a:t>推荐识别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0" y="2788142"/>
            <a:ext cx="68580" cy="68580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2788142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718304" y="2688336"/>
            <a:ext cx="2176272" cy="2697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50" b="0">
                <a:solidFill>
                  <a:srgbClr val="52667A"/>
                </a:solidFill>
                <a:latin typeface="Noto Sans CJK SC"/>
              </a:defRPr>
            </a:pPr>
            <a:r>
              <a:t>字段标准化</a:t>
            </a:r>
          </a:p>
        </p:txBody>
      </p:sp>
      <p:sp>
        <p:nvSpPr>
          <p:cNvPr id="33" name="Oval 32"/>
          <p:cNvSpPr/>
          <p:nvPr/>
        </p:nvSpPr>
        <p:spPr>
          <a:xfrm>
            <a:off x="4572000" y="3057890"/>
            <a:ext cx="68580" cy="68580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3057890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4718304" y="2958084"/>
            <a:ext cx="2176272" cy="2697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50" b="0">
                <a:solidFill>
                  <a:srgbClr val="52667A"/>
                </a:solidFill>
                <a:latin typeface="Noto Sans CJK SC"/>
              </a:defRPr>
            </a:pPr>
            <a:r>
              <a:t>元数据生成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28431" y="1444752"/>
            <a:ext cx="3566160" cy="2176272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57031" y="1673352"/>
            <a:ext cx="31089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700" b="1">
                <a:solidFill>
                  <a:srgbClr val="102A43"/>
                </a:solidFill>
                <a:latin typeface="Noto Sans CJK SC"/>
              </a:defRPr>
            </a:pPr>
            <a:r>
              <a:t>独立 Guideline Skill</a:t>
            </a:r>
          </a:p>
        </p:txBody>
      </p:sp>
      <p:sp>
        <p:nvSpPr>
          <p:cNvPr id="38" name="Oval 37"/>
          <p:cNvSpPr/>
          <p:nvPr/>
        </p:nvSpPr>
        <p:spPr>
          <a:xfrm>
            <a:off x="8284463" y="2248646"/>
            <a:ext cx="68580" cy="6858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84463" y="2248646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8430767" y="2148840"/>
            <a:ext cx="2907791" cy="2697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50" b="0">
                <a:solidFill>
                  <a:srgbClr val="52667A"/>
                </a:solidFill>
                <a:latin typeface="Noto Sans CJK SC"/>
              </a:defRPr>
            </a:pPr>
            <a:r>
              <a:t>指南原文与来源</a:t>
            </a:r>
          </a:p>
        </p:txBody>
      </p:sp>
      <p:sp>
        <p:nvSpPr>
          <p:cNvPr id="41" name="Oval 40"/>
          <p:cNvSpPr/>
          <p:nvPr/>
        </p:nvSpPr>
        <p:spPr>
          <a:xfrm>
            <a:off x="8284463" y="2518394"/>
            <a:ext cx="68580" cy="6858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4463" y="2518394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8430767" y="2418588"/>
            <a:ext cx="2907791" cy="2697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50" b="0">
                <a:solidFill>
                  <a:srgbClr val="52667A"/>
                </a:solidFill>
                <a:latin typeface="Noto Sans CJK SC"/>
              </a:defRPr>
            </a:pPr>
            <a:r>
              <a:t>完整推荐单元</a:t>
            </a:r>
          </a:p>
        </p:txBody>
      </p:sp>
      <p:sp>
        <p:nvSpPr>
          <p:cNvPr id="44" name="Oval 43"/>
          <p:cNvSpPr/>
          <p:nvPr/>
        </p:nvSpPr>
        <p:spPr>
          <a:xfrm>
            <a:off x="8284463" y="2788142"/>
            <a:ext cx="68580" cy="6858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84463" y="2788142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8430767" y="2688336"/>
            <a:ext cx="2907791" cy="2697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50" b="0">
                <a:solidFill>
                  <a:srgbClr val="52667A"/>
                </a:solidFill>
                <a:latin typeface="Noto Sans CJK SC"/>
              </a:defRPr>
            </a:pPr>
            <a:r>
              <a:t>适用范围与条件</a:t>
            </a:r>
          </a:p>
        </p:txBody>
      </p:sp>
      <p:sp>
        <p:nvSpPr>
          <p:cNvPr id="47" name="Oval 46"/>
          <p:cNvSpPr/>
          <p:nvPr/>
        </p:nvSpPr>
        <p:spPr>
          <a:xfrm>
            <a:off x="8284463" y="3057890"/>
            <a:ext cx="68580" cy="6858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84463" y="3057890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8430767" y="2958084"/>
            <a:ext cx="2907791" cy="2697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50" b="0">
                <a:solidFill>
                  <a:srgbClr val="52667A"/>
                </a:solidFill>
                <a:latin typeface="Noto Sans CJK SC"/>
              </a:defRPr>
            </a:pPr>
            <a:r>
              <a:t>调用规则与执行流程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57016" y="1993392"/>
            <a:ext cx="658368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7B8DA0"/>
                </a:solidFill>
                <a:latin typeface="Noto Sans CJK SC"/>
              </a:defRPr>
            </a:pPr>
            <a:r>
              <a:t>统一编译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557016" y="2340864"/>
            <a:ext cx="658368" cy="0"/>
          </a:xfrm>
          <a:prstGeom prst="line">
            <a:avLst/>
          </a:prstGeom>
          <a:ln w="25400">
            <a:solidFill>
              <a:srgbClr val="446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/>
          <p:cNvSpPr/>
          <p:nvPr/>
        </p:nvSpPr>
        <p:spPr>
          <a:xfrm rot="5400000">
            <a:off x="4165092" y="2290572"/>
            <a:ext cx="100584" cy="100584"/>
          </a:xfrm>
          <a:prstGeom prst="triangl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42631" y="1993392"/>
            <a:ext cx="658368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7B8DA0"/>
                </a:solidFill>
                <a:latin typeface="Noto Sans CJK SC"/>
              </a:defRPr>
            </a:pPr>
            <a:r>
              <a:t>封装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342631" y="2340864"/>
            <a:ext cx="658369" cy="0"/>
          </a:xfrm>
          <a:prstGeom prst="line">
            <a:avLst/>
          </a:prstGeom>
          <a:ln w="25400">
            <a:solidFill>
              <a:srgbClr val="446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54"/>
          <p:cNvSpPr/>
          <p:nvPr/>
        </p:nvSpPr>
        <p:spPr>
          <a:xfrm rot="5400000">
            <a:off x="7950708" y="2290572"/>
            <a:ext cx="100584" cy="100584"/>
          </a:xfrm>
          <a:prstGeom prst="triangl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85216" y="3950208"/>
            <a:ext cx="2578608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0664" y="4114800"/>
            <a:ext cx="32004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00" b="1">
                <a:solidFill>
                  <a:srgbClr val="4463E6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" y="4041648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50" b="1">
                <a:solidFill>
                  <a:srgbClr val="102A43"/>
                </a:solidFill>
                <a:latin typeface="Noto Sans CJK SC"/>
              </a:defRPr>
            </a:pPr>
            <a:r>
              <a:t>逻辑不拆散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4" y="4370832"/>
            <a:ext cx="2249424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69" b="0">
                <a:solidFill>
                  <a:srgbClr val="52667A"/>
                </a:solidFill>
                <a:latin typeface="Noto Sans CJK SC"/>
              </a:defRPr>
            </a:pPr>
            <a:r>
              <a:t>人群、条件、措施、强度、证据与例外共同返回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401568" y="3950208"/>
            <a:ext cx="2578608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57016" y="4114800"/>
            <a:ext cx="32004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00" b="1">
                <a:solidFill>
                  <a:srgbClr val="4463E6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50208" y="4041648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50" b="1">
                <a:solidFill>
                  <a:srgbClr val="102A43"/>
                </a:solidFill>
                <a:latin typeface="Noto Sans CJK SC"/>
              </a:defRPr>
            </a:pPr>
            <a:r>
              <a:t>按条件执行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57016" y="4370832"/>
            <a:ext cx="2249424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69" b="0">
                <a:solidFill>
                  <a:srgbClr val="52667A"/>
                </a:solidFill>
                <a:latin typeface="Noto Sans CJK SC"/>
              </a:defRPr>
            </a:pPr>
            <a:r>
              <a:t>先验证患者条件，再按指南顺序完成分析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17920" y="3950208"/>
            <a:ext cx="2578608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73368" y="4114800"/>
            <a:ext cx="32004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00" b="1">
                <a:solidFill>
                  <a:srgbClr val="4463E6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6559" y="4041648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50" b="1">
                <a:solidFill>
                  <a:srgbClr val="102A43"/>
                </a:solidFill>
                <a:latin typeface="Noto Sans CJK SC"/>
              </a:defRPr>
            </a:pPr>
            <a:r>
              <a:t>按需路由组合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73368" y="4370832"/>
            <a:ext cx="2249424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69" b="0">
                <a:solidFill>
                  <a:srgbClr val="52667A"/>
                </a:solidFill>
                <a:latin typeface="Noto Sans CJK SC"/>
              </a:defRPr>
            </a:pPr>
            <a:r>
              <a:t>只调用相关疾病 Skill，降低干扰与上下文成本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34272" y="3950208"/>
            <a:ext cx="2578608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89720" y="4114800"/>
            <a:ext cx="32004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00" b="1">
                <a:solidFill>
                  <a:srgbClr val="4463E6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82912" y="4041648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50" b="1">
                <a:solidFill>
                  <a:srgbClr val="102A43"/>
                </a:solidFill>
                <a:latin typeface="Noto Sans CJK SC"/>
              </a:defRPr>
            </a:pPr>
            <a:r>
              <a:t>独立版本管理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89720" y="4370832"/>
            <a:ext cx="2249424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69" b="0">
                <a:solidFill>
                  <a:srgbClr val="52667A"/>
                </a:solidFill>
                <a:latin typeface="Noto Sans CJK SC"/>
              </a:defRPr>
            </a:pPr>
            <a:r>
              <a:t>单指南可测试、替换，并记录地区与失效状态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221992" y="5230368"/>
            <a:ext cx="7772400" cy="493776"/>
          </a:xfrm>
          <a:prstGeom prst="roundRect">
            <a:avLst/>
          </a:prstGeom>
          <a:solidFill>
            <a:srgbClr val="0F3654"/>
          </a:solidFill>
          <a:ln w="15240">
            <a:solidFill>
              <a:srgbClr val="0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21992" y="5230368"/>
            <a:ext cx="7772400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50" b="0">
                <a:solidFill>
                  <a:srgbClr val="FFFFFF"/>
                </a:solidFill>
                <a:latin typeface="Noto Sans CJK SC"/>
              </a:rPr>
              <a:t>相似文本回答   →   </a:t>
            </a:r>
            <a:r>
              <a:rPr sz="1350" b="1">
                <a:solidFill>
                  <a:srgbClr val="FFFFFF"/>
                </a:solidFill>
                <a:latin typeface="Noto Sans CJK SC"/>
              </a:rPr>
              <a:t>依据指南条件与流程完成分析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8056" y="292608"/>
            <a:ext cx="91440" cy="9144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292608"/>
            <a:ext cx="91440" cy="91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03504" y="228600"/>
            <a:ext cx="1920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00" b="1">
                <a:solidFill>
                  <a:srgbClr val="102A43"/>
                </a:solidFill>
                <a:latin typeface="Noto Sans CJK SC"/>
              </a:defRPr>
            </a:pPr>
            <a:r>
              <a:t>MEDICAL SKILL HUB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10160">
            <a:solidFill>
              <a:srgbClr val="D9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800" b="0">
                <a:solidFill>
                  <a:srgbClr val="7B8DA0"/>
                </a:solidFill>
                <a:latin typeface="Noto Sans CJK SC"/>
              </a:defRPr>
            </a:pPr>
            <a:r>
              <a:t>05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"/>
            <a:ext cx="475488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159A8C"/>
                </a:solidFill>
                <a:latin typeface="Noto Sans CJK SC"/>
              </a:defRPr>
            </a:pPr>
            <a:r>
              <a:t>TARGET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95528"/>
            <a:ext cx="110642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2500" b="1">
                <a:solidFill>
                  <a:srgbClr val="102A43"/>
                </a:solidFill>
                <a:latin typeface="Noto Sans CJK SC"/>
              </a:defRPr>
            </a:pPr>
            <a:r>
              <a:t>直击诊断信息处理痛点，收束成一个工作流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81328"/>
            <a:ext cx="4224528" cy="34930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19072"/>
            <a:ext cx="20116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500" b="1">
                <a:solidFill>
                  <a:srgbClr val="102A43"/>
                </a:solidFill>
                <a:latin typeface="Noto Sans CJK SC"/>
              </a:defRPr>
            </a:pPr>
            <a:r>
              <a:t>目标任务链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2176272"/>
            <a:ext cx="457200" cy="256032"/>
          </a:xfrm>
          <a:prstGeom prst="roundRect">
            <a:avLst/>
          </a:prstGeom>
          <a:solidFill>
            <a:srgbClr val="EDF1FF"/>
          </a:solidFill>
          <a:ln w="15240">
            <a:solidFill>
              <a:srgbClr val="ED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176272"/>
            <a:ext cx="4572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4463E6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2176272"/>
            <a:ext cx="29077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00" b="1">
                <a:solidFill>
                  <a:srgbClr val="102A43"/>
                </a:solidFill>
                <a:latin typeface="Noto Sans CJK SC"/>
              </a:defRPr>
            </a:pPr>
            <a:r>
              <a:t>病历信息初筛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2651760"/>
            <a:ext cx="457200" cy="256032"/>
          </a:xfrm>
          <a:prstGeom prst="roundRect">
            <a:avLst/>
          </a:prstGeom>
          <a:solidFill>
            <a:srgbClr val="EDF1FF"/>
          </a:solidFill>
          <a:ln w="15240">
            <a:solidFill>
              <a:srgbClr val="ED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651760"/>
            <a:ext cx="4572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4463E6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2651760"/>
            <a:ext cx="29077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00" b="1">
                <a:solidFill>
                  <a:srgbClr val="102A43"/>
                </a:solidFill>
                <a:latin typeface="Noto Sans CJK SC"/>
              </a:defRPr>
            </a:pPr>
            <a:r>
              <a:t>检查结果分析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3127248"/>
            <a:ext cx="457200" cy="256032"/>
          </a:xfrm>
          <a:prstGeom prst="roundRect">
            <a:avLst/>
          </a:prstGeom>
          <a:solidFill>
            <a:srgbClr val="EDF1FF"/>
          </a:solidFill>
          <a:ln w="15240">
            <a:solidFill>
              <a:srgbClr val="ED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127248"/>
            <a:ext cx="4572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4463E6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7904" y="3127248"/>
            <a:ext cx="29077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00" b="1">
                <a:solidFill>
                  <a:srgbClr val="102A43"/>
                </a:solidFill>
                <a:latin typeface="Noto Sans CJK SC"/>
              </a:defRPr>
            </a:pPr>
            <a:r>
              <a:t>相似病例查找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" y="3602736"/>
            <a:ext cx="457200" cy="256032"/>
          </a:xfrm>
          <a:prstGeom prst="roundRect">
            <a:avLst/>
          </a:prstGeom>
          <a:solidFill>
            <a:srgbClr val="EDF1FF"/>
          </a:solidFill>
          <a:ln w="15240">
            <a:solidFill>
              <a:srgbClr val="ED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02736"/>
            <a:ext cx="4572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4463E6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3602736"/>
            <a:ext cx="29077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00" b="1">
                <a:solidFill>
                  <a:srgbClr val="102A43"/>
                </a:solidFill>
                <a:latin typeface="Noto Sans CJK SC"/>
              </a:defRPr>
            </a:pPr>
            <a:r>
              <a:t>医疗依据搜集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" y="4078224"/>
            <a:ext cx="457200" cy="256032"/>
          </a:xfrm>
          <a:prstGeom prst="roundRect">
            <a:avLst/>
          </a:prstGeom>
          <a:solidFill>
            <a:srgbClr val="EDF1FF"/>
          </a:solidFill>
          <a:ln w="15240">
            <a:solidFill>
              <a:srgbClr val="ED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078224"/>
            <a:ext cx="4572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4463E6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7904" y="4078224"/>
            <a:ext cx="29077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00" b="1">
                <a:solidFill>
                  <a:srgbClr val="102A43"/>
                </a:solidFill>
                <a:latin typeface="Noto Sans CJK SC"/>
              </a:defRPr>
            </a:pPr>
            <a:r>
              <a:t>诊断 ICD 与证据整理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38928" y="3182112"/>
            <a:ext cx="1371600" cy="0"/>
          </a:xfrm>
          <a:prstGeom prst="line">
            <a:avLst/>
          </a:prstGeom>
          <a:ln w="38100">
            <a:solidFill>
              <a:srgbClr val="159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6460236" y="3131820"/>
            <a:ext cx="100584" cy="100584"/>
          </a:xfrm>
          <a:prstGeom prst="triangl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31536" y="2770632"/>
            <a:ext cx="786384" cy="256032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E9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31536" y="2770632"/>
            <a:ext cx="78638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08766D"/>
                </a:solidFill>
                <a:latin typeface="Noto Sans CJK SC"/>
              </a:defRPr>
            </a:pPr>
            <a:r>
              <a:t>收束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1481328"/>
            <a:ext cx="4754880" cy="3493008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600" y="1719072"/>
            <a:ext cx="20116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500" b="1">
                <a:solidFill>
                  <a:srgbClr val="102A43"/>
                </a:solidFill>
                <a:latin typeface="Noto Sans CJK SC"/>
              </a:defRPr>
            </a:pPr>
            <a:r>
              <a:t>系统交付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2103120"/>
            <a:ext cx="192024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3400" b="1">
                <a:solidFill>
                  <a:srgbClr val="159A8C"/>
                </a:solidFill>
                <a:latin typeface="Noto Sans CJK SC"/>
              </a:defRPr>
            </a:pPr>
            <a:r>
              <a:t>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395020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800" b="1">
                <a:solidFill>
                  <a:srgbClr val="102A43"/>
                </a:solidFill>
                <a:latin typeface="Noto Sans CJK SC"/>
              </a:defRPr>
            </a:pPr>
            <a:r>
              <a:t>一个入口，一条可观察流程</a:t>
            </a:r>
          </a:p>
        </p:txBody>
      </p:sp>
      <p:sp>
        <p:nvSpPr>
          <p:cNvPr id="34" name="Oval 33"/>
          <p:cNvSpPr/>
          <p:nvPr/>
        </p:nvSpPr>
        <p:spPr>
          <a:xfrm>
            <a:off x="7150608" y="3399861"/>
            <a:ext cx="68580" cy="6858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50608" y="3399861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7296912" y="3273552"/>
            <a:ext cx="3648456" cy="3413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00" b="0">
                <a:solidFill>
                  <a:srgbClr val="52667A"/>
                </a:solidFill>
                <a:latin typeface="Noto Sans CJK SC"/>
              </a:defRPr>
            </a:pPr>
            <a:r>
              <a:t>结构化 Top-5 诊断</a:t>
            </a:r>
          </a:p>
        </p:txBody>
      </p:sp>
      <p:sp>
        <p:nvSpPr>
          <p:cNvPr id="37" name="Oval 36"/>
          <p:cNvSpPr/>
          <p:nvPr/>
        </p:nvSpPr>
        <p:spPr>
          <a:xfrm>
            <a:off x="7150608" y="3741237"/>
            <a:ext cx="68580" cy="6858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50608" y="3741237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7296912" y="3614928"/>
            <a:ext cx="3648456" cy="3413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00" b="0">
                <a:solidFill>
                  <a:srgbClr val="52667A"/>
                </a:solidFill>
                <a:latin typeface="Noto Sans CJK SC"/>
              </a:defRPr>
            </a:pPr>
            <a:r>
              <a:t>患者级支持证据</a:t>
            </a:r>
          </a:p>
        </p:txBody>
      </p:sp>
      <p:sp>
        <p:nvSpPr>
          <p:cNvPr id="40" name="Oval 39"/>
          <p:cNvSpPr/>
          <p:nvPr/>
        </p:nvSpPr>
        <p:spPr>
          <a:xfrm>
            <a:off x="7150608" y="4082613"/>
            <a:ext cx="68580" cy="6858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50608" y="4082613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7296912" y="3956304"/>
            <a:ext cx="3648456" cy="3413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00" b="0">
                <a:solidFill>
                  <a:srgbClr val="52667A"/>
                </a:solidFill>
                <a:latin typeface="Noto Sans CJK SC"/>
              </a:defRPr>
            </a:pPr>
            <a:r>
              <a:t>后续建议与可追溯依据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93392" y="5230368"/>
            <a:ext cx="8183879" cy="438912"/>
          </a:xfrm>
          <a:prstGeom prst="roundRect">
            <a:avLst/>
          </a:prstGeom>
          <a:solidFill>
            <a:srgbClr val="FFF5E7"/>
          </a:solidFill>
          <a:ln w="15240">
            <a:solidFill>
              <a:srgbClr val="D9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93392" y="5230368"/>
            <a:ext cx="8183879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050" b="1">
                <a:solidFill>
                  <a:srgbClr val="D98B16"/>
                </a:solidFill>
                <a:latin typeface="Noto Sans CJK SC"/>
              </a:defRPr>
            </a:pPr>
            <a:r>
              <a:t>当前没有医生对照数据：只陈述潜在价值，不报告节省时间或成本比例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8056" y="292608"/>
            <a:ext cx="91440" cy="9144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292608"/>
            <a:ext cx="91440" cy="91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03504" y="228600"/>
            <a:ext cx="1920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00" b="1">
                <a:solidFill>
                  <a:srgbClr val="102A43"/>
                </a:solidFill>
                <a:latin typeface="Noto Sans CJK SC"/>
              </a:defRPr>
            </a:pPr>
            <a:r>
              <a:t>MEDICAL SKILL HUB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10160">
            <a:solidFill>
              <a:srgbClr val="D9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800" b="0">
                <a:solidFill>
                  <a:srgbClr val="7B8DA0"/>
                </a:solidFill>
                <a:latin typeface="Noto Sans CJK SC"/>
              </a:defRPr>
            </a:pPr>
            <a:r>
              <a:t>06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"/>
            <a:ext cx="475488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159A8C"/>
                </a:solidFill>
                <a:latin typeface="Noto Sans CJK SC"/>
              </a:defRPr>
            </a:pPr>
            <a:r>
              <a:t>CORE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95528"/>
            <a:ext cx="110642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2500" b="1">
                <a:solidFill>
                  <a:srgbClr val="102A43"/>
                </a:solidFill>
                <a:latin typeface="Noto Sans CJK SC"/>
              </a:defRPr>
            </a:pPr>
            <a:r>
              <a:t>多智能体诊断流水线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603504"/>
            <a:ext cx="1078992" cy="256032"/>
          </a:xfrm>
          <a:prstGeom prst="roundRect">
            <a:avLst/>
          </a:prstGeom>
          <a:solidFill>
            <a:srgbClr val="EDF1FF"/>
          </a:solidFill>
          <a:ln w="15240">
            <a:solidFill>
              <a:srgbClr val="ED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603504"/>
            <a:ext cx="10789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750" b="1">
                <a:solidFill>
                  <a:srgbClr val="4463E6"/>
                </a:solidFill>
                <a:latin typeface="Noto Sans CJK SC"/>
              </a:defRPr>
            </a:pPr>
            <a:r>
              <a:t>预处理仅一次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603504"/>
            <a:ext cx="1078992" cy="256032"/>
          </a:xfrm>
          <a:prstGeom prst="roundRect">
            <a:avLst/>
          </a:prstGeom>
          <a:solidFill>
            <a:srgbClr val="FFF5E7"/>
          </a:solidFill>
          <a:ln w="15240">
            <a:solidFill>
              <a:srgbClr val="FFF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603504"/>
            <a:ext cx="10789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750" b="1">
                <a:solidFill>
                  <a:srgbClr val="D98B16"/>
                </a:solidFill>
                <a:latin typeface="Noto Sans CJK SC"/>
              </a:defRPr>
            </a:pPr>
            <a:r>
              <a:t>循证最多两轮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7000" y="603504"/>
            <a:ext cx="1078992" cy="256032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E9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87000" y="603504"/>
            <a:ext cx="10789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750" b="1">
                <a:solidFill>
                  <a:srgbClr val="08766D"/>
                </a:solidFill>
                <a:latin typeface="Noto Sans CJK SC"/>
              </a:defRPr>
            </a:pPr>
            <a:r>
              <a:t>稳定输出 Top-5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627632"/>
            <a:ext cx="1938528" cy="3200400"/>
          </a:xfrm>
          <a:prstGeom prst="roundRect">
            <a:avLst/>
          </a:prstGeom>
          <a:solidFill>
            <a:srgbClr val="EDF1FF"/>
          </a:solidFill>
          <a:ln w="15240"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" y="1828800"/>
            <a:ext cx="384048" cy="384048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1828800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2377440"/>
            <a:ext cx="1609344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500" b="1">
                <a:solidFill>
                  <a:srgbClr val="102A43"/>
                </a:solidFill>
                <a:latin typeface="Noto Sans CJK SC"/>
              </a:defRPr>
            </a:pPr>
            <a:r>
              <a:t>双任务预处理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090672"/>
            <a:ext cx="1536192" cy="8046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100" b="0">
                <a:solidFill>
                  <a:srgbClr val="52667A"/>
                </a:solidFill>
                <a:latin typeface="Noto Sans CJK SC"/>
              </a:defRPr>
            </a:pPr>
            <a:r>
              <a:t>LLM 预诊断</a:t>
            </a:r>
            <a:br/>
            <a:r>
              <a:t>精准提炼病人信息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232" y="4169663"/>
            <a:ext cx="1517904" cy="0"/>
          </a:xfrm>
          <a:prstGeom prst="line">
            <a:avLst/>
          </a:prstGeom>
          <a:ln w="12700">
            <a:solidFill>
              <a:srgbClr val="446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7512" y="4279392"/>
            <a:ext cx="1609344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770" b="1">
                <a:solidFill>
                  <a:srgbClr val="4463E6"/>
                </a:solidFill>
                <a:latin typeface="Noto Sans CJK SC"/>
              </a:defRPr>
            </a:pPr>
            <a:r>
              <a:t>完整病例 · 结果隔离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87168" y="3209544"/>
            <a:ext cx="320040" cy="0"/>
          </a:xfrm>
          <a:prstGeom prst="line">
            <a:avLst/>
          </a:prstGeom>
          <a:ln w="29209">
            <a:solidFill>
              <a:srgbClr val="446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2756916" y="3159251"/>
            <a:ext cx="100584" cy="100584"/>
          </a:xfrm>
          <a:prstGeom prst="triangl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852928" y="1627632"/>
            <a:ext cx="1938528" cy="3200400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017520" y="1828800"/>
            <a:ext cx="384048" cy="384048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1828800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2377440"/>
            <a:ext cx="1609344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500" b="1">
                <a:solidFill>
                  <a:srgbClr val="102A43"/>
                </a:solidFill>
                <a:latin typeface="Noto Sans CJK SC"/>
              </a:defRPr>
            </a:pPr>
            <a:r>
              <a:t>混合检索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54096" y="3090672"/>
            <a:ext cx="1536192" cy="8046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100" b="0">
                <a:solidFill>
                  <a:srgbClr val="52667A"/>
                </a:solidFill>
                <a:latin typeface="Noto Sans CJK SC"/>
              </a:defRPr>
            </a:pPr>
            <a:r>
              <a:t>BM25 + Dense</a:t>
            </a:r>
            <a:br/>
            <a:r>
              <a:t>RRF + MedCPT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063240" y="4169663"/>
            <a:ext cx="1517904" cy="0"/>
          </a:xfrm>
          <a:prstGeom prst="line">
            <a:avLst/>
          </a:prstGeom>
          <a:ln w="12700">
            <a:solidFill>
              <a:srgbClr val="159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017520" y="4279392"/>
            <a:ext cx="1609344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770" b="1">
                <a:solidFill>
                  <a:srgbClr val="159A8C"/>
                </a:solidFill>
                <a:latin typeface="Noto Sans CJK SC"/>
              </a:defRPr>
            </a:pPr>
            <a:r>
              <a:t>输出疾病候选项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37176" y="3209544"/>
            <a:ext cx="320040" cy="0"/>
          </a:xfrm>
          <a:prstGeom prst="line">
            <a:avLst/>
          </a:prstGeom>
          <a:ln w="29209">
            <a:solidFill>
              <a:srgbClr val="446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5106924" y="3159251"/>
            <a:ext cx="100584" cy="100584"/>
          </a:xfrm>
          <a:prstGeom prst="triangl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202936" y="1627632"/>
            <a:ext cx="1938528" cy="3200400"/>
          </a:xfrm>
          <a:prstGeom prst="roundRect">
            <a:avLst/>
          </a:prstGeom>
          <a:solidFill>
            <a:srgbClr val="F1EDFF"/>
          </a:solidFill>
          <a:ln w="15240"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367527" y="1828800"/>
            <a:ext cx="384048" cy="384048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67527" y="1828800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67527" y="2377440"/>
            <a:ext cx="1609344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500" b="1">
                <a:solidFill>
                  <a:srgbClr val="102A43"/>
                </a:solidFill>
                <a:latin typeface="Noto Sans CJK SC"/>
              </a:defRPr>
            </a:pPr>
            <a:r>
              <a:t>高优先候选集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4103" y="3090672"/>
            <a:ext cx="1536192" cy="8046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100" b="0">
                <a:solidFill>
                  <a:srgbClr val="52667A"/>
                </a:solidFill>
                <a:latin typeface="Noto Sans CJK SC"/>
              </a:defRPr>
            </a:pPr>
            <a:r>
              <a:t>ICD 合并去重</a:t>
            </a:r>
            <a:br/>
            <a:r>
              <a:t>候选闭集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13248" y="4169663"/>
            <a:ext cx="1517903" cy="0"/>
          </a:xfrm>
          <a:prstGeom prst="line">
            <a:avLst/>
          </a:prstGeom>
          <a:ln w="12700">
            <a:solidFill>
              <a:srgbClr val="735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367527" y="4279392"/>
            <a:ext cx="1609344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770" b="1">
                <a:solidFill>
                  <a:srgbClr val="7358DC"/>
                </a:solidFill>
                <a:latin typeface="Noto Sans CJK SC"/>
              </a:defRPr>
            </a:pPr>
            <a:r>
              <a:t>模拟真实诊断流程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187183" y="3209544"/>
            <a:ext cx="320040" cy="0"/>
          </a:xfrm>
          <a:prstGeom prst="line">
            <a:avLst/>
          </a:prstGeom>
          <a:ln w="29209">
            <a:solidFill>
              <a:srgbClr val="446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5400000">
            <a:off x="7456931" y="3159251"/>
            <a:ext cx="100584" cy="100584"/>
          </a:xfrm>
          <a:prstGeom prst="triangl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552944" y="1627632"/>
            <a:ext cx="1938528" cy="3200400"/>
          </a:xfrm>
          <a:prstGeom prst="roundRect">
            <a:avLst/>
          </a:prstGeom>
          <a:solidFill>
            <a:srgbClr val="FFF5E7"/>
          </a:solidFill>
          <a:ln w="15240">
            <a:solidFill>
              <a:srgbClr val="D9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17536" y="1828800"/>
            <a:ext cx="384048" cy="384048"/>
          </a:xfrm>
          <a:prstGeom prst="ellipse">
            <a:avLst/>
          </a:prstGeom>
          <a:solidFill>
            <a:srgbClr val="D98B16"/>
          </a:solidFill>
          <a:ln>
            <a:solidFill>
              <a:srgbClr val="D9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17536" y="1828800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17536" y="2377440"/>
            <a:ext cx="1609344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500" b="1">
                <a:solidFill>
                  <a:srgbClr val="102A43"/>
                </a:solidFill>
                <a:latin typeface="Noto Sans CJK SC"/>
              </a:defRPr>
            </a:pPr>
            <a:r>
              <a:t>双路证据检索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4112" y="3090672"/>
            <a:ext cx="1536192" cy="8046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100" b="0">
                <a:solidFill>
                  <a:srgbClr val="52667A"/>
                </a:solidFill>
                <a:latin typeface="Noto Sans CJK SC"/>
              </a:defRPr>
            </a:pPr>
            <a:r>
              <a:t>PubMed</a:t>
            </a:r>
            <a:br/>
            <a:r>
              <a:t>本地指南 Skill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763256" y="4169663"/>
            <a:ext cx="1517904" cy="0"/>
          </a:xfrm>
          <a:prstGeom prst="line">
            <a:avLst/>
          </a:prstGeom>
          <a:ln w="12700">
            <a:solidFill>
              <a:srgbClr val="D98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717536" y="4279392"/>
            <a:ext cx="1609344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770" b="1">
                <a:solidFill>
                  <a:srgbClr val="D98B16"/>
                </a:solidFill>
                <a:latin typeface="Noto Sans CJK SC"/>
              </a:defRPr>
            </a:pPr>
            <a:r>
              <a:t>指南 / 共识 / 解读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537192" y="3209544"/>
            <a:ext cx="320040" cy="0"/>
          </a:xfrm>
          <a:prstGeom prst="line">
            <a:avLst/>
          </a:prstGeom>
          <a:ln w="29209">
            <a:solidFill>
              <a:srgbClr val="159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Isosceles Triangle 49"/>
          <p:cNvSpPr/>
          <p:nvPr/>
        </p:nvSpPr>
        <p:spPr>
          <a:xfrm rot="5400000">
            <a:off x="9806940" y="3159251"/>
            <a:ext cx="100584" cy="100584"/>
          </a:xfrm>
          <a:prstGeom prst="triangl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902952" y="1627632"/>
            <a:ext cx="1938528" cy="3200400"/>
          </a:xfrm>
          <a:prstGeom prst="roundRect">
            <a:avLst/>
          </a:prstGeom>
          <a:solidFill>
            <a:srgbClr val="E8F0F5"/>
          </a:solidFill>
          <a:ln w="15240">
            <a:solidFill>
              <a:srgbClr val="0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067544" y="1828800"/>
            <a:ext cx="384048" cy="384048"/>
          </a:xfrm>
          <a:prstGeom prst="ellipse">
            <a:avLst/>
          </a:prstGeom>
          <a:solidFill>
            <a:srgbClr val="0F3654"/>
          </a:solidFill>
          <a:ln>
            <a:solidFill>
              <a:srgbClr val="0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67544" y="1828800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67544" y="2377440"/>
            <a:ext cx="1609344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500" b="1">
                <a:solidFill>
                  <a:srgbClr val="102A43"/>
                </a:solidFill>
                <a:latin typeface="Noto Sans CJK SC"/>
              </a:defRPr>
            </a:pPr>
            <a:r>
              <a:t>Top-5 候选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04120" y="3090672"/>
            <a:ext cx="1536192" cy="8046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100" b="0">
                <a:solidFill>
                  <a:srgbClr val="52667A"/>
                </a:solidFill>
                <a:latin typeface="Noto Sans CJK SC"/>
              </a:defRPr>
            </a:pPr>
            <a:r>
              <a:t>患者级证据</a:t>
            </a:r>
            <a:br/>
            <a:r>
              <a:t>结构化交付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113264" y="4169663"/>
            <a:ext cx="1517904" cy="0"/>
          </a:xfrm>
          <a:prstGeom prst="line">
            <a:avLst/>
          </a:prstGeom>
          <a:ln w="12700">
            <a:solidFill>
              <a:srgbClr val="0F36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0067544" y="4279392"/>
            <a:ext cx="1609344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770" b="1">
                <a:solidFill>
                  <a:srgbClr val="0F3654"/>
                </a:solidFill>
                <a:latin typeface="Noto Sans CJK SC"/>
              </a:defRPr>
            </a:pPr>
            <a:r>
              <a:t>评估达标后输出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" y="5175504"/>
            <a:ext cx="10543032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3000" y="5266944"/>
            <a:ext cx="11887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4463E6"/>
                </a:solidFill>
                <a:latin typeface="Noto Sans CJK SC"/>
              </a:defRPr>
            </a:pPr>
            <a:r>
              <a:t>候选构建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23160" y="5266944"/>
            <a:ext cx="11887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159A8C"/>
                </a:solidFill>
                <a:latin typeface="Noto Sans CJK SC"/>
              </a:defRPr>
            </a:pPr>
            <a:r>
              <a:t>循证检索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46920" y="5266944"/>
            <a:ext cx="12801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900" b="1">
                <a:solidFill>
                  <a:srgbClr val="7B8DA0"/>
                </a:solidFill>
                <a:latin typeface="Noto Sans CJK SC"/>
              </a:defRPr>
            </a:pPr>
            <a:r>
              <a:t>完整状态机见 A1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8056" y="292608"/>
            <a:ext cx="91440" cy="9144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292608"/>
            <a:ext cx="91440" cy="91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03504" y="228600"/>
            <a:ext cx="1920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00" b="1">
                <a:solidFill>
                  <a:srgbClr val="102A43"/>
                </a:solidFill>
                <a:latin typeface="Noto Sans CJK SC"/>
              </a:defRPr>
            </a:pPr>
            <a:r>
              <a:t>MEDICAL SKILL HUB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10160">
            <a:solidFill>
              <a:srgbClr val="D9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800" b="0">
                <a:solidFill>
                  <a:srgbClr val="7B8DA0"/>
                </a:solidFill>
                <a:latin typeface="Noto Sans CJK SC"/>
              </a:defRPr>
            </a:pPr>
            <a:r>
              <a:t>07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"/>
            <a:ext cx="475488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159A8C"/>
                </a:solidFill>
                <a:latin typeface="Noto Sans CJK SC"/>
              </a:defRPr>
            </a:pPr>
            <a:r>
              <a:t>VERIFIABLE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95528"/>
            <a:ext cx="110642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2300" b="1">
                <a:solidFill>
                  <a:srgbClr val="102A43"/>
                </a:solidFill>
                <a:latin typeface="Noto Sans CJK SC"/>
              </a:defRPr>
            </a:pPr>
            <a:r>
              <a:t>创新点不只是“多智能体”，而是让判断有权威依据追溯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81328"/>
            <a:ext cx="3456432" cy="3767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81328"/>
            <a:ext cx="3456432" cy="91440"/>
          </a:xfrm>
          <a:prstGeom prst="rect">
            <a:avLst/>
          </a:prstGeom>
          <a:solidFill>
            <a:srgbClr val="4463E6"/>
          </a:solidFill>
          <a:ln w="15240"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1810512"/>
            <a:ext cx="420624" cy="420624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810512"/>
            <a:ext cx="420624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746504"/>
            <a:ext cx="2340864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00" b="1">
                <a:solidFill>
                  <a:srgbClr val="4463E6"/>
                </a:solidFill>
                <a:latin typeface="Noto Sans CJK SC"/>
              </a:defRPr>
            </a:pPr>
            <a:r>
              <a:t>SOURCE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240280"/>
            <a:ext cx="29077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2000" b="1">
                <a:solidFill>
                  <a:srgbClr val="102A43"/>
                </a:solidFill>
                <a:latin typeface="Noto Sans CJK SC"/>
              </a:defRPr>
            </a:pPr>
            <a:r>
              <a:t>证据源隔离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852928"/>
            <a:ext cx="2907792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defRPr sz="1120" b="0">
                <a:solidFill>
                  <a:srgbClr val="52667A"/>
                </a:solidFill>
                <a:latin typeface="Noto Sans CJK SC"/>
              </a:defRPr>
            </a:pPr>
            <a:r>
              <a:t>当前患者事实、相似病例、PubMed 与指南证据分开处理，不把外部病例当作当前患者事实。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4498848"/>
            <a:ext cx="2907792" cy="256032"/>
          </a:xfrm>
          <a:prstGeom prst="roundRect">
            <a:avLst/>
          </a:prstGeom>
          <a:solidFill>
            <a:srgbClr val="EDF1FF"/>
          </a:solidFill>
          <a:ln w="15240">
            <a:solidFill>
              <a:srgbClr val="ED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498848"/>
            <a:ext cx="29077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4463E6"/>
                </a:solidFill>
                <a:latin typeface="Noto Sans CJK SC"/>
              </a:defRPr>
            </a:pPr>
            <a:r>
              <a:t>输入边界写入 Agent 指令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62272" y="1481328"/>
            <a:ext cx="3456432" cy="3767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62272" y="1481328"/>
            <a:ext cx="3456432" cy="91440"/>
          </a:xfrm>
          <a:prstGeom prst="rect">
            <a:avLst/>
          </a:prstGeom>
          <a:solidFill>
            <a:srgbClr val="7358DC"/>
          </a:solidFill>
          <a:ln w="15240"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09160" y="1810512"/>
            <a:ext cx="420624" cy="420624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1810512"/>
            <a:ext cx="420624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1746504"/>
            <a:ext cx="2340864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00" b="1">
                <a:solidFill>
                  <a:srgbClr val="7358DC"/>
                </a:solidFill>
                <a:latin typeface="Noto Sans CJK SC"/>
              </a:defRPr>
            </a:pPr>
            <a:r>
              <a:t>CLOSED-SET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8304" y="2240280"/>
            <a:ext cx="29077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2000" b="1">
                <a:solidFill>
                  <a:srgbClr val="102A43"/>
                </a:solidFill>
                <a:latin typeface="Noto Sans CJK SC"/>
              </a:defRPr>
            </a:pPr>
            <a:r>
              <a:t>诊断防幻觉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2852928"/>
            <a:ext cx="2907792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defRPr sz="1120" b="0">
                <a:solidFill>
                  <a:srgbClr val="52667A"/>
                </a:solidFill>
                <a:latin typeface="Noto Sans CJK SC"/>
              </a:defRPr>
            </a:pPr>
            <a:r>
              <a:t>最终诊断基于高优先候选集；返回 Top-5，遗漏候选必须给出反证。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18304" y="4498848"/>
            <a:ext cx="2907792" cy="256032"/>
          </a:xfrm>
          <a:prstGeom prst="roundRect">
            <a:avLst/>
          </a:prstGeom>
          <a:solidFill>
            <a:srgbClr val="F1EDFF"/>
          </a:solidFill>
          <a:ln w="15240">
            <a:solidFill>
              <a:srgbClr val="F1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18304" y="4498848"/>
            <a:ext cx="29077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7358DC"/>
                </a:solidFill>
                <a:latin typeface="Noto Sans CJK SC"/>
              </a:defRPr>
            </a:pPr>
            <a:r>
              <a:t>模拟诊断＋鉴别过程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4463" y="1481328"/>
            <a:ext cx="3456432" cy="3767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84463" y="1481328"/>
            <a:ext cx="3456432" cy="91440"/>
          </a:xfrm>
          <a:prstGeom prst="rect">
            <a:avLst/>
          </a:prstGeom>
          <a:solidFill>
            <a:srgbClr val="159A8C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31351" y="1810512"/>
            <a:ext cx="420624" cy="420624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1" y="1810512"/>
            <a:ext cx="420624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1746504"/>
            <a:ext cx="2340864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00" b="1">
                <a:solidFill>
                  <a:srgbClr val="159A8C"/>
                </a:solidFill>
                <a:latin typeface="Noto Sans CJK SC"/>
              </a:defRPr>
            </a:pPr>
            <a:r>
              <a:t>TRACEABLE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0495" y="2240280"/>
            <a:ext cx="29077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2000" b="1">
                <a:solidFill>
                  <a:srgbClr val="102A43"/>
                </a:solidFill>
                <a:latin typeface="Noto Sans CJK SC"/>
              </a:defRPr>
            </a:pPr>
            <a:r>
              <a:t>引用可追溯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0495" y="2852928"/>
            <a:ext cx="2907792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defRPr sz="1120" b="0">
                <a:solidFill>
                  <a:srgbClr val="52667A"/>
                </a:solidFill>
                <a:latin typeface="Noto Sans CJK SC"/>
              </a:defRPr>
            </a:pPr>
            <a:r>
              <a:t>PubMed 保留 PMID 与摘要片段；指南 Skill 返回强相关片段并全文核实。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40495" y="4498848"/>
            <a:ext cx="2907792" cy="256032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E9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0495" y="4498848"/>
            <a:ext cx="29077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159A8C"/>
                </a:solidFill>
                <a:latin typeface="Noto Sans CJK SC"/>
              </a:defRPr>
            </a:pPr>
            <a:r>
              <a:t>仅保留实际引用证据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03120" y="5532120"/>
            <a:ext cx="7991856" cy="347472"/>
          </a:xfrm>
          <a:prstGeom prst="roundRect">
            <a:avLst/>
          </a:prstGeom>
          <a:solidFill>
            <a:srgbClr val="0F3654"/>
          </a:solidFill>
          <a:ln w="15240">
            <a:solidFill>
              <a:srgbClr val="0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03120" y="5532120"/>
            <a:ext cx="7991856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t>模型做判断 · 程序守边界 · 证据可复核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6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8056" y="292608"/>
            <a:ext cx="91440" cy="9144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292608"/>
            <a:ext cx="91440" cy="91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03504" y="228600"/>
            <a:ext cx="1920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MEDICAL SKILL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210312"/>
            <a:ext cx="2057400" cy="256032"/>
          </a:xfrm>
          <a:prstGeom prst="roundRect">
            <a:avLst/>
          </a:prstGeom>
          <a:solidFill>
            <a:srgbClr val="1B4A68"/>
          </a:solidFill>
          <a:ln w="15240">
            <a:solidFill>
              <a:srgbClr val="1B4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210312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FFFFFF"/>
                </a:solidFill>
                <a:latin typeface="Noto Sans CJK SC"/>
              </a:defRPr>
            </a:pPr>
            <a:r>
              <a:t>STATIC PRODUCT WALKTHROUGH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10160">
            <a:solidFill>
              <a:srgbClr val="315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800" b="0">
                <a:solidFill>
                  <a:srgbClr val="AFC6D7"/>
                </a:solidFill>
                <a:latin typeface="Noto Sans CJK SC"/>
              </a:defRPr>
            </a:pPr>
            <a:r>
              <a:t>08 / 12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057400"/>
            <a:ext cx="658368" cy="658368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658368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938528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00" b="1">
                <a:solidFill>
                  <a:srgbClr val="79D9CE"/>
                </a:solidFill>
                <a:latin typeface="Noto Sans CJK SC"/>
              </a:defRPr>
            </a:pPr>
            <a:r>
              <a:t>PRODUCT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67712"/>
            <a:ext cx="8686800" cy="1389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Noto Sans CJK SC"/>
              </a:rPr>
              <a:t>产品展示：</a:t>
            </a:r>
            <a:r>
              <a:rPr sz="3100" b="1">
                <a:solidFill>
                  <a:srgbClr val="8FE0D6"/>
                </a:solidFill>
                <a:latin typeface="Noto Sans CJK SC"/>
              </a:rPr>
              <a:t>从病例输入，
到可追溯 Top-5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74519" y="4069080"/>
            <a:ext cx="8092440" cy="475488"/>
          </a:xfrm>
          <a:prstGeom prst="roundRect">
            <a:avLst/>
          </a:prstGeom>
          <a:solidFill>
            <a:srgbClr val="173F5B"/>
          </a:solidFill>
          <a:ln w="15240">
            <a:solidFill>
              <a:srgbClr val="315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19" y="4069080"/>
            <a:ext cx="809244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D9E8F1"/>
                </a:solidFill>
                <a:latin typeface="Noto Sans CJK SC"/>
              </a:defRPr>
            </a:pPr>
            <a:r>
              <a:t>全原生静态展示 · 无网络、无本地服务、无 iframe 依赖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8056" y="292608"/>
            <a:ext cx="91440" cy="9144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292608"/>
            <a:ext cx="91440" cy="91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03504" y="228600"/>
            <a:ext cx="1920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00" b="1">
                <a:solidFill>
                  <a:srgbClr val="102A43"/>
                </a:solidFill>
                <a:latin typeface="Noto Sans CJK SC"/>
              </a:defRPr>
            </a:pPr>
            <a:r>
              <a:t>MEDICAL SKILL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210312"/>
            <a:ext cx="2057400" cy="256032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E9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210312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08766D"/>
                </a:solidFill>
                <a:latin typeface="Noto Sans CJK SC"/>
              </a:defRPr>
            </a:pPr>
            <a:r>
              <a:t>STATIC · OFFLINE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10160">
            <a:solidFill>
              <a:srgbClr val="D9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800" b="0">
                <a:solidFill>
                  <a:srgbClr val="7B8DA0"/>
                </a:solidFill>
                <a:latin typeface="Noto Sans CJK SC"/>
              </a:defRPr>
            </a:pPr>
            <a:r>
              <a:t>09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76072"/>
            <a:ext cx="475488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159A8C"/>
                </a:solidFill>
                <a:latin typeface="Noto Sans CJK SC"/>
              </a:defRPr>
            </a:pPr>
            <a:r>
              <a:t>PRODUCT WALKTHROUGH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95528"/>
            <a:ext cx="110642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2300" b="1">
                <a:solidFill>
                  <a:srgbClr val="102A43"/>
                </a:solidFill>
                <a:latin typeface="Noto Sans CJK SC"/>
              </a:defRPr>
            </a:pPr>
            <a:r>
              <a:t>从病例输入，到可追溯 Top-5：一页看懂产品交付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11183112" cy="4553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8C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25880"/>
            <a:ext cx="11183112" cy="402336"/>
          </a:xfrm>
          <a:prstGeom prst="rect">
            <a:avLst/>
          </a:prstGeom>
          <a:solidFill>
            <a:srgbClr val="0F3654"/>
          </a:solidFill>
          <a:ln w="15240">
            <a:solidFill>
              <a:srgbClr val="0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1463040"/>
            <a:ext cx="91440" cy="91440"/>
          </a:xfrm>
          <a:prstGeom prst="ellipse">
            <a:avLst/>
          </a:prstGeom>
          <a:solidFill>
            <a:srgbClr val="C85C55"/>
          </a:solidFill>
          <a:ln>
            <a:solidFill>
              <a:srgbClr val="C8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463040"/>
            <a:ext cx="91440" cy="91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15" name="Oval 14"/>
          <p:cNvSpPr/>
          <p:nvPr/>
        </p:nvSpPr>
        <p:spPr>
          <a:xfrm>
            <a:off x="914400" y="1463040"/>
            <a:ext cx="91440" cy="91440"/>
          </a:xfrm>
          <a:prstGeom prst="ellipse">
            <a:avLst/>
          </a:prstGeom>
          <a:solidFill>
            <a:srgbClr val="D98B16"/>
          </a:solidFill>
          <a:ln>
            <a:solidFill>
              <a:srgbClr val="D9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463040"/>
            <a:ext cx="91440" cy="91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17" name="Oval 16"/>
          <p:cNvSpPr/>
          <p:nvPr/>
        </p:nvSpPr>
        <p:spPr>
          <a:xfrm>
            <a:off x="1115568" y="1463040"/>
            <a:ext cx="91440" cy="9144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1463040"/>
            <a:ext cx="91440" cy="91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426464" y="1380744"/>
            <a:ext cx="3749039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MEDICAL SKILL HUB · 静态产品流程展示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1920240"/>
            <a:ext cx="21488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400" b="1">
                <a:solidFill>
                  <a:srgbClr val="4463E6"/>
                </a:solidFill>
                <a:latin typeface="Noto Sans CJK SC"/>
              </a:defRPr>
            </a:pPr>
            <a:r>
              <a:t>01  病例输入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" y="2286000"/>
            <a:ext cx="2788920" cy="269748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40" y="2505456"/>
            <a:ext cx="786384" cy="256032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E9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2505456"/>
            <a:ext cx="78638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08766D"/>
                </a:solidFill>
                <a:latin typeface="Noto Sans CJK SC"/>
              </a:defRPr>
            </a:pPr>
            <a:r>
              <a:t>已去标识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907792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7B8DA0"/>
                </a:solidFill>
                <a:latin typeface="Noto Sans CJK SC"/>
              </a:defRPr>
            </a:pPr>
            <a:r>
              <a:t>主诉与现病史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154680"/>
            <a:ext cx="23774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defRPr sz="1050" b="0">
                <a:solidFill>
                  <a:srgbClr val="102A43"/>
                </a:solidFill>
                <a:latin typeface="Noto Sans CJK SC"/>
              </a:defRPr>
            </a:pPr>
            <a:r>
              <a:t>反复腹痛、腹泻，伴体重下降；实验室提示炎症指标升高……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968496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7B8DA0"/>
                </a:solidFill>
                <a:latin typeface="Noto Sans CJK SC"/>
              </a:defRPr>
            </a:pPr>
            <a:r>
              <a:t>检查摘要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4279392"/>
            <a:ext cx="2340864" cy="256032"/>
          </a:xfrm>
          <a:prstGeom prst="roundRect">
            <a:avLst/>
          </a:prstGeom>
          <a:solidFill>
            <a:srgbClr val="EDF1FF"/>
          </a:solidFill>
          <a:ln w="15240">
            <a:solidFill>
              <a:srgbClr val="ED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279392"/>
            <a:ext cx="234086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2846BD"/>
                </a:solidFill>
                <a:latin typeface="Noto Sans CJK SC"/>
              </a:defRPr>
            </a:pPr>
            <a:r>
              <a:t>影像 · 内镜 · 病理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1920240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400" b="1">
                <a:solidFill>
                  <a:srgbClr val="7358DC"/>
                </a:solidFill>
                <a:latin typeface="Noto Sans CJK SC"/>
              </a:defRPr>
            </a:pPr>
            <a:r>
              <a:t>02  可观察阶段流</a:t>
            </a:r>
          </a:p>
        </p:txBody>
      </p:sp>
      <p:sp>
        <p:nvSpPr>
          <p:cNvPr id="30" name="Oval 29"/>
          <p:cNvSpPr/>
          <p:nvPr/>
        </p:nvSpPr>
        <p:spPr>
          <a:xfrm>
            <a:off x="4023360" y="2404872"/>
            <a:ext cx="274320" cy="27432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0" y="2404872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5696" y="2331720"/>
            <a:ext cx="118872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00" b="1">
                <a:solidFill>
                  <a:srgbClr val="102A43"/>
                </a:solidFill>
                <a:latin typeface="Noto Sans CJK SC"/>
              </a:defRPr>
            </a:pPr>
            <a:r>
              <a:t>预处理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5696" y="2578608"/>
            <a:ext cx="217627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52667A"/>
                </a:solidFill>
                <a:latin typeface="Noto Sans CJK SC"/>
              </a:defRPr>
            </a:pPr>
            <a:r>
              <a:t>病例结构化与候选生成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160520" y="2688336"/>
            <a:ext cx="0" cy="347472"/>
          </a:xfrm>
          <a:prstGeom prst="line">
            <a:avLst/>
          </a:prstGeom>
          <a:ln w="15240">
            <a:solidFill>
              <a:srgbClr val="D9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023360" y="3063239"/>
            <a:ext cx="274320" cy="27432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60" y="3063239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25696" y="2990087"/>
            <a:ext cx="118872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00" b="1">
                <a:solidFill>
                  <a:srgbClr val="102A43"/>
                </a:solidFill>
                <a:latin typeface="Noto Sans CJK SC"/>
              </a:defRPr>
            </a:pPr>
            <a:r>
              <a:t>相似病例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25696" y="3236975"/>
            <a:ext cx="217627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52667A"/>
                </a:solidFill>
                <a:latin typeface="Noto Sans CJK SC"/>
              </a:defRPr>
            </a:pPr>
            <a:r>
              <a:t>混合检索与重排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160520" y="3346703"/>
            <a:ext cx="0" cy="347472"/>
          </a:xfrm>
          <a:prstGeom prst="line">
            <a:avLst/>
          </a:prstGeom>
          <a:ln w="15240">
            <a:solidFill>
              <a:srgbClr val="D9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023360" y="3721607"/>
            <a:ext cx="274320" cy="274320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0" y="3721607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25696" y="3648456"/>
            <a:ext cx="118872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00" b="1">
                <a:solidFill>
                  <a:srgbClr val="102A43"/>
                </a:solidFill>
                <a:latin typeface="Noto Sans CJK SC"/>
              </a:defRPr>
            </a:pPr>
            <a:r>
              <a:t>循证检索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25696" y="3895344"/>
            <a:ext cx="217627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52667A"/>
                </a:solidFill>
                <a:latin typeface="Noto Sans CJK SC"/>
              </a:defRPr>
            </a:pPr>
            <a:r>
              <a:t>PubMed＋指南 Skill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160520" y="4005072"/>
            <a:ext cx="0" cy="347472"/>
          </a:xfrm>
          <a:prstGeom prst="line">
            <a:avLst/>
          </a:prstGeom>
          <a:ln w="15240">
            <a:solidFill>
              <a:srgbClr val="D9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4023360" y="4379976"/>
            <a:ext cx="274320" cy="274320"/>
          </a:xfrm>
          <a:prstGeom prst="ellipse">
            <a:avLst/>
          </a:prstGeom>
          <a:solidFill>
            <a:srgbClr val="D98B16"/>
          </a:solidFill>
          <a:ln>
            <a:solidFill>
              <a:srgbClr val="D9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3360" y="4379976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25696" y="4306824"/>
            <a:ext cx="118872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00" b="1">
                <a:solidFill>
                  <a:srgbClr val="102A43"/>
                </a:solidFill>
                <a:latin typeface="Noto Sans CJK SC"/>
              </a:defRPr>
            </a:pPr>
            <a:r>
              <a:t>诊断汇总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25696" y="4553712"/>
            <a:ext cx="217627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52667A"/>
                </a:solidFill>
                <a:latin typeface="Noto Sans CJK SC"/>
              </a:defRPr>
            </a:pPr>
            <a:r>
              <a:t>闭集判断与纠偏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041648" y="5001768"/>
            <a:ext cx="2596896" cy="256032"/>
          </a:xfrm>
          <a:prstGeom prst="roundRect">
            <a:avLst/>
          </a:prstGeom>
          <a:solidFill>
            <a:srgbClr val="FFF5E7"/>
          </a:solidFill>
          <a:ln w="15240">
            <a:solidFill>
              <a:srgbClr val="FFF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41648" y="5001768"/>
            <a:ext cx="259689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D98B16"/>
                </a:solidFill>
                <a:latin typeface="Noto Sans CJK SC"/>
              </a:defRPr>
            </a:pPr>
            <a:r>
              <a:t>最多两轮 · 候选集不扩展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86016" y="1920240"/>
            <a:ext cx="23317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400" b="1">
                <a:solidFill>
                  <a:srgbClr val="08766D"/>
                </a:solidFill>
                <a:latin typeface="Noto Sans CJK SC"/>
              </a:defRPr>
            </a:pPr>
            <a:r>
              <a:t>03  结构化输出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86016" y="2286000"/>
            <a:ext cx="4343400" cy="2697480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42048" y="2505456"/>
            <a:ext cx="18288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350" b="1">
                <a:solidFill>
                  <a:srgbClr val="102A43"/>
                </a:solidFill>
                <a:latin typeface="Noto Sans CJK SC"/>
              </a:defRPr>
            </a:pPr>
            <a:r>
              <a:t>Top-5 候选诊断</a:t>
            </a:r>
          </a:p>
        </p:txBody>
      </p:sp>
      <p:sp>
        <p:nvSpPr>
          <p:cNvPr id="54" name="Oval 53"/>
          <p:cNvSpPr/>
          <p:nvPr/>
        </p:nvSpPr>
        <p:spPr>
          <a:xfrm>
            <a:off x="7242048" y="2916936"/>
            <a:ext cx="274320" cy="27432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42048" y="2916936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FFFF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44383" y="2898648"/>
            <a:ext cx="1353312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102A43"/>
                </a:solidFill>
                <a:latin typeface="Noto Sans CJK SC"/>
              </a:defRPr>
            </a:pPr>
            <a:r>
              <a:t>候选诊断 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89136" y="2916936"/>
            <a:ext cx="621792" cy="2560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89136" y="2916936"/>
            <a:ext cx="6217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102A43"/>
                </a:solidFill>
                <a:latin typeface="Noto Sans CJK SC"/>
              </a:defRPr>
            </a:pPr>
            <a:r>
              <a:t>K50.x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38944" y="2916936"/>
            <a:ext cx="493776" cy="2560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38944" y="2916936"/>
            <a:ext cx="49377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08766D"/>
                </a:solidFill>
                <a:latin typeface="Noto Sans CJK SC"/>
              </a:defRPr>
            </a:pPr>
            <a:r>
              <a:t>高</a:t>
            </a:r>
          </a:p>
        </p:txBody>
      </p:sp>
      <p:sp>
        <p:nvSpPr>
          <p:cNvPr id="61" name="Oval 60"/>
          <p:cNvSpPr/>
          <p:nvPr/>
        </p:nvSpPr>
        <p:spPr>
          <a:xfrm>
            <a:off x="7242048" y="3401568"/>
            <a:ext cx="274320" cy="27432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42048" y="3401568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FFFF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44383" y="3383279"/>
            <a:ext cx="1353312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102A43"/>
                </a:solidFill>
                <a:latin typeface="Noto Sans CJK SC"/>
              </a:defRPr>
            </a:pPr>
            <a:r>
              <a:t>候选诊断 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089136" y="3401568"/>
            <a:ext cx="621792" cy="2560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89136" y="3401568"/>
            <a:ext cx="6217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102A43"/>
                </a:solidFill>
                <a:latin typeface="Noto Sans CJK SC"/>
              </a:defRPr>
            </a:pPr>
            <a:r>
              <a:t>K51.x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838944" y="3401568"/>
            <a:ext cx="493776" cy="2560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38944" y="3401568"/>
            <a:ext cx="49377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08766D"/>
                </a:solidFill>
                <a:latin typeface="Noto Sans CJK SC"/>
              </a:defRPr>
            </a:pPr>
            <a:r>
              <a:t>中</a:t>
            </a:r>
          </a:p>
        </p:txBody>
      </p:sp>
      <p:sp>
        <p:nvSpPr>
          <p:cNvPr id="68" name="Oval 67"/>
          <p:cNvSpPr/>
          <p:nvPr/>
        </p:nvSpPr>
        <p:spPr>
          <a:xfrm>
            <a:off x="7242048" y="3886200"/>
            <a:ext cx="274320" cy="27432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42048" y="3886200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FFFF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44383" y="3867912"/>
            <a:ext cx="1353312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102A43"/>
                </a:solidFill>
                <a:latin typeface="Noto Sans CJK SC"/>
              </a:defRPr>
            </a:pPr>
            <a:r>
              <a:t>候选诊断 C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089136" y="3886200"/>
            <a:ext cx="621792" cy="2560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89136" y="3886200"/>
            <a:ext cx="6217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102A43"/>
                </a:solidFill>
                <a:latin typeface="Noto Sans CJK SC"/>
              </a:defRPr>
            </a:pPr>
            <a:r>
              <a:t>A18.x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838944" y="3886200"/>
            <a:ext cx="493776" cy="2560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38944" y="3886200"/>
            <a:ext cx="49377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08766D"/>
                </a:solidFill>
                <a:latin typeface="Noto Sans CJK SC"/>
              </a:defRPr>
            </a:pPr>
            <a:r>
              <a:t>中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242048" y="4462272"/>
            <a:ext cx="3749040" cy="0"/>
          </a:xfrm>
          <a:prstGeom prst="line">
            <a:avLst/>
          </a:prstGeom>
          <a:ln w="12700">
            <a:solidFill>
              <a:srgbClr val="B8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7242048" y="4572000"/>
            <a:ext cx="3520440" cy="2103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08766D"/>
                </a:solidFill>
                <a:latin typeface="Noto Sans CJK SC"/>
              </a:defRPr>
            </a:pPr>
            <a:r>
              <a:t>证据：患者级事实 · PMID · 指南片段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508760" y="5321808"/>
            <a:ext cx="9253728" cy="329184"/>
          </a:xfrm>
          <a:prstGeom prst="roundRect">
            <a:avLst/>
          </a:prstGeom>
          <a:solidFill>
            <a:srgbClr val="FFF0EE"/>
          </a:solidFill>
          <a:ln w="15240">
            <a:solidFill>
              <a:srgbClr val="C8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508760" y="5321808"/>
            <a:ext cx="925372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50" b="1">
                <a:solidFill>
                  <a:srgbClr val="C85C55"/>
                </a:solidFill>
                <a:latin typeface="Noto Sans CJK SC"/>
              </a:defRPr>
            </a:pPr>
            <a:r>
              <a:t>产品流程示意，不是本次现场实时生成结果；输出仅用于科研与辅助分析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8056" y="292608"/>
            <a:ext cx="91440" cy="9144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292608"/>
            <a:ext cx="91440" cy="91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03504" y="228600"/>
            <a:ext cx="1920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00" b="1">
                <a:solidFill>
                  <a:srgbClr val="102A43"/>
                </a:solidFill>
                <a:latin typeface="Noto Sans CJK SC"/>
              </a:defRPr>
            </a:pPr>
            <a:r>
              <a:t>MEDICAL SKILL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210312"/>
            <a:ext cx="2057400" cy="256032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E9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210312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08766D"/>
                </a:solidFill>
                <a:latin typeface="Noto Sans CJK SC"/>
              </a:defRPr>
            </a:pPr>
            <a:r>
              <a:t>INTERNAL EVALUATION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10160">
            <a:solidFill>
              <a:srgbClr val="D9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800" b="0">
                <a:solidFill>
                  <a:srgbClr val="7B8DA0"/>
                </a:solidFill>
                <a:latin typeface="Noto Sans CJK SC"/>
              </a:defRPr>
            </a:pPr>
            <a:r>
              <a:t>10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76072"/>
            <a:ext cx="475488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159A8C"/>
                </a:solidFill>
                <a:latin typeface="Noto Sans CJK SC"/>
              </a:defRPr>
            </a:pPr>
            <a:r>
              <a:t>PIPELINE VS PURE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95528"/>
            <a:ext cx="110642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2300" b="1">
                <a:solidFill>
                  <a:srgbClr val="102A43"/>
                </a:solidFill>
                <a:latin typeface="Noto Sans CJK SC"/>
              </a:defRPr>
            </a:pPr>
            <a:r>
              <a:t>最终诊断结果 vs 纯 LLM：ICD 命中率对比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399032"/>
            <a:ext cx="7360920" cy="4251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1907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00" b="1">
                <a:solidFill>
                  <a:srgbClr val="102A43"/>
                </a:solidFill>
                <a:latin typeface="Noto Sans CJK SC"/>
              </a:defRPr>
            </a:pPr>
            <a:r>
              <a:t>4-digit Recall@1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87168" y="1709928"/>
            <a:ext cx="932688" cy="256032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E9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7168" y="1709928"/>
            <a:ext cx="93268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08766D"/>
                </a:solidFill>
                <a:latin typeface="Noto Sans CJK SC"/>
              </a:defRPr>
            </a:pPr>
            <a:r>
              <a:t>+13.3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066543"/>
            <a:ext cx="80467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52667A"/>
                </a:solidFill>
                <a:latin typeface="Noto Sans CJK SC"/>
              </a:defRPr>
            </a:pPr>
            <a:r>
              <a:t>纯 LLM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10512" y="2093975"/>
            <a:ext cx="4846320" cy="146304"/>
          </a:xfrm>
          <a:prstGeom prst="roundRect">
            <a:avLst/>
          </a:prstGeom>
          <a:solidFill>
            <a:srgbClr val="E7ECF2"/>
          </a:solidFill>
          <a:ln w="15240">
            <a:solidFill>
              <a:srgbClr val="E7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810512" y="2093975"/>
            <a:ext cx="1487820" cy="146304"/>
          </a:xfrm>
          <a:prstGeom prst="roundRect">
            <a:avLst/>
          </a:prstGeom>
          <a:solidFill>
            <a:srgbClr val="7B8DA0"/>
          </a:solidFill>
          <a:ln w="15240">
            <a:solidFill>
              <a:srgbClr val="7B8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3992" y="2039112"/>
            <a:ext cx="62179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900" b="1">
                <a:solidFill>
                  <a:srgbClr val="7B8DA0"/>
                </a:solidFill>
                <a:latin typeface="Noto Sans CJK SC"/>
              </a:defRPr>
            </a:pPr>
            <a:r>
              <a:t>30.7%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404872"/>
            <a:ext cx="80467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52667A"/>
                </a:solidFill>
                <a:latin typeface="Noto Sans CJK SC"/>
              </a:defRPr>
            </a:pPr>
            <a:r>
              <a:t>最终诊断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10512" y="2432303"/>
            <a:ext cx="4846320" cy="146304"/>
          </a:xfrm>
          <a:prstGeom prst="roundRect">
            <a:avLst/>
          </a:prstGeom>
          <a:solidFill>
            <a:srgbClr val="E7ECF2"/>
          </a:solidFill>
          <a:ln w="15240">
            <a:solidFill>
              <a:srgbClr val="E7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810512" y="2432303"/>
            <a:ext cx="2132380" cy="146304"/>
          </a:xfrm>
          <a:prstGeom prst="roundRect">
            <a:avLst/>
          </a:prstGeom>
          <a:solidFill>
            <a:srgbClr val="159A8C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2377440"/>
            <a:ext cx="62179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900" b="1">
                <a:solidFill>
                  <a:srgbClr val="159A8C"/>
                </a:solidFill>
                <a:latin typeface="Noto Sans CJK SC"/>
              </a:defRPr>
            </a:pPr>
            <a:r>
              <a:t>44.0%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2926080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00" b="1">
                <a:solidFill>
                  <a:srgbClr val="102A43"/>
                </a:solidFill>
                <a:latin typeface="Noto Sans CJK SC"/>
              </a:defRPr>
            </a:pPr>
            <a:r>
              <a:t>4-digit Recall@3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87168" y="2916936"/>
            <a:ext cx="932688" cy="256032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E9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87168" y="2916936"/>
            <a:ext cx="93268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08766D"/>
                </a:solidFill>
                <a:latin typeface="Noto Sans CJK SC"/>
              </a:defRPr>
            </a:pPr>
            <a:r>
              <a:t>+24.0 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273552"/>
            <a:ext cx="80467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52667A"/>
                </a:solidFill>
                <a:latin typeface="Noto Sans CJK SC"/>
              </a:defRPr>
            </a:pPr>
            <a:r>
              <a:t>纯 LLM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10512" y="3300984"/>
            <a:ext cx="4846320" cy="146304"/>
          </a:xfrm>
          <a:prstGeom prst="roundRect">
            <a:avLst/>
          </a:prstGeom>
          <a:solidFill>
            <a:srgbClr val="E7ECF2"/>
          </a:solidFill>
          <a:ln w="15240">
            <a:solidFill>
              <a:srgbClr val="E7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810512" y="3300984"/>
            <a:ext cx="1807677" cy="146304"/>
          </a:xfrm>
          <a:prstGeom prst="roundRect">
            <a:avLst/>
          </a:prstGeom>
          <a:solidFill>
            <a:srgbClr val="7B8DA0"/>
          </a:solidFill>
          <a:ln w="15240">
            <a:solidFill>
              <a:srgbClr val="7B8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3246120"/>
            <a:ext cx="62179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900" b="1">
                <a:solidFill>
                  <a:srgbClr val="7B8DA0"/>
                </a:solidFill>
                <a:latin typeface="Noto Sans CJK SC"/>
              </a:defRPr>
            </a:pPr>
            <a:r>
              <a:t>37.3%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611880"/>
            <a:ext cx="80467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52667A"/>
                </a:solidFill>
                <a:latin typeface="Noto Sans CJK SC"/>
              </a:defRPr>
            </a:pPr>
            <a:r>
              <a:t>最终诊断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10512" y="3639312"/>
            <a:ext cx="4846320" cy="146304"/>
          </a:xfrm>
          <a:prstGeom prst="roundRect">
            <a:avLst/>
          </a:prstGeom>
          <a:solidFill>
            <a:srgbClr val="E7ECF2"/>
          </a:solidFill>
          <a:ln w="15240">
            <a:solidFill>
              <a:srgbClr val="E7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810512" y="3639312"/>
            <a:ext cx="2970794" cy="146304"/>
          </a:xfrm>
          <a:prstGeom prst="roundRect">
            <a:avLst/>
          </a:prstGeom>
          <a:solidFill>
            <a:srgbClr val="159A8C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93992" y="3584448"/>
            <a:ext cx="62179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900" b="1">
                <a:solidFill>
                  <a:srgbClr val="159A8C"/>
                </a:solidFill>
                <a:latin typeface="Noto Sans CJK SC"/>
              </a:defRPr>
            </a:pPr>
            <a:r>
              <a:t>61.3%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4133087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200" b="1">
                <a:solidFill>
                  <a:srgbClr val="102A43"/>
                </a:solidFill>
                <a:latin typeface="Noto Sans CJK SC"/>
              </a:defRPr>
            </a:pPr>
            <a:r>
              <a:t>4-digit Recall@5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87168" y="4123944"/>
            <a:ext cx="932688" cy="256032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E9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87168" y="4123944"/>
            <a:ext cx="93268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08766D"/>
                </a:solidFill>
                <a:latin typeface="Noto Sans CJK SC"/>
              </a:defRPr>
            </a:pPr>
            <a:r>
              <a:t>+29.4 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480559"/>
            <a:ext cx="80467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52667A"/>
                </a:solidFill>
                <a:latin typeface="Noto Sans CJK SC"/>
              </a:defRPr>
            </a:pPr>
            <a:r>
              <a:t>纯 LLM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10512" y="4507992"/>
            <a:ext cx="4846320" cy="146304"/>
          </a:xfrm>
          <a:prstGeom prst="roundRect">
            <a:avLst/>
          </a:prstGeom>
          <a:solidFill>
            <a:srgbClr val="E7ECF2"/>
          </a:solidFill>
          <a:ln w="15240">
            <a:solidFill>
              <a:srgbClr val="E7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810512" y="4507992"/>
            <a:ext cx="2001530" cy="146304"/>
          </a:xfrm>
          <a:prstGeom prst="roundRect">
            <a:avLst/>
          </a:prstGeom>
          <a:solidFill>
            <a:srgbClr val="7B8DA0"/>
          </a:solidFill>
          <a:ln w="15240">
            <a:solidFill>
              <a:srgbClr val="7B8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93992" y="4453127"/>
            <a:ext cx="62179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900" b="1">
                <a:solidFill>
                  <a:srgbClr val="7B8DA0"/>
                </a:solidFill>
                <a:latin typeface="Noto Sans CJK SC"/>
              </a:defRPr>
            </a:pPr>
            <a:r>
              <a:t>41.3%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4818888"/>
            <a:ext cx="80467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0">
                <a:solidFill>
                  <a:srgbClr val="52667A"/>
                </a:solidFill>
                <a:latin typeface="Noto Sans CJK SC"/>
              </a:defRPr>
            </a:pPr>
            <a:r>
              <a:t>最终诊断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10512" y="4846320"/>
            <a:ext cx="4846320" cy="146304"/>
          </a:xfrm>
          <a:prstGeom prst="roundRect">
            <a:avLst/>
          </a:prstGeom>
          <a:solidFill>
            <a:srgbClr val="E7ECF2"/>
          </a:solidFill>
          <a:ln w="15240">
            <a:solidFill>
              <a:srgbClr val="E7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810512" y="4846320"/>
            <a:ext cx="3426348" cy="146304"/>
          </a:xfrm>
          <a:prstGeom prst="roundRect">
            <a:avLst/>
          </a:prstGeom>
          <a:solidFill>
            <a:srgbClr val="159A8C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93992" y="4791455"/>
            <a:ext cx="62179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900" b="1">
                <a:solidFill>
                  <a:srgbClr val="159A8C"/>
                </a:solidFill>
                <a:latin typeface="Noto Sans CJK SC"/>
              </a:defRPr>
            </a:pPr>
            <a:r>
              <a:t>70.7%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11312" y="1399032"/>
            <a:ext cx="3374136" cy="4251960"/>
          </a:xfrm>
          <a:prstGeom prst="roundRect">
            <a:avLst/>
          </a:prstGeom>
          <a:solidFill>
            <a:srgbClr val="0F3654"/>
          </a:solidFill>
          <a:ln w="15240">
            <a:solidFill>
              <a:srgbClr val="0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85632" y="1691640"/>
            <a:ext cx="26517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8FE0D6"/>
                </a:solidFill>
                <a:latin typeface="Noto Sans CJK SC"/>
              </a:defRPr>
            </a:pPr>
            <a:r>
              <a:t>COMPARISON SCOPE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5632" y="2002536"/>
            <a:ext cx="105156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3600" b="1">
                <a:solidFill>
                  <a:srgbClr val="FFFFFF"/>
                </a:solidFill>
                <a:latin typeface="Noto Sans CJK SC"/>
              </a:defRPr>
            </a:pPr>
            <a:r>
              <a:t>75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2212848"/>
            <a:ext cx="173736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00" b="1">
                <a:solidFill>
                  <a:srgbClr val="D9E8F1"/>
                </a:solidFill>
                <a:latin typeface="Noto Sans CJK SC"/>
              </a:defRPr>
            </a:pPr>
            <a:r>
              <a:t>个内部回顾性病例</a:t>
            </a:r>
          </a:p>
        </p:txBody>
      </p:sp>
      <p:sp>
        <p:nvSpPr>
          <p:cNvPr id="49" name="Oval 48"/>
          <p:cNvSpPr/>
          <p:nvPr/>
        </p:nvSpPr>
        <p:spPr>
          <a:xfrm>
            <a:off x="8503920" y="3055810"/>
            <a:ext cx="68580" cy="6858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3920" y="3055810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51" name="TextBox 50"/>
          <p:cNvSpPr txBox="1"/>
          <p:nvPr/>
        </p:nvSpPr>
        <p:spPr>
          <a:xfrm>
            <a:off x="8650224" y="2907792"/>
            <a:ext cx="2551176" cy="40005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69" b="0">
                <a:solidFill>
                  <a:srgbClr val="D9E8F1"/>
                </a:solidFill>
                <a:latin typeface="Noto Sans CJK SC"/>
              </a:defRPr>
            </a:pPr>
            <a:r>
              <a:t>两组按相同 ICD 四位码规则计算</a:t>
            </a:r>
          </a:p>
        </p:txBody>
      </p:sp>
      <p:sp>
        <p:nvSpPr>
          <p:cNvPr id="52" name="Oval 51"/>
          <p:cNvSpPr/>
          <p:nvPr/>
        </p:nvSpPr>
        <p:spPr>
          <a:xfrm>
            <a:off x="8503920" y="3455860"/>
            <a:ext cx="68580" cy="6858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3920" y="3455860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54" name="TextBox 53"/>
          <p:cNvSpPr txBox="1"/>
          <p:nvPr/>
        </p:nvSpPr>
        <p:spPr>
          <a:xfrm>
            <a:off x="8650224" y="3307842"/>
            <a:ext cx="2551176" cy="40005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69" b="0">
                <a:solidFill>
                  <a:srgbClr val="D9E8F1"/>
                </a:solidFill>
                <a:latin typeface="Noto Sans CJK SC"/>
              </a:defRPr>
            </a:pPr>
            <a:r>
              <a:t>最终诊断为完整多智能体流程输出</a:t>
            </a:r>
          </a:p>
        </p:txBody>
      </p:sp>
      <p:sp>
        <p:nvSpPr>
          <p:cNvPr id="55" name="Oval 54"/>
          <p:cNvSpPr/>
          <p:nvPr/>
        </p:nvSpPr>
        <p:spPr>
          <a:xfrm>
            <a:off x="8503920" y="3855910"/>
            <a:ext cx="68580" cy="6858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20" y="3855910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57" name="TextBox 56"/>
          <p:cNvSpPr txBox="1"/>
          <p:nvPr/>
        </p:nvSpPr>
        <p:spPr>
          <a:xfrm>
            <a:off x="8650224" y="3707891"/>
            <a:ext cx="2551176" cy="40005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69" b="0">
                <a:solidFill>
                  <a:srgbClr val="D9E8F1"/>
                </a:solidFill>
                <a:latin typeface="Noto Sans CJK SC"/>
              </a:defRPr>
            </a:pPr>
            <a:r>
              <a:t>内部技术评测，不代表临床准确率</a:t>
            </a:r>
          </a:p>
        </p:txBody>
      </p:sp>
      <p:sp>
        <p:nvSpPr>
          <p:cNvPr id="58" name="Oval 57"/>
          <p:cNvSpPr/>
          <p:nvPr/>
        </p:nvSpPr>
        <p:spPr>
          <a:xfrm>
            <a:off x="8503920" y="4255960"/>
            <a:ext cx="68580" cy="6858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03920" y="4255960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60" name="TextBox 59"/>
          <p:cNvSpPr txBox="1"/>
          <p:nvPr/>
        </p:nvSpPr>
        <p:spPr>
          <a:xfrm>
            <a:off x="8650224" y="4107941"/>
            <a:ext cx="2551176" cy="40005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69" b="0">
                <a:solidFill>
                  <a:srgbClr val="D9E8F1"/>
                </a:solidFill>
                <a:latin typeface="Noto Sans CJK SC"/>
              </a:defRPr>
            </a:pPr>
            <a:r>
              <a:t>不单独证明某个模块的因果增益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485632" y="4882896"/>
            <a:ext cx="2761488" cy="411480"/>
          </a:xfrm>
          <a:prstGeom prst="roundRect">
            <a:avLst/>
          </a:prstGeom>
          <a:solidFill>
            <a:srgbClr val="173F5B"/>
          </a:solidFill>
          <a:ln w="15240">
            <a:solidFill>
              <a:srgbClr val="315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85632" y="4882896"/>
            <a:ext cx="2761488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最高提升 29.4 个百分点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8056" y="292608"/>
            <a:ext cx="91440" cy="9144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292608"/>
            <a:ext cx="91440" cy="91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03504" y="228600"/>
            <a:ext cx="1920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00" b="1">
                <a:solidFill>
                  <a:srgbClr val="102A43"/>
                </a:solidFill>
                <a:latin typeface="Noto Sans CJK SC"/>
              </a:defRPr>
            </a:pPr>
            <a:r>
              <a:t>MEDICAL SKILL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210312"/>
            <a:ext cx="2057400" cy="256032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E9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210312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08766D"/>
                </a:solidFill>
                <a:latin typeface="Noto Sans CJK SC"/>
              </a:defRPr>
            </a:pPr>
            <a:r>
              <a:t>TEAM &amp; CLINICAL COLLABORATION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10160">
            <a:solidFill>
              <a:srgbClr val="D9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800" b="0">
                <a:solidFill>
                  <a:srgbClr val="7B8DA0"/>
                </a:solidFill>
                <a:latin typeface="Noto Sans CJK SC"/>
              </a:defRPr>
            </a:pPr>
            <a:r>
              <a:t>11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76072"/>
            <a:ext cx="475488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159A8C"/>
                </a:solidFill>
                <a:latin typeface="Noto Sans CJK SC"/>
              </a:defRPr>
            </a:pPr>
            <a:r>
              <a:t>EXECUTION 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95528"/>
            <a:ext cx="110642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2300" b="1">
                <a:solidFill>
                  <a:srgbClr val="102A43"/>
                </a:solidFill>
                <a:latin typeface="Noto Sans CJK SC"/>
              </a:defRPr>
            </a:pPr>
            <a:r>
              <a:t>技术、产品与临床协作，组成真正的落地团队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353312"/>
            <a:ext cx="10908792" cy="822960"/>
          </a:xfrm>
          <a:prstGeom prst="roundRect">
            <a:avLst/>
          </a:prstGeom>
          <a:solidFill>
            <a:srgbClr val="0F3654"/>
          </a:solidFill>
          <a:ln w="15240">
            <a:solidFill>
              <a:srgbClr val="0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1554480"/>
            <a:ext cx="384048" cy="384048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554480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490472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8FE0D6"/>
                </a:solidFill>
                <a:latin typeface="Noto Sans CJK SC"/>
              </a:defRPr>
            </a:pPr>
            <a:r>
              <a:t>临床合作单位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719072"/>
            <a:ext cx="33649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中南大学湘雅三医院 · 消化内科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1600200"/>
            <a:ext cx="1143000" cy="256032"/>
          </a:xfrm>
          <a:prstGeom prst="roundRect">
            <a:avLst/>
          </a:prstGeom>
          <a:solidFill>
            <a:srgbClr val="173F5B"/>
          </a:solidFill>
          <a:ln w="15240">
            <a:solidFill>
              <a:srgbClr val="17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1600200"/>
            <a:ext cx="11430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FFFFFF"/>
                </a:solidFill>
                <a:latin typeface="Noto Sans CJK SC"/>
              </a:defRPr>
            </a:pPr>
            <a:r>
              <a:t>真实需求共创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8472" y="1600200"/>
            <a:ext cx="1143000" cy="256032"/>
          </a:xfrm>
          <a:prstGeom prst="roundRect">
            <a:avLst/>
          </a:prstGeom>
          <a:solidFill>
            <a:srgbClr val="173F5B"/>
          </a:solidFill>
          <a:ln w="15240">
            <a:solidFill>
              <a:srgbClr val="17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1600200"/>
            <a:ext cx="11430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FFFFFF"/>
                </a:solidFill>
                <a:latin typeface="Noto Sans CJK SC"/>
              </a:defRPr>
            </a:pPr>
            <a:r>
              <a:t>专科专家反馈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01784" y="1600200"/>
            <a:ext cx="1143000" cy="256032"/>
          </a:xfrm>
          <a:prstGeom prst="roundRect">
            <a:avLst/>
          </a:prstGeom>
          <a:solidFill>
            <a:srgbClr val="173F5B"/>
          </a:solidFill>
          <a:ln w="15240">
            <a:solidFill>
              <a:srgbClr val="17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01784" y="1600200"/>
            <a:ext cx="11430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FFFFFF"/>
                </a:solidFill>
                <a:latin typeface="Noto Sans CJK SC"/>
              </a:defRPr>
            </a:pPr>
            <a:r>
              <a:t>临床验证设计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468880"/>
            <a:ext cx="3410712" cy="2578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2715768"/>
            <a:ext cx="365760" cy="36576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2715768"/>
            <a:ext cx="36576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2679192"/>
            <a:ext cx="23317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750" b="1">
                <a:solidFill>
                  <a:srgbClr val="4463E6"/>
                </a:solidFill>
                <a:latin typeface="Noto Sans CJK SC"/>
              </a:defRPr>
            </a:pPr>
            <a:r>
              <a:t>TECHNOLOGY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127248"/>
            <a:ext cx="141732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700" b="1">
                <a:solidFill>
                  <a:srgbClr val="102A43"/>
                </a:solidFill>
                <a:latin typeface="Noto Sans CJK SC"/>
              </a:defRPr>
            </a:pPr>
            <a:r>
              <a:t>刘臻睿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76272" y="3163824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1000" b="1">
                <a:solidFill>
                  <a:srgbClr val="52667A"/>
                </a:solidFill>
                <a:latin typeface="Noto Sans CJK SC"/>
              </a:defRPr>
            </a:pPr>
            <a:r>
              <a:t>AI 技术与评测</a:t>
            </a:r>
          </a:p>
        </p:txBody>
      </p:sp>
      <p:sp>
        <p:nvSpPr>
          <p:cNvPr id="28" name="Oval 27"/>
          <p:cNvSpPr/>
          <p:nvPr/>
        </p:nvSpPr>
        <p:spPr>
          <a:xfrm>
            <a:off x="896112" y="3803446"/>
            <a:ext cx="68580" cy="6858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3803446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42415" y="3685032"/>
            <a:ext cx="2752344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40" b="0">
                <a:solidFill>
                  <a:srgbClr val="52667A"/>
                </a:solidFill>
                <a:latin typeface="Noto Sans CJK SC"/>
              </a:defRPr>
            </a:pPr>
            <a:r>
              <a:t>多智能体诊断流程设计</a:t>
            </a:r>
          </a:p>
        </p:txBody>
      </p:sp>
      <p:sp>
        <p:nvSpPr>
          <p:cNvPr id="31" name="Oval 30"/>
          <p:cNvSpPr/>
          <p:nvPr/>
        </p:nvSpPr>
        <p:spPr>
          <a:xfrm>
            <a:off x="896112" y="4123486"/>
            <a:ext cx="68580" cy="6858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123486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1042415" y="4005072"/>
            <a:ext cx="2752344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40" b="0">
                <a:solidFill>
                  <a:srgbClr val="52667A"/>
                </a:solidFill>
                <a:latin typeface="Noto Sans CJK SC"/>
              </a:defRPr>
            </a:pPr>
            <a:r>
              <a:t>临床病例测试集构建</a:t>
            </a:r>
          </a:p>
        </p:txBody>
      </p:sp>
      <p:sp>
        <p:nvSpPr>
          <p:cNvPr id="34" name="Oval 33"/>
          <p:cNvSpPr/>
          <p:nvPr/>
        </p:nvSpPr>
        <p:spPr>
          <a:xfrm>
            <a:off x="896112" y="4443526"/>
            <a:ext cx="68580" cy="6858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4443526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42415" y="4325112"/>
            <a:ext cx="2752344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40" b="0">
                <a:solidFill>
                  <a:srgbClr val="52667A"/>
                </a:solidFill>
                <a:latin typeface="Noto Sans CJK SC"/>
              </a:defRPr>
            </a:pPr>
            <a:r>
              <a:t>模型效果评估与优化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52544" y="2468880"/>
            <a:ext cx="3410712" cy="2578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581144" y="2715768"/>
            <a:ext cx="365760" cy="365760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81144" y="2715768"/>
            <a:ext cx="36576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2352" y="2679192"/>
            <a:ext cx="23317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750" b="1">
                <a:solidFill>
                  <a:srgbClr val="7358DC"/>
                </a:solidFill>
                <a:latin typeface="Noto Sans CJK SC"/>
              </a:defRPr>
            </a:pPr>
            <a:r>
              <a:t>ENGINEERING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81144" y="3127248"/>
            <a:ext cx="141732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700" b="1">
                <a:solidFill>
                  <a:srgbClr val="102A43"/>
                </a:solidFill>
                <a:latin typeface="Noto Sans CJK SC"/>
              </a:defRPr>
            </a:pPr>
            <a:r>
              <a:t>赵文韬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88736" y="3163824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1000" b="1">
                <a:solidFill>
                  <a:srgbClr val="52667A"/>
                </a:solidFill>
                <a:latin typeface="Noto Sans CJK SC"/>
              </a:defRPr>
            </a:pPr>
            <a:r>
              <a:t>流程搭建与项目实现</a:t>
            </a:r>
          </a:p>
        </p:txBody>
      </p:sp>
      <p:sp>
        <p:nvSpPr>
          <p:cNvPr id="43" name="Oval 42"/>
          <p:cNvSpPr/>
          <p:nvPr/>
        </p:nvSpPr>
        <p:spPr>
          <a:xfrm>
            <a:off x="4608576" y="3803446"/>
            <a:ext cx="68580" cy="68580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08576" y="3803446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4754880" y="3685032"/>
            <a:ext cx="2752344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40" b="0">
                <a:solidFill>
                  <a:srgbClr val="52667A"/>
                </a:solidFill>
                <a:latin typeface="Noto Sans CJK SC"/>
              </a:defRPr>
            </a:pPr>
            <a:r>
              <a:t>系统架构与技术流程</a:t>
            </a:r>
          </a:p>
        </p:txBody>
      </p:sp>
      <p:sp>
        <p:nvSpPr>
          <p:cNvPr id="46" name="Oval 45"/>
          <p:cNvSpPr/>
          <p:nvPr/>
        </p:nvSpPr>
        <p:spPr>
          <a:xfrm>
            <a:off x="4608576" y="4123486"/>
            <a:ext cx="68580" cy="68580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08576" y="4123486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754880" y="4005072"/>
            <a:ext cx="2752344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40" b="0">
                <a:solidFill>
                  <a:srgbClr val="52667A"/>
                </a:solidFill>
                <a:latin typeface="Noto Sans CJK SC"/>
              </a:defRPr>
            </a:pPr>
            <a:r>
              <a:t>核心功能模块实现</a:t>
            </a:r>
          </a:p>
        </p:txBody>
      </p:sp>
      <p:sp>
        <p:nvSpPr>
          <p:cNvPr id="49" name="Oval 48"/>
          <p:cNvSpPr/>
          <p:nvPr/>
        </p:nvSpPr>
        <p:spPr>
          <a:xfrm>
            <a:off x="4608576" y="4443526"/>
            <a:ext cx="68580" cy="68580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08576" y="4443526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51" name="TextBox 50"/>
          <p:cNvSpPr txBox="1"/>
          <p:nvPr/>
        </p:nvSpPr>
        <p:spPr>
          <a:xfrm>
            <a:off x="4754880" y="4325112"/>
            <a:ext cx="2752344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40" b="0">
                <a:solidFill>
                  <a:srgbClr val="52667A"/>
                </a:solidFill>
                <a:latin typeface="Noto Sans CJK SC"/>
              </a:defRPr>
            </a:pPr>
            <a:r>
              <a:t>系统联调与交付支持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65007" y="2468880"/>
            <a:ext cx="3410712" cy="2578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293607" y="2715768"/>
            <a:ext cx="365760" cy="36576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93607" y="2715768"/>
            <a:ext cx="36576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14815" y="2679192"/>
            <a:ext cx="23317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750" b="1">
                <a:solidFill>
                  <a:srgbClr val="159A8C"/>
                </a:solidFill>
                <a:latin typeface="Noto Sans CJK SC"/>
              </a:defRPr>
            </a:pPr>
            <a:r>
              <a:t>CLINICAL CO-CREATION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93607" y="3127248"/>
            <a:ext cx="141732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700" b="1">
                <a:solidFill>
                  <a:srgbClr val="102A43"/>
                </a:solidFill>
                <a:latin typeface="Noto Sans CJK SC"/>
              </a:defRPr>
            </a:pPr>
            <a:r>
              <a:t>联合协作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199" y="3163824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1000" b="1">
                <a:solidFill>
                  <a:srgbClr val="52667A"/>
                </a:solidFill>
                <a:latin typeface="Noto Sans CJK SC"/>
              </a:defRPr>
            </a:pPr>
            <a:r>
              <a:t>临床需求与验证</a:t>
            </a:r>
          </a:p>
        </p:txBody>
      </p:sp>
      <p:sp>
        <p:nvSpPr>
          <p:cNvPr id="58" name="Oval 57"/>
          <p:cNvSpPr/>
          <p:nvPr/>
        </p:nvSpPr>
        <p:spPr>
          <a:xfrm>
            <a:off x="8321039" y="3803446"/>
            <a:ext cx="68580" cy="6858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21039" y="3803446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60" name="TextBox 59"/>
          <p:cNvSpPr txBox="1"/>
          <p:nvPr/>
        </p:nvSpPr>
        <p:spPr>
          <a:xfrm>
            <a:off x="8467343" y="3685032"/>
            <a:ext cx="2752344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40" b="0">
                <a:solidFill>
                  <a:srgbClr val="52667A"/>
                </a:solidFill>
                <a:latin typeface="Noto Sans CJK SC"/>
              </a:defRPr>
            </a:pPr>
            <a:r>
              <a:t>真实专科痛点校准</a:t>
            </a:r>
          </a:p>
        </p:txBody>
      </p:sp>
      <p:sp>
        <p:nvSpPr>
          <p:cNvPr id="61" name="Oval 60"/>
          <p:cNvSpPr/>
          <p:nvPr/>
        </p:nvSpPr>
        <p:spPr>
          <a:xfrm>
            <a:off x="8321039" y="4123486"/>
            <a:ext cx="68580" cy="6858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21039" y="4123486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63" name="TextBox 62"/>
          <p:cNvSpPr txBox="1"/>
          <p:nvPr/>
        </p:nvSpPr>
        <p:spPr>
          <a:xfrm>
            <a:off x="8467343" y="4005072"/>
            <a:ext cx="2752344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40" b="0">
                <a:solidFill>
                  <a:srgbClr val="52667A"/>
                </a:solidFill>
                <a:latin typeface="Noto Sans CJK SC"/>
              </a:defRPr>
            </a:pPr>
            <a:r>
              <a:t>专业反馈与评价方案</a:t>
            </a:r>
          </a:p>
        </p:txBody>
      </p:sp>
      <p:sp>
        <p:nvSpPr>
          <p:cNvPr id="64" name="Oval 63"/>
          <p:cNvSpPr/>
          <p:nvPr/>
        </p:nvSpPr>
        <p:spPr>
          <a:xfrm>
            <a:off x="8321039" y="4443526"/>
            <a:ext cx="68580" cy="6858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39" y="4443526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66" name="TextBox 65"/>
          <p:cNvSpPr txBox="1"/>
          <p:nvPr/>
        </p:nvSpPr>
        <p:spPr>
          <a:xfrm>
            <a:off x="8467343" y="4325112"/>
            <a:ext cx="2752344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40" b="0">
                <a:solidFill>
                  <a:srgbClr val="52667A"/>
                </a:solidFill>
                <a:latin typeface="Noto Sans CJK SC"/>
              </a:defRPr>
            </a:pPr>
            <a:r>
              <a:t>回顾性 → 专家评价 → 试用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61288" y="5376672"/>
            <a:ext cx="9893808" cy="384048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61288" y="5376672"/>
            <a:ext cx="989380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050" b="1">
                <a:solidFill>
                  <a:srgbClr val="08766D"/>
                </a:solidFill>
                <a:latin typeface="Noto Sans CJK SC"/>
              </a:defRPr>
            </a:pPr>
            <a:r>
              <a:t>可核验执行成果：49 个指南 Skill · 1 套产品界面 · 完整批处理与评测链路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8056" y="292608"/>
            <a:ext cx="91440" cy="9144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292608"/>
            <a:ext cx="91440" cy="91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03504" y="228600"/>
            <a:ext cx="1920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00" b="1">
                <a:solidFill>
                  <a:srgbClr val="102A43"/>
                </a:solidFill>
                <a:latin typeface="Noto Sans CJK SC"/>
              </a:defRPr>
            </a:pPr>
            <a:r>
              <a:t>MEDICAL SKILL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210312"/>
            <a:ext cx="2057400" cy="256032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E9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210312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08766D"/>
                </a:solidFill>
                <a:latin typeface="Noto Sans CJK SC"/>
              </a:defRPr>
            </a:pPr>
            <a:r>
              <a:t>EVIDENCE &amp; COMPLIANCE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10160">
            <a:solidFill>
              <a:srgbClr val="D9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800" b="0">
                <a:solidFill>
                  <a:srgbClr val="7B8DA0"/>
                </a:solidFill>
                <a:latin typeface="Noto Sans CJK SC"/>
              </a:defRPr>
            </a:pPr>
            <a:r>
              <a:t>12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76072"/>
            <a:ext cx="475488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159A8C"/>
                </a:solidFill>
                <a:latin typeface="Noto Sans CJK SC"/>
              </a:defRPr>
            </a:pPr>
            <a:r>
              <a:t>TRUSTED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95528"/>
            <a:ext cx="110642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2300" b="1">
                <a:solidFill>
                  <a:srgbClr val="102A43"/>
                </a:solidFill>
                <a:latin typeface="Noto Sans CJK SC"/>
              </a:defRPr>
            </a:pPr>
            <a:r>
              <a:t>材料有据、边界清楚，医疗 AI 才能进入真实场景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389888"/>
            <a:ext cx="2578608" cy="251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389888"/>
            <a:ext cx="2578608" cy="91440"/>
          </a:xfrm>
          <a:prstGeom prst="rect">
            <a:avLst/>
          </a:prstGeom>
          <a:solidFill>
            <a:srgbClr val="4463E6"/>
          </a:solidFill>
          <a:ln w="15240"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1691640"/>
            <a:ext cx="347472" cy="347472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691640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1700784"/>
            <a:ext cx="166420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400" b="1">
                <a:solidFill>
                  <a:srgbClr val="102A43"/>
                </a:solidFill>
                <a:latin typeface="Noto Sans CJK SC"/>
              </a:defRPr>
            </a:pPr>
            <a:r>
              <a:t>材料与证据</a:t>
            </a:r>
          </a:p>
        </p:txBody>
      </p:sp>
      <p:sp>
        <p:nvSpPr>
          <p:cNvPr id="16" name="Oval 15"/>
          <p:cNvSpPr/>
          <p:nvPr/>
        </p:nvSpPr>
        <p:spPr>
          <a:xfrm>
            <a:off x="768096" y="2409809"/>
            <a:ext cx="68580" cy="6858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409809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14400" y="2267712"/>
            <a:ext cx="2011679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10" b="0">
                <a:solidFill>
                  <a:srgbClr val="52667A"/>
                </a:solidFill>
                <a:latin typeface="Noto Sans CJK SC"/>
              </a:defRPr>
            </a:pPr>
            <a:r>
              <a:t>代码、流程与评测材料闭环</a:t>
            </a:r>
          </a:p>
        </p:txBody>
      </p:sp>
      <p:sp>
        <p:nvSpPr>
          <p:cNvPr id="19" name="Oval 18"/>
          <p:cNvSpPr/>
          <p:nvPr/>
        </p:nvSpPr>
        <p:spPr>
          <a:xfrm>
            <a:off x="768096" y="2793857"/>
            <a:ext cx="68580" cy="6858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793857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914400" y="2651760"/>
            <a:ext cx="2011679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10" b="0">
                <a:solidFill>
                  <a:srgbClr val="52667A"/>
                </a:solidFill>
                <a:latin typeface="Noto Sans CJK SC"/>
              </a:defRPr>
            </a:pPr>
            <a:r>
              <a:t>PMID、指南证据可追溯</a:t>
            </a:r>
          </a:p>
        </p:txBody>
      </p:sp>
      <p:sp>
        <p:nvSpPr>
          <p:cNvPr id="22" name="Oval 21"/>
          <p:cNvSpPr/>
          <p:nvPr/>
        </p:nvSpPr>
        <p:spPr>
          <a:xfrm>
            <a:off x="768096" y="3177905"/>
            <a:ext cx="68580" cy="6858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177905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914400" y="3035808"/>
            <a:ext cx="2011679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10" b="0">
                <a:solidFill>
                  <a:srgbClr val="52667A"/>
                </a:solidFill>
                <a:latin typeface="Noto Sans CJK SC"/>
              </a:defRPr>
            </a:pPr>
            <a:r>
              <a:t>指标明确样本与口径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1389888"/>
            <a:ext cx="2578608" cy="251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83280" y="1389888"/>
            <a:ext cx="2578608" cy="91440"/>
          </a:xfrm>
          <a:prstGeom prst="rect">
            <a:avLst/>
          </a:prstGeom>
          <a:solidFill>
            <a:srgbClr val="159A8C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584448" y="1691640"/>
            <a:ext cx="347472" cy="347472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84448" y="1691640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1700784"/>
            <a:ext cx="166420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400" b="1">
                <a:solidFill>
                  <a:srgbClr val="102A43"/>
                </a:solidFill>
                <a:latin typeface="Noto Sans CJK SC"/>
              </a:defRPr>
            </a:pPr>
            <a:r>
              <a:t>数据与隐私</a:t>
            </a:r>
          </a:p>
        </p:txBody>
      </p:sp>
      <p:sp>
        <p:nvSpPr>
          <p:cNvPr id="30" name="Oval 29"/>
          <p:cNvSpPr/>
          <p:nvPr/>
        </p:nvSpPr>
        <p:spPr>
          <a:xfrm>
            <a:off x="3602736" y="2409809"/>
            <a:ext cx="68580" cy="6858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02736" y="2409809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3749040" y="2267712"/>
            <a:ext cx="2011679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10" b="0">
                <a:solidFill>
                  <a:srgbClr val="52667A"/>
                </a:solidFill>
                <a:latin typeface="Noto Sans CJK SC"/>
              </a:defRPr>
            </a:pPr>
            <a:r>
              <a:t>最小必要、去标识、分级访问</a:t>
            </a:r>
          </a:p>
        </p:txBody>
      </p:sp>
      <p:sp>
        <p:nvSpPr>
          <p:cNvPr id="33" name="Oval 32"/>
          <p:cNvSpPr/>
          <p:nvPr/>
        </p:nvSpPr>
        <p:spPr>
          <a:xfrm>
            <a:off x="3602736" y="2793857"/>
            <a:ext cx="68580" cy="6858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02736" y="2793857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3749040" y="2651760"/>
            <a:ext cx="2011679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10" b="0">
                <a:solidFill>
                  <a:srgbClr val="52667A"/>
                </a:solidFill>
                <a:latin typeface="Noto Sans CJK SC"/>
              </a:defRPr>
            </a:pPr>
            <a:r>
              <a:t>不展示可识别患者信息</a:t>
            </a:r>
          </a:p>
        </p:txBody>
      </p:sp>
      <p:sp>
        <p:nvSpPr>
          <p:cNvPr id="36" name="Oval 35"/>
          <p:cNvSpPr/>
          <p:nvPr/>
        </p:nvSpPr>
        <p:spPr>
          <a:xfrm>
            <a:off x="3602736" y="3177905"/>
            <a:ext cx="68580" cy="6858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02736" y="3177905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3749040" y="3035808"/>
            <a:ext cx="2011679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10" b="0">
                <a:solidFill>
                  <a:srgbClr val="52667A"/>
                </a:solidFill>
                <a:latin typeface="Noto Sans CJK SC"/>
              </a:defRPr>
            </a:pPr>
            <a:r>
              <a:t>真实场景需授权与伦理审查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1389888"/>
            <a:ext cx="2578608" cy="251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1389888"/>
            <a:ext cx="2578608" cy="91440"/>
          </a:xfrm>
          <a:prstGeom prst="rect">
            <a:avLst/>
          </a:prstGeom>
          <a:solidFill>
            <a:srgbClr val="7358DC"/>
          </a:solidFill>
          <a:ln w="15240"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19088" y="1691640"/>
            <a:ext cx="347472" cy="347472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088" y="1691640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1700784"/>
            <a:ext cx="166420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400" b="1">
                <a:solidFill>
                  <a:srgbClr val="102A43"/>
                </a:solidFill>
                <a:latin typeface="Noto Sans CJK SC"/>
              </a:defRPr>
            </a:pPr>
            <a:r>
              <a:t>知识产权与来源</a:t>
            </a:r>
          </a:p>
        </p:txBody>
      </p:sp>
      <p:sp>
        <p:nvSpPr>
          <p:cNvPr id="44" name="Oval 43"/>
          <p:cNvSpPr/>
          <p:nvPr/>
        </p:nvSpPr>
        <p:spPr>
          <a:xfrm>
            <a:off x="6437376" y="2409809"/>
            <a:ext cx="68580" cy="68580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37376" y="2409809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6583680" y="2267712"/>
            <a:ext cx="2011679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10" b="0">
                <a:solidFill>
                  <a:srgbClr val="52667A"/>
                </a:solidFill>
                <a:latin typeface="Noto Sans CJK SC"/>
              </a:defRPr>
            </a:pPr>
            <a:r>
              <a:t>证据回到原文全文确认</a:t>
            </a:r>
          </a:p>
        </p:txBody>
      </p:sp>
      <p:sp>
        <p:nvSpPr>
          <p:cNvPr id="47" name="Oval 46"/>
          <p:cNvSpPr/>
          <p:nvPr/>
        </p:nvSpPr>
        <p:spPr>
          <a:xfrm>
            <a:off x="6437376" y="2793857"/>
            <a:ext cx="68580" cy="68580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37376" y="2793857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6583680" y="2651760"/>
            <a:ext cx="2011679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10" b="0">
                <a:solidFill>
                  <a:srgbClr val="52667A"/>
                </a:solidFill>
                <a:latin typeface="Noto Sans CJK SC"/>
              </a:defRPr>
            </a:pPr>
            <a:r>
              <a:t>补齐版本、来源与文件指纹</a:t>
            </a:r>
          </a:p>
        </p:txBody>
      </p:sp>
      <p:sp>
        <p:nvSpPr>
          <p:cNvPr id="50" name="Oval 49"/>
          <p:cNvSpPr/>
          <p:nvPr/>
        </p:nvSpPr>
        <p:spPr>
          <a:xfrm>
            <a:off x="6437376" y="3177905"/>
            <a:ext cx="68580" cy="68580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37376" y="3177905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6583680" y="3035808"/>
            <a:ext cx="2011679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10" b="0">
                <a:solidFill>
                  <a:srgbClr val="52667A"/>
                </a:solidFill>
                <a:latin typeface="Noto Sans CJK SC"/>
              </a:defRPr>
            </a:pPr>
            <a:r>
              <a:t>落地前完成版权许可审查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52560" y="1389888"/>
            <a:ext cx="2578608" cy="251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52560" y="1389888"/>
            <a:ext cx="2578608" cy="91440"/>
          </a:xfrm>
          <a:prstGeom prst="rect">
            <a:avLst/>
          </a:prstGeom>
          <a:solidFill>
            <a:srgbClr val="D98B16"/>
          </a:solidFill>
          <a:ln w="15240">
            <a:solidFill>
              <a:srgbClr val="D9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253728" y="1691640"/>
            <a:ext cx="347472" cy="347472"/>
          </a:xfrm>
          <a:prstGeom prst="ellipse">
            <a:avLst/>
          </a:prstGeom>
          <a:solidFill>
            <a:srgbClr val="D98B16"/>
          </a:solidFill>
          <a:ln>
            <a:solidFill>
              <a:srgbClr val="D9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53728" y="1691640"/>
            <a:ext cx="34747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38360" y="1700784"/>
            <a:ext cx="166420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400" b="1">
                <a:solidFill>
                  <a:srgbClr val="102A43"/>
                </a:solidFill>
                <a:latin typeface="Noto Sans CJK SC"/>
              </a:defRPr>
            </a:pPr>
            <a:r>
              <a:t>临床责任边界</a:t>
            </a:r>
          </a:p>
        </p:txBody>
      </p:sp>
      <p:sp>
        <p:nvSpPr>
          <p:cNvPr id="58" name="Oval 57"/>
          <p:cNvSpPr/>
          <p:nvPr/>
        </p:nvSpPr>
        <p:spPr>
          <a:xfrm>
            <a:off x="9272016" y="2409809"/>
            <a:ext cx="68580" cy="68580"/>
          </a:xfrm>
          <a:prstGeom prst="ellipse">
            <a:avLst/>
          </a:prstGeom>
          <a:solidFill>
            <a:srgbClr val="D98B16"/>
          </a:solidFill>
          <a:ln>
            <a:solidFill>
              <a:srgbClr val="D9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72016" y="2409809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60" name="TextBox 59"/>
          <p:cNvSpPr txBox="1"/>
          <p:nvPr/>
        </p:nvSpPr>
        <p:spPr>
          <a:xfrm>
            <a:off x="9418320" y="2267712"/>
            <a:ext cx="2011679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10" b="0">
                <a:solidFill>
                  <a:srgbClr val="52667A"/>
                </a:solidFill>
                <a:latin typeface="Noto Sans CJK SC"/>
              </a:defRPr>
            </a:pPr>
            <a:r>
              <a:t>辅助分析，不替代医生判断</a:t>
            </a:r>
          </a:p>
        </p:txBody>
      </p:sp>
      <p:sp>
        <p:nvSpPr>
          <p:cNvPr id="61" name="Oval 60"/>
          <p:cNvSpPr/>
          <p:nvPr/>
        </p:nvSpPr>
        <p:spPr>
          <a:xfrm>
            <a:off x="9272016" y="2793857"/>
            <a:ext cx="68580" cy="68580"/>
          </a:xfrm>
          <a:prstGeom prst="ellipse">
            <a:avLst/>
          </a:prstGeom>
          <a:solidFill>
            <a:srgbClr val="D98B16"/>
          </a:solidFill>
          <a:ln>
            <a:solidFill>
              <a:srgbClr val="D9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72016" y="2793857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63" name="TextBox 62"/>
          <p:cNvSpPr txBox="1"/>
          <p:nvPr/>
        </p:nvSpPr>
        <p:spPr>
          <a:xfrm>
            <a:off x="9418320" y="2651760"/>
            <a:ext cx="2011679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10" b="0">
                <a:solidFill>
                  <a:srgbClr val="52667A"/>
                </a:solidFill>
                <a:latin typeface="Noto Sans CJK SC"/>
              </a:defRPr>
            </a:pPr>
            <a:r>
              <a:t>回顾性与专家盲评后再试用</a:t>
            </a:r>
          </a:p>
        </p:txBody>
      </p:sp>
      <p:sp>
        <p:nvSpPr>
          <p:cNvPr id="64" name="Oval 63"/>
          <p:cNvSpPr/>
          <p:nvPr/>
        </p:nvSpPr>
        <p:spPr>
          <a:xfrm>
            <a:off x="9272016" y="3177905"/>
            <a:ext cx="68580" cy="68580"/>
          </a:xfrm>
          <a:prstGeom prst="ellipse">
            <a:avLst/>
          </a:prstGeom>
          <a:solidFill>
            <a:srgbClr val="D98B16"/>
          </a:solidFill>
          <a:ln>
            <a:solidFill>
              <a:srgbClr val="D9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72016" y="3177905"/>
            <a:ext cx="68580" cy="685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66" name="TextBox 65"/>
          <p:cNvSpPr txBox="1"/>
          <p:nvPr/>
        </p:nvSpPr>
        <p:spPr>
          <a:xfrm>
            <a:off x="9418320" y="3035808"/>
            <a:ext cx="2011679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910" b="0">
                <a:solidFill>
                  <a:srgbClr val="52667A"/>
                </a:solidFill>
                <a:latin typeface="Noto Sans CJK SC"/>
              </a:defRPr>
            </a:pPr>
            <a:r>
              <a:t>人工复核、审计与问题处置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4251960"/>
            <a:ext cx="36576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400" b="1">
                <a:solidFill>
                  <a:srgbClr val="102A43"/>
                </a:solidFill>
                <a:latin typeface="Noto Sans CJK SC"/>
              </a:defRPr>
            </a:pPr>
            <a:r>
              <a:t>与湘雅三医院消化内科 · 合作推进路径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8368" y="4681728"/>
            <a:ext cx="2331720" cy="658368"/>
          </a:xfrm>
          <a:prstGeom prst="roundRect">
            <a:avLst/>
          </a:prstGeom>
          <a:solidFill>
            <a:srgbClr val="EDF1FF"/>
          </a:solidFill>
          <a:ln w="15240"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13816" y="4846320"/>
            <a:ext cx="310896" cy="310896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3816" y="4846320"/>
            <a:ext cx="3108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FFFF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34440" y="4782312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102A43"/>
                </a:solidFill>
                <a:latin typeface="Noto Sans CJK SC"/>
              </a:defRPr>
            </a:pPr>
            <a:r>
              <a:t>临床问题定义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3017520" y="5010912"/>
            <a:ext cx="347471" cy="0"/>
          </a:xfrm>
          <a:prstGeom prst="line">
            <a:avLst/>
          </a:prstGeom>
          <a:ln w="21590">
            <a:solidFill>
              <a:srgbClr val="D9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Isosceles Triangle 72"/>
          <p:cNvSpPr/>
          <p:nvPr/>
        </p:nvSpPr>
        <p:spPr>
          <a:xfrm rot="5400000">
            <a:off x="3314699" y="4960620"/>
            <a:ext cx="100584" cy="100584"/>
          </a:xfrm>
          <a:prstGeom prst="triangle">
            <a:avLst/>
          </a:prstGeom>
          <a:solidFill>
            <a:srgbClr val="D9E2EE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438144" y="4681728"/>
            <a:ext cx="2331720" cy="658368"/>
          </a:xfrm>
          <a:prstGeom prst="roundRect">
            <a:avLst/>
          </a:prstGeom>
          <a:solidFill>
            <a:srgbClr val="EDF1FF"/>
          </a:solidFill>
          <a:ln w="15240"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593591" y="4846320"/>
            <a:ext cx="310896" cy="310896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593591" y="4846320"/>
            <a:ext cx="3108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FFFF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14215" y="4782312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102A43"/>
                </a:solidFill>
                <a:latin typeface="Noto Sans CJK SC"/>
              </a:defRPr>
            </a:pPr>
            <a:r>
              <a:t>合规材料审查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5797296" y="5010912"/>
            <a:ext cx="347472" cy="0"/>
          </a:xfrm>
          <a:prstGeom prst="line">
            <a:avLst/>
          </a:prstGeom>
          <a:ln w="21590">
            <a:solidFill>
              <a:srgbClr val="D9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Isosceles Triangle 78"/>
          <p:cNvSpPr/>
          <p:nvPr/>
        </p:nvSpPr>
        <p:spPr>
          <a:xfrm rot="5400000">
            <a:off x="6094476" y="4960620"/>
            <a:ext cx="100584" cy="100584"/>
          </a:xfrm>
          <a:prstGeom prst="triangle">
            <a:avLst/>
          </a:prstGeom>
          <a:solidFill>
            <a:srgbClr val="D9E2EE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217920" y="4681728"/>
            <a:ext cx="2331720" cy="658368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373368" y="4846320"/>
            <a:ext cx="310896" cy="310896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73368" y="4846320"/>
            <a:ext cx="3108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FFFF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93992" y="4782312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102A43"/>
                </a:solidFill>
                <a:latin typeface="Noto Sans CJK SC"/>
              </a:defRPr>
            </a:pPr>
            <a:r>
              <a:t>回顾性与专家评价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577072" y="5010912"/>
            <a:ext cx="347472" cy="0"/>
          </a:xfrm>
          <a:prstGeom prst="line">
            <a:avLst/>
          </a:prstGeom>
          <a:ln w="21590">
            <a:solidFill>
              <a:srgbClr val="D9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Isosceles Triangle 84"/>
          <p:cNvSpPr/>
          <p:nvPr/>
        </p:nvSpPr>
        <p:spPr>
          <a:xfrm rot="5400000">
            <a:off x="8874252" y="4960620"/>
            <a:ext cx="100584" cy="100584"/>
          </a:xfrm>
          <a:prstGeom prst="triangle">
            <a:avLst/>
          </a:prstGeom>
          <a:solidFill>
            <a:srgbClr val="D9E2EE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8997696" y="4681728"/>
            <a:ext cx="2331720" cy="658368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153144" y="4846320"/>
            <a:ext cx="310896" cy="310896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153144" y="4846320"/>
            <a:ext cx="3108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FFFFFF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73768" y="4782312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102A43"/>
                </a:solidFill>
                <a:latin typeface="Noto Sans CJK SC"/>
              </a:defRPr>
            </a:pPr>
            <a:r>
              <a:t>小范围试用与迭代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883664" y="5641848"/>
            <a:ext cx="8394192" cy="347472"/>
          </a:xfrm>
          <a:prstGeom prst="roundRect">
            <a:avLst/>
          </a:prstGeom>
          <a:solidFill>
            <a:srgbClr val="0F3654"/>
          </a:solidFill>
          <a:ln w="15240">
            <a:solidFill>
              <a:srgbClr val="0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883664" y="5641848"/>
            <a:ext cx="839419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t>把能运行的产品，推进为可验证、可治理、可落地的临床辅助工具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8056" y="292608"/>
            <a:ext cx="91440" cy="9144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056" y="292608"/>
            <a:ext cx="91440" cy="914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03504" y="228600"/>
            <a:ext cx="1920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000" b="1">
                <a:solidFill>
                  <a:srgbClr val="102A43"/>
                </a:solidFill>
                <a:latin typeface="Noto Sans CJK SC"/>
              </a:defRPr>
            </a:pPr>
            <a:r>
              <a:t>MEDICAL SKILL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210312"/>
            <a:ext cx="2057400" cy="256032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E9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210312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08766D"/>
                </a:solidFill>
                <a:latin typeface="Noto Sans CJK SC"/>
              </a:defRPr>
            </a:pPr>
            <a:r>
              <a:t>附录 · 完整核心流程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10160">
            <a:solidFill>
              <a:srgbClr val="D9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5000"/>
              </a:lnSpc>
              <a:defRPr sz="800" b="0">
                <a:solidFill>
                  <a:srgbClr val="7B8DA0"/>
                </a:solidFill>
                <a:latin typeface="Noto Sans CJK SC"/>
              </a:defRPr>
            </a:pPr>
            <a:r>
              <a:t>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76072"/>
            <a:ext cx="658368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2300" b="1">
                <a:solidFill>
                  <a:srgbClr val="102A43"/>
                </a:solidFill>
                <a:latin typeface="Noto Sans CJK SC"/>
              </a:defRPr>
            </a:pPr>
            <a:r>
              <a:t>消化内科多智能体诊断核心流程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94192" y="621792"/>
            <a:ext cx="1024128" cy="256032"/>
          </a:xfrm>
          <a:prstGeom prst="roundRect">
            <a:avLst/>
          </a:prstGeom>
          <a:solidFill>
            <a:srgbClr val="EDF1FF"/>
          </a:solidFill>
          <a:ln w="15240">
            <a:solidFill>
              <a:srgbClr val="ED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621792"/>
            <a:ext cx="102412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4463E6"/>
                </a:solidFill>
                <a:latin typeface="Noto Sans CJK SC"/>
              </a:defRPr>
            </a:pPr>
            <a:r>
              <a:t>预处理仅一次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64624" y="621792"/>
            <a:ext cx="914400" cy="256032"/>
          </a:xfrm>
          <a:prstGeom prst="roundRect">
            <a:avLst/>
          </a:prstGeom>
          <a:solidFill>
            <a:srgbClr val="FFF5E7"/>
          </a:solidFill>
          <a:ln w="15240">
            <a:solidFill>
              <a:srgbClr val="FFF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64624" y="621792"/>
            <a:ext cx="914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D98B16"/>
                </a:solidFill>
                <a:latin typeface="Noto Sans CJK SC"/>
              </a:defRPr>
            </a:pPr>
            <a:r>
              <a:t>最多两轮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21792"/>
            <a:ext cx="914400" cy="256032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E9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25328" y="621792"/>
            <a:ext cx="914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08766D"/>
                </a:solidFill>
                <a:latin typeface="Noto Sans CJK SC"/>
              </a:defRPr>
            </a:pPr>
            <a:r>
              <a:t>固定 Top-5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1143000"/>
            <a:ext cx="11411712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4048" y="3246120"/>
            <a:ext cx="11411712" cy="2670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1143000"/>
            <a:ext cx="91440" cy="1874519"/>
          </a:xfrm>
          <a:prstGeom prst="rect">
            <a:avLst/>
          </a:prstGeom>
          <a:solidFill>
            <a:srgbClr val="4463E6"/>
          </a:solidFill>
          <a:ln w="15240"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246120"/>
            <a:ext cx="91440" cy="2670048"/>
          </a:xfrm>
          <a:prstGeom prst="rect">
            <a:avLst/>
          </a:prstGeom>
          <a:solidFill>
            <a:srgbClr val="159A8C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1325880"/>
            <a:ext cx="310896" cy="310896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1325880"/>
            <a:ext cx="3108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1271016"/>
            <a:ext cx="192024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500" b="1">
                <a:solidFill>
                  <a:srgbClr val="102A43"/>
                </a:solidFill>
                <a:latin typeface="Noto Sans CJK SC"/>
              </a:defRPr>
            </a:pPr>
            <a:r>
              <a:t>候选集构建</a:t>
            </a:r>
          </a:p>
        </p:txBody>
      </p:sp>
      <p:sp>
        <p:nvSpPr>
          <p:cNvPr id="23" name="Oval 22"/>
          <p:cNvSpPr/>
          <p:nvPr/>
        </p:nvSpPr>
        <p:spPr>
          <a:xfrm>
            <a:off x="603504" y="3429000"/>
            <a:ext cx="310896" cy="310896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3429000"/>
            <a:ext cx="310896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374136"/>
            <a:ext cx="219456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500" b="1">
                <a:solidFill>
                  <a:srgbClr val="102A43"/>
                </a:solidFill>
                <a:latin typeface="Noto Sans CJK SC"/>
              </a:defRPr>
            </a:pPr>
            <a:r>
              <a:t>循证检索与诊断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1737360"/>
            <a:ext cx="1188720" cy="822960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8096" y="1865376"/>
            <a:ext cx="274320" cy="27432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1865376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FFFF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1828800"/>
            <a:ext cx="6400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50" b="1">
                <a:solidFill>
                  <a:srgbClr val="102A43"/>
                </a:solidFill>
                <a:latin typeface="Noto Sans CJK SC"/>
              </a:defRPr>
            </a:pPr>
            <a:r>
              <a:t>病例输入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2212848"/>
            <a:ext cx="8595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defRPr sz="780" b="0">
                <a:solidFill>
                  <a:srgbClr val="52667A"/>
                </a:solidFill>
                <a:latin typeface="Noto Sans CJK SC"/>
              </a:defRPr>
            </a:pPr>
            <a:r>
              <a:t>原始住院病例文本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84831" y="1572768"/>
            <a:ext cx="1719072" cy="1152144"/>
          </a:xfrm>
          <a:prstGeom prst="roundRect">
            <a:avLst/>
          </a:prstGeom>
          <a:solidFill>
            <a:srgbClr val="EDF1FF"/>
          </a:solidFill>
          <a:ln w="15240"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194560" y="1700784"/>
            <a:ext cx="274320" cy="27432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1700784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FFFF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42032" y="1664208"/>
            <a:ext cx="1170431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50" b="1">
                <a:solidFill>
                  <a:srgbClr val="102A43"/>
                </a:solidFill>
                <a:latin typeface="Noto Sans CJK SC"/>
              </a:defRPr>
            </a:pPr>
            <a:r>
              <a:t>诊断预处理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9424" y="2048256"/>
            <a:ext cx="1389888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defRPr sz="780" b="0">
                <a:solidFill>
                  <a:srgbClr val="52667A"/>
                </a:solidFill>
                <a:latin typeface="Noto Sans CJK SC"/>
              </a:defRPr>
            </a:pPr>
            <a:r>
              <a:t>任务 A：初始主诊断</a:t>
            </a:r>
            <a:br/>
            <a:r>
              <a:t>任务 B：阳性临床特征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87368" y="1737360"/>
            <a:ext cx="1627632" cy="822960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97096" y="1865376"/>
            <a:ext cx="274320" cy="27432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97096" y="1865376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FFFF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4568" y="1828800"/>
            <a:ext cx="107899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50" b="1">
                <a:solidFill>
                  <a:srgbClr val="102A43"/>
                </a:solidFill>
                <a:latin typeface="Noto Sans CJK SC"/>
              </a:defRPr>
            </a:pPr>
            <a:r>
              <a:t>相似病例检索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59" y="2212848"/>
            <a:ext cx="129844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defRPr sz="780" b="0">
                <a:solidFill>
                  <a:srgbClr val="52667A"/>
                </a:solidFill>
                <a:latin typeface="Noto Sans CJK SC"/>
              </a:defRPr>
            </a:pPr>
            <a:r>
              <a:t>BM25＋Dense＋RRF</a:t>
            </a:r>
            <a:br/>
            <a:r>
              <a:t>MedCPT 重排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98464" y="1737360"/>
            <a:ext cx="1600200" cy="822960"/>
          </a:xfrm>
          <a:prstGeom prst="roundRect">
            <a:avLst/>
          </a:prstGeom>
          <a:solidFill>
            <a:srgbClr val="FFF5E7"/>
          </a:solidFill>
          <a:ln w="15240">
            <a:solidFill>
              <a:srgbClr val="D9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108192" y="1865376"/>
            <a:ext cx="274320" cy="274320"/>
          </a:xfrm>
          <a:prstGeom prst="ellipse">
            <a:avLst/>
          </a:prstGeom>
          <a:solidFill>
            <a:srgbClr val="D98B16"/>
          </a:solidFill>
          <a:ln>
            <a:solidFill>
              <a:srgbClr val="D9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08192" y="1865376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FFFFFF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55664" y="1828800"/>
            <a:ext cx="10515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50" b="1">
                <a:solidFill>
                  <a:srgbClr val="102A43"/>
                </a:solidFill>
                <a:latin typeface="Noto Sans CJK SC"/>
              </a:defRPr>
            </a:pPr>
            <a:r>
              <a:t>候选合并约束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63055" y="2212848"/>
            <a:ext cx="127101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defRPr sz="780" b="0">
                <a:solidFill>
                  <a:srgbClr val="52667A"/>
                </a:solidFill>
                <a:latin typeface="Noto Sans CJK SC"/>
              </a:defRPr>
            </a:pPr>
            <a:r>
              <a:t>ICD 去重与父子码裁剪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00416" y="1700784"/>
            <a:ext cx="1298448" cy="896112"/>
          </a:xfrm>
          <a:prstGeom prst="roundRect">
            <a:avLst/>
          </a:prstGeom>
          <a:solidFill>
            <a:srgbClr val="7358DC"/>
          </a:solidFill>
          <a:ln w="15240"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10144" y="1874519"/>
            <a:ext cx="10789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封闭候选集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0144" y="2194560"/>
            <a:ext cx="107899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50" b="0">
                <a:solidFill>
                  <a:srgbClr val="FFFFFF"/>
                </a:solidFill>
                <a:latin typeface="Noto Sans CJK SC"/>
              </a:defRPr>
            </a:pPr>
            <a:r>
              <a:t>5–10 ICD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856231" y="2148840"/>
            <a:ext cx="201169" cy="0"/>
          </a:xfrm>
          <a:prstGeom prst="line">
            <a:avLst/>
          </a:prstGeom>
          <a:ln w="22860">
            <a:solidFill>
              <a:srgbClr val="446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Isosceles Triangle 49"/>
          <p:cNvSpPr/>
          <p:nvPr/>
        </p:nvSpPr>
        <p:spPr>
          <a:xfrm rot="5400000">
            <a:off x="2007107" y="2098548"/>
            <a:ext cx="100584" cy="100584"/>
          </a:xfrm>
          <a:prstGeom prst="triangl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3822191" y="2148840"/>
            <a:ext cx="237745" cy="0"/>
          </a:xfrm>
          <a:prstGeom prst="line">
            <a:avLst/>
          </a:prstGeom>
          <a:ln w="22860">
            <a:solidFill>
              <a:srgbClr val="446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/>
          <p:cNvSpPr/>
          <p:nvPr/>
        </p:nvSpPr>
        <p:spPr>
          <a:xfrm rot="5400000">
            <a:off x="4009644" y="2098548"/>
            <a:ext cx="100584" cy="100584"/>
          </a:xfrm>
          <a:prstGeom prst="triangl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5733288" y="2148840"/>
            <a:ext cx="237744" cy="0"/>
          </a:xfrm>
          <a:prstGeom prst="line">
            <a:avLst/>
          </a:prstGeom>
          <a:ln w="22860">
            <a:solidFill>
              <a:srgbClr val="446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Isosceles Triangle 53"/>
          <p:cNvSpPr/>
          <p:nvPr/>
        </p:nvSpPr>
        <p:spPr>
          <a:xfrm rot="5400000">
            <a:off x="5920740" y="2098548"/>
            <a:ext cx="100584" cy="100584"/>
          </a:xfrm>
          <a:prstGeom prst="triangl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7616952" y="2148840"/>
            <a:ext cx="256031" cy="0"/>
          </a:xfrm>
          <a:prstGeom prst="line">
            <a:avLst/>
          </a:prstGeom>
          <a:ln w="22860">
            <a:solidFill>
              <a:srgbClr val="446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 rot="5400000">
            <a:off x="7822692" y="2098548"/>
            <a:ext cx="100584" cy="100584"/>
          </a:xfrm>
          <a:prstGeom prst="triangl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58368" y="3895344"/>
            <a:ext cx="1316736" cy="950976"/>
          </a:xfrm>
          <a:prstGeom prst="roundRect">
            <a:avLst/>
          </a:prstGeom>
          <a:solidFill>
            <a:srgbClr val="EDF1FF"/>
          </a:solidFill>
          <a:ln w="15240"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8096" y="4023359"/>
            <a:ext cx="274320" cy="274320"/>
          </a:xfrm>
          <a:prstGeom prst="ellips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" y="4023359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FFFFFF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" y="3986783"/>
            <a:ext cx="768096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50" b="1">
                <a:solidFill>
                  <a:srgbClr val="102A43"/>
                </a:solidFill>
                <a:latin typeface="Noto Sans CJK SC"/>
              </a:defRPr>
            </a:pPr>
            <a:r>
              <a:t>检索规划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59" y="4370831"/>
            <a:ext cx="98755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defRPr sz="780" b="0">
                <a:solidFill>
                  <a:srgbClr val="52667A"/>
                </a:solidFill>
                <a:latin typeface="Noto Sans CJK SC"/>
              </a:defRPr>
            </a:pPr>
            <a:r>
              <a:t>保持候选集不变</a:t>
            </a:r>
            <a:br/>
            <a:r>
              <a:t>生成 PubMed 查询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249424" y="3675887"/>
            <a:ext cx="1572768" cy="822960"/>
          </a:xfrm>
          <a:prstGeom prst="roundRect">
            <a:avLst/>
          </a:prstGeom>
          <a:solidFill>
            <a:srgbClr val="EAF7FB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359152" y="3803903"/>
            <a:ext cx="274320" cy="27432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59152" y="3803903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FFFFFF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06624" y="3767327"/>
            <a:ext cx="102412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50" b="1">
                <a:solidFill>
                  <a:srgbClr val="102A43"/>
                </a:solidFill>
                <a:latin typeface="Noto Sans CJK SC"/>
              </a:defRPr>
            </a:pPr>
            <a:r>
              <a:t>PubMed 检索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14016" y="4151375"/>
            <a:ext cx="124358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defRPr sz="780" b="0">
                <a:solidFill>
                  <a:srgbClr val="52667A"/>
                </a:solidFill>
                <a:latin typeface="Noto Sans CJK SC"/>
              </a:defRPr>
            </a:pPr>
            <a:r>
              <a:t>ESearch / EFetch</a:t>
            </a:r>
            <a:br/>
            <a:r>
              <a:t>保留 PMID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249424" y="4736592"/>
            <a:ext cx="1572768" cy="822960"/>
          </a:xfrm>
          <a:prstGeom prst="roundRect">
            <a:avLst/>
          </a:prstGeom>
          <a:solidFill>
            <a:srgbClr val="E9F7F4"/>
          </a:solidFill>
          <a:ln w="15240"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359152" y="4864607"/>
            <a:ext cx="274320" cy="274320"/>
          </a:xfrm>
          <a:prstGeom prst="ellips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59152" y="4864607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FFFFFF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06624" y="4828031"/>
            <a:ext cx="102412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50" b="1">
                <a:solidFill>
                  <a:srgbClr val="102A43"/>
                </a:solidFill>
                <a:latin typeface="Noto Sans CJK SC"/>
              </a:defRPr>
            </a:pPr>
            <a:r>
              <a:t>指南 Skill 检索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14016" y="5212079"/>
            <a:ext cx="124358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defRPr sz="780" b="0">
                <a:solidFill>
                  <a:srgbClr val="52667A"/>
                </a:solidFill>
                <a:latin typeface="Noto Sans CJK SC"/>
              </a:defRPr>
            </a:pPr>
            <a:r>
              <a:t>匹配候选疾病</a:t>
            </a:r>
            <a:br/>
            <a:r>
              <a:t>全文核实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133087" y="3895344"/>
            <a:ext cx="1901952" cy="1261872"/>
          </a:xfrm>
          <a:prstGeom prst="roundRect">
            <a:avLst/>
          </a:prstGeom>
          <a:solidFill>
            <a:srgbClr val="F1EDFF"/>
          </a:solidFill>
          <a:ln w="15240"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242816" y="4023359"/>
            <a:ext cx="274320" cy="274320"/>
          </a:xfrm>
          <a:prstGeom prst="ellipse">
            <a:avLst/>
          </a:prstGeom>
          <a:solidFill>
            <a:srgbClr val="7358DC"/>
          </a:solidFill>
          <a:ln>
            <a:solidFill>
              <a:srgbClr val="735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42816" y="4023359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FFFFFF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90288" y="3986783"/>
            <a:ext cx="135331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50" b="1">
                <a:solidFill>
                  <a:srgbClr val="102A43"/>
                </a:solidFill>
                <a:latin typeface="Noto Sans CJK SC"/>
              </a:defRPr>
            </a:pPr>
            <a:r>
              <a:t>证据融合与诊断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97679" y="4370831"/>
            <a:ext cx="1572768" cy="69494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defRPr sz="780" b="0">
                <a:solidFill>
                  <a:srgbClr val="52667A"/>
                </a:solidFill>
                <a:latin typeface="Noto Sans CJK SC"/>
              </a:defRPr>
            </a:pPr>
            <a:r>
              <a:t>病例＋封闭候选集＋PubMed＋指南</a:t>
            </a:r>
            <a:br/>
            <a:r>
              <a:t>只在候选集中生成 Top-5</a:t>
            </a:r>
          </a:p>
        </p:txBody>
      </p:sp>
      <p:sp>
        <p:nvSpPr>
          <p:cNvPr id="77" name="Diamond 76"/>
          <p:cNvSpPr/>
          <p:nvPr/>
        </p:nvSpPr>
        <p:spPr>
          <a:xfrm>
            <a:off x="6345936" y="4023360"/>
            <a:ext cx="1152144" cy="1005840"/>
          </a:xfrm>
          <a:prstGeom prst="diamond">
            <a:avLst/>
          </a:prstGeom>
          <a:solidFill>
            <a:srgbClr val="FFF5E7"/>
          </a:solidFill>
          <a:ln w="16510">
            <a:solidFill>
              <a:srgbClr val="D9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64808" y="4261104"/>
            <a:ext cx="91440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102A43"/>
                </a:solidFill>
                <a:latin typeface="Noto Sans CJK SC"/>
              </a:defRPr>
            </a:pPr>
            <a:r>
              <a:t>Top-5 是否</a:t>
            </a:r>
            <a:br/>
            <a:r>
              <a:t>符合病例？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827264" y="3950208"/>
            <a:ext cx="1417320" cy="1170432"/>
          </a:xfrm>
          <a:prstGeom prst="roundRect">
            <a:avLst/>
          </a:prstGeom>
          <a:solidFill>
            <a:srgbClr val="0F3654"/>
          </a:solidFill>
          <a:ln w="15240">
            <a:solidFill>
              <a:srgbClr val="0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946136" y="4197096"/>
            <a:ext cx="117043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结构化 Top-5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46136" y="4572000"/>
            <a:ext cx="117043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780" b="0">
                <a:solidFill>
                  <a:srgbClr val="D9E8F1"/>
                </a:solidFill>
                <a:latin typeface="Noto Sans CJK SC"/>
              </a:defRPr>
            </a:pPr>
            <a:r>
              <a:t>ICD · 置信度</a:t>
            </a:r>
            <a:br/>
            <a:r>
              <a:t>证据 · 后续建议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582912" y="4206240"/>
            <a:ext cx="1591056" cy="841248"/>
          </a:xfrm>
          <a:prstGeom prst="roundRect">
            <a:avLst/>
          </a:prstGeom>
          <a:solidFill>
            <a:srgbClr val="FFF0EE"/>
          </a:solidFill>
          <a:ln w="15240">
            <a:solidFill>
              <a:srgbClr val="C8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692640" y="4334255"/>
            <a:ext cx="274320" cy="274320"/>
          </a:xfrm>
          <a:prstGeom prst="ellipse">
            <a:avLst/>
          </a:prstGeom>
          <a:solidFill>
            <a:srgbClr val="C85C55"/>
          </a:solidFill>
          <a:ln>
            <a:solidFill>
              <a:srgbClr val="C8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92640" y="4334255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FFFFFF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40112" y="4297679"/>
            <a:ext cx="1042416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50" b="1">
                <a:solidFill>
                  <a:srgbClr val="102A43"/>
                </a:solidFill>
                <a:latin typeface="Noto Sans CJK SC"/>
              </a:defRPr>
            </a:pPr>
            <a:r>
              <a:t>纠正诊断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47504" y="4681727"/>
            <a:ext cx="12618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defRPr sz="780" b="0">
                <a:solidFill>
                  <a:srgbClr val="52667A"/>
                </a:solidFill>
                <a:latin typeface="Noto Sans CJK SC"/>
              </a:defRPr>
            </a:pPr>
            <a:r>
              <a:t>基于判断反馈纠正</a:t>
            </a:r>
            <a:br/>
            <a:r>
              <a:t>纠正后不再复评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133087" y="5321808"/>
            <a:ext cx="1901952" cy="420624"/>
          </a:xfrm>
          <a:prstGeom prst="roundRect">
            <a:avLst/>
          </a:prstGeom>
          <a:solidFill>
            <a:srgbClr val="FFF0EE"/>
          </a:solidFill>
          <a:ln w="15240">
            <a:solidFill>
              <a:srgbClr val="C8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242816" y="5449824"/>
            <a:ext cx="274320" cy="274320"/>
          </a:xfrm>
          <a:prstGeom prst="ellipse">
            <a:avLst/>
          </a:prstGeom>
          <a:solidFill>
            <a:srgbClr val="C85C55"/>
          </a:solidFill>
          <a:ln>
            <a:solidFill>
              <a:srgbClr val="C8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42816" y="5449824"/>
            <a:ext cx="274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FFFFFF"/>
                </a:solidFill>
                <a:latin typeface="Noto Sans CJK SC"/>
              </a:defRPr>
            </a:pPr>
            <a:r>
              <a:t>R2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90288" y="5413248"/>
            <a:ext cx="135331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1150" b="1">
                <a:solidFill>
                  <a:srgbClr val="102A43"/>
                </a:solidFill>
                <a:latin typeface="Noto Sans CJK SC"/>
              </a:defRPr>
            </a:pPr>
            <a:r>
              <a:t>更新检索规划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97679" y="5797296"/>
            <a:ext cx="1572768" cy="-14630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defRPr sz="780" b="0">
                <a:solidFill>
                  <a:srgbClr val="52667A"/>
                </a:solidFill>
                <a:latin typeface="Noto Sans CJK SC"/>
              </a:defRPr>
            </a:pPr>
            <a:r>
              <a:t>只改进查询</a:t>
            </a:r>
          </a:p>
        </p:txBody>
      </p:sp>
      <p:cxnSp>
        <p:nvCxnSpPr>
          <p:cNvPr id="92" name="Connector 91"/>
          <p:cNvCxnSpPr/>
          <p:nvPr/>
        </p:nvCxnSpPr>
        <p:spPr>
          <a:xfrm flipV="1">
            <a:off x="1993392" y="4087368"/>
            <a:ext cx="228600" cy="210312"/>
          </a:xfrm>
          <a:prstGeom prst="line">
            <a:avLst/>
          </a:prstGeom>
          <a:ln w="19050">
            <a:solidFill>
              <a:srgbClr val="159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Isosceles Triangle 92"/>
          <p:cNvSpPr/>
          <p:nvPr/>
        </p:nvSpPr>
        <p:spPr>
          <a:xfrm rot="2843157">
            <a:off x="2171700" y="4037076"/>
            <a:ext cx="100584" cy="100584"/>
          </a:xfrm>
          <a:prstGeom prst="triangl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1993392" y="4462272"/>
            <a:ext cx="228600" cy="603504"/>
          </a:xfrm>
          <a:prstGeom prst="line">
            <a:avLst/>
          </a:prstGeom>
          <a:ln w="19050">
            <a:solidFill>
              <a:srgbClr val="159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Isosceles Triangle 94"/>
          <p:cNvSpPr/>
          <p:nvPr/>
        </p:nvSpPr>
        <p:spPr>
          <a:xfrm rot="9555235">
            <a:off x="2171700" y="5015484"/>
            <a:ext cx="100584" cy="100584"/>
          </a:xfrm>
          <a:prstGeom prst="triangl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3840480" y="4087368"/>
            <a:ext cx="265176" cy="228600"/>
          </a:xfrm>
          <a:prstGeom prst="line">
            <a:avLst/>
          </a:prstGeom>
          <a:ln w="19050">
            <a:solidFill>
              <a:srgbClr val="159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Isosceles Triangle 96"/>
          <p:cNvSpPr/>
          <p:nvPr/>
        </p:nvSpPr>
        <p:spPr>
          <a:xfrm rot="7845816">
            <a:off x="4055364" y="4265676"/>
            <a:ext cx="100584" cy="100584"/>
          </a:xfrm>
          <a:prstGeom prst="triangl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 flipV="1">
            <a:off x="3840480" y="4736592"/>
            <a:ext cx="265176" cy="384048"/>
          </a:xfrm>
          <a:prstGeom prst="line">
            <a:avLst/>
          </a:prstGeom>
          <a:ln w="19050">
            <a:solidFill>
              <a:srgbClr val="159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Isosceles Triangle 98"/>
          <p:cNvSpPr/>
          <p:nvPr/>
        </p:nvSpPr>
        <p:spPr>
          <a:xfrm rot="2077449">
            <a:off x="4055364" y="4686300"/>
            <a:ext cx="100584" cy="100584"/>
          </a:xfrm>
          <a:prstGeom prst="triangl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6062472" y="4526280"/>
            <a:ext cx="256032" cy="0"/>
          </a:xfrm>
          <a:prstGeom prst="line">
            <a:avLst/>
          </a:prstGeom>
          <a:ln w="22860">
            <a:solidFill>
              <a:srgbClr val="446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Isosceles Triangle 100"/>
          <p:cNvSpPr/>
          <p:nvPr/>
        </p:nvSpPr>
        <p:spPr>
          <a:xfrm rot="5400000">
            <a:off x="6268212" y="4475988"/>
            <a:ext cx="100584" cy="100584"/>
          </a:xfrm>
          <a:prstGeom prst="triangle">
            <a:avLst/>
          </a:prstGeom>
          <a:solidFill>
            <a:srgbClr val="4463E6"/>
          </a:solidFill>
          <a:ln>
            <a:solidFill>
              <a:srgbClr val="446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7516368" y="4526280"/>
            <a:ext cx="283463" cy="0"/>
          </a:xfrm>
          <a:prstGeom prst="line">
            <a:avLst/>
          </a:prstGeom>
          <a:ln w="22860">
            <a:solidFill>
              <a:srgbClr val="159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Isosceles Triangle 102"/>
          <p:cNvSpPr/>
          <p:nvPr/>
        </p:nvSpPr>
        <p:spPr>
          <a:xfrm rot="5400000">
            <a:off x="7749540" y="4475988"/>
            <a:ext cx="100584" cy="100584"/>
          </a:xfrm>
          <a:prstGeom prst="triangl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498079" y="4297680"/>
            <a:ext cx="347472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700" b="1">
                <a:solidFill>
                  <a:srgbClr val="08766D"/>
                </a:solidFill>
                <a:latin typeface="Noto Sans CJK SC"/>
              </a:defRPr>
            </a:pPr>
            <a:r>
              <a:t>接受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912864" y="5056632"/>
            <a:ext cx="0" cy="475488"/>
          </a:xfrm>
          <a:prstGeom prst="line">
            <a:avLst/>
          </a:prstGeom>
          <a:ln w="19050">
            <a:solidFill>
              <a:srgbClr val="C85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6071616" y="5532120"/>
            <a:ext cx="841248" cy="0"/>
          </a:xfrm>
          <a:prstGeom prst="line">
            <a:avLst/>
          </a:prstGeom>
          <a:ln w="19050">
            <a:solidFill>
              <a:srgbClr val="C85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Isosceles Triangle 106"/>
          <p:cNvSpPr/>
          <p:nvPr/>
        </p:nvSpPr>
        <p:spPr>
          <a:xfrm rot="16200000">
            <a:off x="6021324" y="5481828"/>
            <a:ext cx="100584" cy="100584"/>
          </a:xfrm>
          <a:prstGeom prst="triangle">
            <a:avLst/>
          </a:prstGeom>
          <a:solidFill>
            <a:srgbClr val="C85C55"/>
          </a:solidFill>
          <a:ln>
            <a:solidFill>
              <a:srgbClr val="C8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181344" y="5330952"/>
            <a:ext cx="1078992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700" b="1">
                <a:solidFill>
                  <a:srgbClr val="C85C55"/>
                </a:solidFill>
                <a:latin typeface="Noto Sans CJK SC"/>
              </a:defRPr>
            </a:pPr>
            <a:r>
              <a:t>第 1 轮：更新查询</a:t>
            </a:r>
          </a:p>
        </p:txBody>
      </p:sp>
      <p:cxnSp>
        <p:nvCxnSpPr>
          <p:cNvPr id="109" name="Connector 108"/>
          <p:cNvCxnSpPr/>
          <p:nvPr/>
        </p:nvCxnSpPr>
        <p:spPr>
          <a:xfrm flipV="1">
            <a:off x="7516368" y="4626864"/>
            <a:ext cx="2039112" cy="173736"/>
          </a:xfrm>
          <a:prstGeom prst="line">
            <a:avLst/>
          </a:prstGeom>
          <a:ln w="19050">
            <a:solidFill>
              <a:srgbClr val="C85C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Isosceles Triangle 109"/>
          <p:cNvSpPr/>
          <p:nvPr/>
        </p:nvSpPr>
        <p:spPr>
          <a:xfrm rot="5107803">
            <a:off x="9505188" y="4576572"/>
            <a:ext cx="100584" cy="100584"/>
          </a:xfrm>
          <a:prstGeom prst="triangle">
            <a:avLst/>
          </a:prstGeom>
          <a:solidFill>
            <a:srgbClr val="C85C55"/>
          </a:solidFill>
          <a:ln>
            <a:solidFill>
              <a:srgbClr val="C8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348472" y="4489704"/>
            <a:ext cx="91440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defRPr sz="700" b="1">
                <a:solidFill>
                  <a:srgbClr val="C85C55"/>
                </a:solidFill>
                <a:latin typeface="Noto Sans CJK SC"/>
              </a:defRPr>
            </a:pPr>
            <a:r>
              <a:t>第 2 轮：纠正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11192256" y="4626864"/>
            <a:ext cx="301752" cy="0"/>
          </a:xfrm>
          <a:prstGeom prst="line">
            <a:avLst/>
          </a:prstGeom>
          <a:ln w="19050">
            <a:solidFill>
              <a:srgbClr val="159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1494008" y="3694176"/>
            <a:ext cx="0" cy="932688"/>
          </a:xfrm>
          <a:prstGeom prst="line">
            <a:avLst/>
          </a:prstGeom>
          <a:ln w="19050">
            <a:solidFill>
              <a:srgbClr val="159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8531352" y="3694176"/>
            <a:ext cx="2962656" cy="0"/>
          </a:xfrm>
          <a:prstGeom prst="line">
            <a:avLst/>
          </a:prstGeom>
          <a:ln w="19050">
            <a:solidFill>
              <a:srgbClr val="159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531352" y="3694176"/>
            <a:ext cx="0" cy="228600"/>
          </a:xfrm>
          <a:prstGeom prst="line">
            <a:avLst/>
          </a:prstGeom>
          <a:ln w="19050">
            <a:solidFill>
              <a:srgbClr val="159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Isosceles Triangle 115"/>
          <p:cNvSpPr/>
          <p:nvPr/>
        </p:nvSpPr>
        <p:spPr>
          <a:xfrm rot="10800000">
            <a:off x="8481060" y="3872484"/>
            <a:ext cx="100584" cy="100584"/>
          </a:xfrm>
          <a:prstGeom prst="triangle">
            <a:avLst/>
          </a:prstGeom>
          <a:solidFill>
            <a:srgbClr val="159A8C"/>
          </a:solidFill>
          <a:ln>
            <a:solidFill>
              <a:srgbClr val="159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Skill Hub｜5 分钟路演</dc:title>
  <dc:subject>基于医疗指南 Skill 的消化内科辅助诊断系统</dc:subject>
  <dc:creator>Medical Skill Hub</dc:creator>
  <cp:keywords/>
  <dc:description>All slide content rebuilt with editable native PowerPoint elements.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